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82E"/>
        </a:solidFill>
      </p:bgPr>
    </p:bg>
    <p:spTree>
      <p:nvGrpSpPr>
        <p:cNvPr id="1" name=""/>
        <p:cNvGrpSpPr/>
        <p:nvPr/>
      </p:nvGrpSpPr>
      <p:grpSpPr>
        <a:xfrm>
          <a:off x="0" y="0"/>
          <a:ext cx="0" cy="0"/>
          <a:chOff x="0" y="0"/>
          <a:chExt cx="0" cy="0"/>
        </a:xfrm>
      </p:grpSpPr>
      <p:sp>
        <p:nvSpPr>
          <p:cNvPr id="2" name="Text 0"/>
          <p:cNvSpPr/>
          <p:nvPr/>
        </p:nvSpPr>
        <p:spPr>
          <a:xfrm>
            <a:off x="822960" y="1783080"/>
            <a:ext cx="7863840" cy="173736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AI-Based Restoration of</a:t>
            </a:r>
            <a:endParaRPr lang="en-US" sz="4000" dirty="0"/>
          </a:p>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Degraded Inspection Images</a:t>
            </a:r>
            <a:endParaRPr lang="en-US" sz="4000" dirty="0"/>
          </a:p>
        </p:txBody>
      </p:sp>
      <p:sp>
        <p:nvSpPr>
          <p:cNvPr id="3" name="Text 1"/>
          <p:cNvSpPr/>
          <p:nvPr/>
        </p:nvSpPr>
        <p:spPr>
          <a:xfrm>
            <a:off x="822960" y="3611880"/>
            <a:ext cx="7863840" cy="365760"/>
          </a:xfrm>
          <a:prstGeom prst="rect">
            <a:avLst/>
          </a:prstGeom>
          <a:noFill/>
          <a:ln/>
        </p:spPr>
        <p:txBody>
          <a:bodyPr wrap="square" lIns="0" tIns="0" rIns="0" bIns="0" rtlCol="0" anchor="ctr"/>
          <a:lstStyle/>
          <a:p>
            <a:pPr indent="0" marL="0">
              <a:buNone/>
            </a:pPr>
            <a:r>
              <a:rPr lang="en-US" sz="1500" dirty="0">
                <a:solidFill>
                  <a:srgbClr val="E3A574"/>
                </a:solidFill>
                <a:latin typeface="Calibri" pitchFamily="34" charset="0"/>
                <a:ea typeface="Calibri" pitchFamily="34" charset="-122"/>
                <a:cs typeface="Calibri" pitchFamily="34" charset="-120"/>
              </a:rPr>
              <a:t>KLA Problem Statement PS01  ·  SemiCon AI Hackathon  ·  Round 2</a:t>
            </a:r>
            <a:endParaRPr lang="en-US" sz="1500" dirty="0"/>
          </a:p>
        </p:txBody>
      </p:sp>
      <p:sp>
        <p:nvSpPr>
          <p:cNvPr id="4" name="Shape 2"/>
          <p:cNvSpPr/>
          <p:nvPr/>
        </p:nvSpPr>
        <p:spPr>
          <a:xfrm>
            <a:off x="822960" y="4434840"/>
            <a:ext cx="4480560" cy="1170432"/>
          </a:xfrm>
          <a:prstGeom prst="roundRect">
            <a:avLst>
              <a:gd name="adj" fmla="val 4688"/>
            </a:avLst>
          </a:prstGeom>
          <a:solidFill>
            <a:srgbClr val="2E343B"/>
          </a:solidFill>
          <a:ln w="12700">
            <a:solidFill>
              <a:srgbClr val="2E343B"/>
            </a:solidFill>
            <a:prstDash val="solid"/>
          </a:ln>
        </p:spPr>
      </p:sp>
      <p:sp>
        <p:nvSpPr>
          <p:cNvPr id="5" name="Text 3"/>
          <p:cNvSpPr/>
          <p:nvPr/>
        </p:nvSpPr>
        <p:spPr>
          <a:xfrm>
            <a:off x="1051560" y="4590288"/>
            <a:ext cx="4297680" cy="1005840"/>
          </a:xfrm>
          <a:prstGeom prst="rect">
            <a:avLst/>
          </a:prstGeom>
          <a:noFill/>
          <a:ln/>
        </p:spPr>
        <p:txBody>
          <a:bodyPr wrap="square" lIns="0" tIns="0" rIns="0" bIns="0" rtlCol="0" anchor="ctr"/>
          <a:lstStyle/>
          <a:p>
            <a:pPr indent="0" marL="0">
              <a:lnSpc>
                <a:spcPts val="1700"/>
              </a:lnSpc>
              <a:buNone/>
            </a:pPr>
            <a:r>
              <a:rPr lang="en-US" sz="1150" dirty="0">
                <a:solidFill>
                  <a:srgbClr val="7C8895"/>
                </a:solidFill>
                <a:latin typeface="Calibri" pitchFamily="34" charset="0"/>
                <a:ea typeface="Calibri" pitchFamily="34" charset="-122"/>
                <a:cs typeface="Calibri" pitchFamily="34" charset="-120"/>
              </a:rPr>
              <a:t>Team  </a:t>
            </a:r>
            <a:pPr indent="0" marL="0">
              <a:lnSpc>
                <a:spcPts val="1700"/>
              </a:lnSpc>
              <a:buNone/>
            </a:pPr>
            <a:r>
              <a:rPr lang="en-US" sz="1150" b="1" dirty="0">
                <a:solidFill>
                  <a:srgbClr val="FFFFFF"/>
                </a:solidFill>
                <a:latin typeface="Calibri" pitchFamily="34" charset="0"/>
                <a:ea typeface="Calibri" pitchFamily="34" charset="-122"/>
                <a:cs typeface="Calibri" pitchFamily="34" charset="-120"/>
              </a:rPr>
              <a:t>ForgeX</a:t>
            </a:r>
            <a:endParaRPr lang="en-US" sz="1150" dirty="0"/>
          </a:p>
          <a:p>
            <a:pPr indent="0" marL="0">
              <a:lnSpc>
                <a:spcPts val="1700"/>
              </a:lnSpc>
              <a:buNone/>
            </a:pPr>
            <a:r>
              <a:rPr lang="en-US" sz="1150" dirty="0">
                <a:solidFill>
                  <a:srgbClr val="C8D0D6"/>
                </a:solidFill>
                <a:latin typeface="Calibri" pitchFamily="34" charset="0"/>
                <a:ea typeface="Calibri" pitchFamily="34" charset="-122"/>
                <a:cs typeface="Calibri" pitchFamily="34" charset="-120"/>
              </a:rPr>
              <a:t>Abishek SR   ·   Anmol BA   ·   Hardik</a:t>
            </a:r>
            <a:endParaRPr lang="en-US" sz="1150" dirty="0"/>
          </a:p>
          <a:p>
            <a:pPr indent="0" marL="0">
              <a:lnSpc>
                <a:spcPts val="1700"/>
              </a:lnSpc>
              <a:buNone/>
            </a:pPr>
            <a:r>
              <a:rPr lang="en-US" sz="1150" dirty="0">
                <a:solidFill>
                  <a:srgbClr val="7C8895"/>
                </a:solidFill>
                <a:latin typeface="Calibri" pitchFamily="34" charset="0"/>
                <a:ea typeface="Calibri" pitchFamily="34" charset="-122"/>
                <a:cs typeface="Calibri" pitchFamily="34" charset="-120"/>
              </a:rPr>
              <a:t>VIT Vellore   ·   abisheksundar1114@gmail.com</a:t>
            </a:r>
            <a:endParaRPr lang="en-US" sz="1150" dirty="0"/>
          </a:p>
        </p:txBody>
      </p:sp>
      <p:sp>
        <p:nvSpPr>
          <p:cNvPr id="6" name="Text 4"/>
          <p:cNvSpPr/>
          <p:nvPr/>
        </p:nvSpPr>
        <p:spPr>
          <a:xfrm>
            <a:off x="9052560" y="1920240"/>
            <a:ext cx="2560320" cy="457200"/>
          </a:xfrm>
          <a:prstGeom prst="rect">
            <a:avLst/>
          </a:prstGeom>
          <a:noFill/>
          <a:ln/>
        </p:spPr>
        <p:txBody>
          <a:bodyPr wrap="square" lIns="0" tIns="0" rIns="0" bIns="0" rtlCol="0" anchor="ctr"/>
          <a:lstStyle/>
          <a:p>
            <a:pPr algn="r" indent="0" marL="0">
              <a:buNone/>
            </a:pPr>
            <a:r>
              <a:rPr lang="en-US" sz="3000" b="1" dirty="0">
                <a:solidFill>
                  <a:srgbClr val="C2703B"/>
                </a:solidFill>
                <a:latin typeface="Cambria" pitchFamily="34" charset="0"/>
                <a:ea typeface="Cambria" pitchFamily="34" charset="-122"/>
                <a:cs typeface="Cambria" pitchFamily="34" charset="-120"/>
              </a:rPr>
              <a:t>23.63 dB</a:t>
            </a:r>
            <a:endParaRPr lang="en-US" sz="3000" dirty="0"/>
          </a:p>
        </p:txBody>
      </p:sp>
      <p:sp>
        <p:nvSpPr>
          <p:cNvPr id="7" name="Text 5"/>
          <p:cNvSpPr/>
          <p:nvPr/>
        </p:nvSpPr>
        <p:spPr>
          <a:xfrm>
            <a:off x="8412480" y="2377440"/>
            <a:ext cx="3200400" cy="274320"/>
          </a:xfrm>
          <a:prstGeom prst="rect">
            <a:avLst/>
          </a:prstGeom>
          <a:noFill/>
          <a:ln/>
        </p:spPr>
        <p:txBody>
          <a:bodyPr wrap="square" lIns="0" tIns="0" rIns="0" bIns="0" rtlCol="0" anchor="ctr"/>
          <a:lstStyle/>
          <a:p>
            <a:pPr algn="r" indent="0" marL="0">
              <a:buNone/>
            </a:pPr>
            <a:r>
              <a:rPr lang="en-US" sz="1100" dirty="0">
                <a:solidFill>
                  <a:srgbClr val="7C8895"/>
                </a:solidFill>
                <a:latin typeface="Calibri" pitchFamily="34" charset="0"/>
                <a:ea typeface="Calibri" pitchFamily="34" charset="-122"/>
                <a:cs typeface="Calibri" pitchFamily="34" charset="-120"/>
              </a:rPr>
              <a:t>PSNR   ·   organisers’ test set</a:t>
            </a:r>
            <a:endParaRPr lang="en-US" sz="1100" dirty="0"/>
          </a:p>
        </p:txBody>
      </p:sp>
      <p:sp>
        <p:nvSpPr>
          <p:cNvPr id="8" name="Text 6"/>
          <p:cNvSpPr/>
          <p:nvPr/>
        </p:nvSpPr>
        <p:spPr>
          <a:xfrm>
            <a:off x="9052560" y="2971800"/>
            <a:ext cx="2560320" cy="457200"/>
          </a:xfrm>
          <a:prstGeom prst="rect">
            <a:avLst/>
          </a:prstGeom>
          <a:noFill/>
          <a:ln/>
        </p:spPr>
        <p:txBody>
          <a:bodyPr wrap="square" lIns="0" tIns="0" rIns="0" bIns="0" rtlCol="0" anchor="ctr"/>
          <a:lstStyle/>
          <a:p>
            <a:pPr algn="r" indent="0" marL="0">
              <a:buNone/>
            </a:pPr>
            <a:r>
              <a:rPr lang="en-US" sz="3000" b="1" dirty="0">
                <a:solidFill>
                  <a:srgbClr val="C2703B"/>
                </a:solidFill>
                <a:latin typeface="Cambria" pitchFamily="34" charset="0"/>
                <a:ea typeface="Cambria" pitchFamily="34" charset="-122"/>
                <a:cs typeface="Cambria" pitchFamily="34" charset="-120"/>
              </a:rPr>
              <a:t>+3.18 dB</a:t>
            </a:r>
            <a:endParaRPr lang="en-US" sz="3000" dirty="0"/>
          </a:p>
        </p:txBody>
      </p:sp>
      <p:sp>
        <p:nvSpPr>
          <p:cNvPr id="9" name="Text 7"/>
          <p:cNvSpPr/>
          <p:nvPr/>
        </p:nvSpPr>
        <p:spPr>
          <a:xfrm>
            <a:off x="8412480" y="3429000"/>
            <a:ext cx="3200400" cy="274320"/>
          </a:xfrm>
          <a:prstGeom prst="rect">
            <a:avLst/>
          </a:prstGeom>
          <a:noFill/>
          <a:ln/>
        </p:spPr>
        <p:txBody>
          <a:bodyPr wrap="square" lIns="0" tIns="0" rIns="0" bIns="0" rtlCol="0" anchor="ctr"/>
          <a:lstStyle/>
          <a:p>
            <a:pPr algn="r" indent="0" marL="0">
              <a:buNone/>
            </a:pPr>
            <a:r>
              <a:rPr lang="en-US" sz="1100" dirty="0">
                <a:solidFill>
                  <a:srgbClr val="7C8895"/>
                </a:solidFill>
                <a:latin typeface="Calibri" pitchFamily="34" charset="0"/>
                <a:ea typeface="Calibri" pitchFamily="34" charset="-122"/>
                <a:cs typeface="Calibri" pitchFamily="34" charset="-120"/>
              </a:rPr>
              <a:t>over bicubic ×2</a:t>
            </a:r>
            <a:endParaRPr lang="en-US" sz="1100" dirty="0"/>
          </a:p>
        </p:txBody>
      </p:sp>
      <p:sp>
        <p:nvSpPr>
          <p:cNvPr id="10" name="Text 8"/>
          <p:cNvSpPr/>
          <p:nvPr/>
        </p:nvSpPr>
        <p:spPr>
          <a:xfrm>
            <a:off x="9052560" y="4023360"/>
            <a:ext cx="2560320" cy="457200"/>
          </a:xfrm>
          <a:prstGeom prst="rect">
            <a:avLst/>
          </a:prstGeom>
          <a:noFill/>
          <a:ln/>
        </p:spPr>
        <p:txBody>
          <a:bodyPr wrap="square" lIns="0" tIns="0" rIns="0" bIns="0" rtlCol="0" anchor="ctr"/>
          <a:lstStyle/>
          <a:p>
            <a:pPr algn="r" indent="0" marL="0">
              <a:buNone/>
            </a:pPr>
            <a:r>
              <a:rPr lang="en-US" sz="3000" b="1" dirty="0">
                <a:solidFill>
                  <a:srgbClr val="C2703B"/>
                </a:solidFill>
                <a:latin typeface="Cambria" pitchFamily="34" charset="0"/>
                <a:ea typeface="Cambria" pitchFamily="34" charset="-122"/>
                <a:cs typeface="Cambria" pitchFamily="34" charset="-120"/>
              </a:rPr>
              <a:t>0.193</a:t>
            </a:r>
            <a:endParaRPr lang="en-US" sz="3000" dirty="0"/>
          </a:p>
        </p:txBody>
      </p:sp>
      <p:sp>
        <p:nvSpPr>
          <p:cNvPr id="11" name="Text 9"/>
          <p:cNvSpPr/>
          <p:nvPr/>
        </p:nvSpPr>
        <p:spPr>
          <a:xfrm>
            <a:off x="8412480" y="4480560"/>
            <a:ext cx="3200400" cy="274320"/>
          </a:xfrm>
          <a:prstGeom prst="rect">
            <a:avLst/>
          </a:prstGeom>
          <a:noFill/>
          <a:ln/>
        </p:spPr>
        <p:txBody>
          <a:bodyPr wrap="square" lIns="0" tIns="0" rIns="0" bIns="0" rtlCol="0" anchor="ctr"/>
          <a:lstStyle/>
          <a:p>
            <a:pPr algn="r" indent="0" marL="0">
              <a:buNone/>
            </a:pPr>
            <a:r>
              <a:rPr lang="en-US" sz="1100" dirty="0">
                <a:solidFill>
                  <a:srgbClr val="7C8895"/>
                </a:solidFill>
                <a:latin typeface="Calibri" pitchFamily="34" charset="0"/>
                <a:ea typeface="Calibri" pitchFamily="34" charset="-122"/>
                <a:cs typeface="Calibri" pitchFamily="34" charset="-120"/>
              </a:rPr>
              <a:t>LPIPS   (bicubic 0.466)</a:t>
            </a:r>
            <a:endParaRPr lang="en-US" sz="1100" dirty="0"/>
          </a:p>
        </p:txBody>
      </p:sp>
      <p:sp>
        <p:nvSpPr>
          <p:cNvPr id="12" name="Text 10"/>
          <p:cNvSpPr/>
          <p:nvPr/>
        </p:nvSpPr>
        <p:spPr>
          <a:xfrm>
            <a:off x="822960" y="5989320"/>
            <a:ext cx="10789920" cy="274320"/>
          </a:xfrm>
          <a:prstGeom prst="rect">
            <a:avLst/>
          </a:prstGeom>
          <a:noFill/>
          <a:ln/>
        </p:spPr>
        <p:txBody>
          <a:bodyPr wrap="square" lIns="0" tIns="0" rIns="0" bIns="0" rtlCol="0" anchor="ctr"/>
          <a:lstStyle/>
          <a:p>
            <a:pPr indent="0" marL="0">
              <a:buNone/>
            </a:pPr>
            <a:r>
              <a:rPr lang="en-US" sz="1150" dirty="0">
                <a:solidFill>
                  <a:srgbClr val="7C8895"/>
                </a:solidFill>
                <a:latin typeface="Consolas" pitchFamily="34" charset="0"/>
                <a:ea typeface="Consolas" pitchFamily="34" charset="-122"/>
                <a:cs typeface="Consolas" pitchFamily="34" charset="-120"/>
              </a:rPr>
              <a:t>1.37 M parameters  ·  5.5 MB  ·  297 images in 5.9 s end-to-end  ·  torch + numpy only</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400" b="1" dirty="0">
                <a:solidFill>
                  <a:srgbClr val="23282E"/>
                </a:solidFill>
                <a:latin typeface="Cambria" pitchFamily="34" charset="0"/>
                <a:ea typeface="Cambria" pitchFamily="34" charset="-122"/>
                <a:cs typeface="Cambria" pitchFamily="34" charset="-120"/>
              </a:rPr>
              <a:t>Problem Statement Addressed</a:t>
            </a:r>
            <a:endParaRPr lang="en-US" sz="3400" dirty="0"/>
          </a:p>
        </p:txBody>
      </p:sp>
      <p:sp>
        <p:nvSpPr>
          <p:cNvPr id="3" name="Text 1"/>
          <p:cNvSpPr/>
          <p:nvPr/>
        </p:nvSpPr>
        <p:spPr>
          <a:xfrm>
            <a:off x="548640" y="905256"/>
            <a:ext cx="11064240" cy="310896"/>
          </a:xfrm>
          <a:prstGeom prst="rect">
            <a:avLst/>
          </a:prstGeom>
          <a:noFill/>
          <a:ln/>
        </p:spPr>
        <p:txBody>
          <a:bodyPr wrap="square" lIns="0" tIns="0" rIns="0" bIns="0" rtlCol="0" anchor="ctr"/>
          <a:lstStyle/>
          <a:p>
            <a:pPr indent="0" marL="0">
              <a:buNone/>
            </a:pPr>
            <a:r>
              <a:rPr lang="en-US" sz="1300" i="1" dirty="0">
                <a:solidFill>
                  <a:srgbClr val="7C8895"/>
                </a:solidFill>
                <a:latin typeface="Calibri" pitchFamily="34" charset="0"/>
                <a:ea typeface="Calibri" pitchFamily="34" charset="-122"/>
                <a:cs typeface="Calibri" pitchFamily="34" charset="-120"/>
              </a:rPr>
              <a:t>Round 2 is a different problem from Round 1 — we re-derived every property rather than assuming one carried over</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760720" cy="914400"/>
        </p:xfrm>
        <a:graphic>
          <a:graphicData uri="http://schemas.openxmlformats.org/drawingml/2006/table">
            <a:tbl>
              <a:tblPr/>
              <a:tblGrid>
                <a:gridCol w="2286000"/>
                <a:gridCol w="1737360"/>
                <a:gridCol w="1737360"/>
              </a:tblGrid>
              <a:tr h="297180">
                <a:tc>
                  <a:txBody>
                    <a:bodyPr/>
                    <a:lstStyle/>
                    <a:p>
                      <a:pPr indent="0" marL="0">
                        <a:buNone/>
                      </a:pP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Round 1</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Round 2</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r>
              <a:tr h="297180">
                <a:tc>
                  <a:txBody>
                    <a:bodyPr/>
                    <a:lstStyle/>
                    <a:p>
                      <a:pPr indent="0" marL="0">
                        <a:buNone/>
                      </a:pPr>
                      <a:r>
                        <a:rPr lang="en-US" sz="1100" dirty="0">
                          <a:solidFill>
                            <a:srgbClr val="4A5560"/>
                          </a:solidFill>
                          <a:latin typeface="Calibri" pitchFamily="34" charset="0"/>
                          <a:ea typeface="Calibri" pitchFamily="34" charset="-122"/>
                          <a:cs typeface="Calibri" pitchFamily="34" charset="-120"/>
                        </a:rPr>
                        <a:t>Content</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100" dirty="0">
                          <a:solidFill>
                            <a:srgbClr val="4A5560"/>
                          </a:solidFill>
                          <a:latin typeface="Calibri" pitchFamily="34" charset="0"/>
                          <a:ea typeface="Calibri" pitchFamily="34" charset="-122"/>
                          <a:cs typeface="Calibri" pitchFamily="34" charset="-120"/>
                        </a:rPr>
                        <a:t>natural photographs</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100" dirty="0">
                          <a:solidFill>
                            <a:srgbClr val="4A5560"/>
                          </a:solidFill>
                          <a:latin typeface="Calibri" pitchFamily="34" charset="0"/>
                          <a:ea typeface="Calibri" pitchFamily="34" charset="-122"/>
                          <a:cs typeface="Calibri" pitchFamily="34" charset="-120"/>
                        </a:rPr>
                        <a:t>SEM micrographs</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97180">
                <a:tc>
                  <a:txBody>
                    <a:bodyPr/>
                    <a:lstStyle/>
                    <a:p>
                      <a:pPr indent="0" marL="0">
                        <a:buNone/>
                      </a:pPr>
                      <a:r>
                        <a:rPr lang="en-US" sz="1100" dirty="0">
                          <a:solidFill>
                            <a:srgbClr val="4A5560"/>
                          </a:solidFill>
                          <a:latin typeface="Calibri" pitchFamily="34" charset="0"/>
                          <a:ea typeface="Calibri" pitchFamily="34" charset="-122"/>
                          <a:cs typeface="Calibri" pitchFamily="34" charset="-120"/>
                        </a:rPr>
                        <a:t>Training pairs</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100" dirty="0">
                          <a:solidFill>
                            <a:srgbClr val="4A5560"/>
                          </a:solidFill>
                          <a:latin typeface="Calibri" pitchFamily="34" charset="0"/>
                          <a:ea typeface="Calibri" pitchFamily="34" charset="-122"/>
                          <a:cs typeface="Calibri" pitchFamily="34" charset="-120"/>
                        </a:rPr>
                        <a:t>3,200</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100" dirty="0">
                          <a:solidFill>
                            <a:srgbClr val="4A5560"/>
                          </a:solidFill>
                          <a:latin typeface="Calibri" pitchFamily="34" charset="0"/>
                          <a:ea typeface="Calibri" pitchFamily="34" charset="-122"/>
                          <a:cs typeface="Calibri" pitchFamily="34" charset="-120"/>
                        </a:rPr>
                        <a:t>4,785</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97180">
                <a:tc>
                  <a:txBody>
                    <a:bodyPr/>
                    <a:lstStyle/>
                    <a:p>
                      <a:pPr indent="0" marL="0">
                        <a:buNone/>
                      </a:pPr>
                      <a:r>
                        <a:rPr lang="en-US" sz="1100" dirty="0">
                          <a:solidFill>
                            <a:srgbClr val="4A5560"/>
                          </a:solidFill>
                          <a:latin typeface="Calibri" pitchFamily="34" charset="0"/>
                          <a:ea typeface="Calibri" pitchFamily="34" charset="-122"/>
                          <a:cs typeface="Calibri" pitchFamily="34" charset="-120"/>
                        </a:rPr>
                        <a:t>Sizes present</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100" dirty="0">
                          <a:solidFill>
                            <a:srgbClr val="4A5560"/>
                          </a:solidFill>
                          <a:latin typeface="Calibri" pitchFamily="34" charset="0"/>
                          <a:ea typeface="Calibri" pitchFamily="34" charset="-122"/>
                          <a:cs typeface="Calibri" pitchFamily="34" charset="-120"/>
                        </a:rPr>
                        <a:t>mixed</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100" dirty="0">
                          <a:solidFill>
                            <a:srgbClr val="4A5560"/>
                          </a:solidFill>
                          <a:latin typeface="Calibri" pitchFamily="34" charset="0"/>
                          <a:ea typeface="Calibri" pitchFamily="34" charset="-122"/>
                          <a:cs typeface="Calibri" pitchFamily="34" charset="-120"/>
                        </a:rPr>
                        <a:t>all 256→128; no 512×512</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97180">
                <a:tc>
                  <a:txBody>
                    <a:bodyPr/>
                    <a:lstStyle/>
                    <a:p>
                      <a:pPr indent="0" marL="0">
                        <a:buNone/>
                      </a:pPr>
                      <a:r>
                        <a:rPr lang="en-US" sz="1100" dirty="0">
                          <a:solidFill>
                            <a:srgbClr val="4A5560"/>
                          </a:solidFill>
                          <a:latin typeface="Calibri" pitchFamily="34" charset="0"/>
                          <a:ea typeface="Calibri" pitchFamily="34" charset="-122"/>
                          <a:cs typeface="Calibri" pitchFamily="34" charset="-120"/>
                        </a:rPr>
                        <a:t>f90 — structure fineness</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100" dirty="0">
                          <a:solidFill>
                            <a:srgbClr val="4A5560"/>
                          </a:solidFill>
                          <a:latin typeface="Calibri" pitchFamily="34" charset="0"/>
                          <a:ea typeface="Calibri" pitchFamily="34" charset="-122"/>
                          <a:cs typeface="Calibri" pitchFamily="34" charset="-120"/>
                        </a:rPr>
                        <a:t>0.0945</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100" b="1" dirty="0">
                          <a:solidFill>
                            <a:srgbClr val="23282E"/>
                          </a:solidFill>
                          <a:latin typeface="Calibri" pitchFamily="34" charset="0"/>
                          <a:ea typeface="Calibri" pitchFamily="34" charset="-122"/>
                          <a:cs typeface="Calibri" pitchFamily="34" charset="-120"/>
                        </a:rPr>
                        <a:t>0.2913   (3.1× finer)</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97180">
                <a:tc>
                  <a:txBody>
                    <a:bodyPr/>
                    <a:lstStyle/>
                    <a:p>
                      <a:pPr indent="0" marL="0">
                        <a:buNone/>
                      </a:pPr>
                      <a:r>
                        <a:rPr lang="en-US" sz="1100" dirty="0">
                          <a:solidFill>
                            <a:srgbClr val="4A5560"/>
                          </a:solidFill>
                          <a:latin typeface="Calibri" pitchFamily="34" charset="0"/>
                          <a:ea typeface="Calibri" pitchFamily="34" charset="-122"/>
                          <a:cs typeface="Calibri" pitchFamily="34" charset="-120"/>
                        </a:rPr>
                        <a:t>Bicubic ×2 baseline</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100" dirty="0">
                          <a:solidFill>
                            <a:srgbClr val="4A5560"/>
                          </a:solidFill>
                          <a:latin typeface="Calibri" pitchFamily="34" charset="0"/>
                          <a:ea typeface="Calibri" pitchFamily="34" charset="-122"/>
                          <a:cs typeface="Calibri" pitchFamily="34" charset="-120"/>
                        </a:rPr>
                        <a:t>23.23 dB</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100" dirty="0">
                          <a:solidFill>
                            <a:srgbClr val="4A5560"/>
                          </a:solidFill>
                          <a:latin typeface="Calibri" pitchFamily="34" charset="0"/>
                          <a:ea typeface="Calibri" pitchFamily="34" charset="-122"/>
                          <a:cs typeface="Calibri" pitchFamily="34" charset="-120"/>
                        </a:rPr>
                        <a:t>20.46 dB</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bl>
          </a:graphicData>
        </a:graphic>
      </p:graphicFrame>
      <p:sp>
        <p:nvSpPr>
          <p:cNvPr id="5" name="Shape 2"/>
          <p:cNvSpPr/>
          <p:nvPr/>
        </p:nvSpPr>
        <p:spPr>
          <a:xfrm>
            <a:off x="548640" y="3364992"/>
            <a:ext cx="5760720" cy="2697480"/>
          </a:xfrm>
          <a:prstGeom prst="roundRect">
            <a:avLst>
              <a:gd name="adj" fmla="val 2034"/>
            </a:avLst>
          </a:prstGeom>
          <a:solidFill>
            <a:srgbClr val="FBF2EC"/>
          </a:solidFill>
          <a:ln w="12700">
            <a:solidFill>
              <a:srgbClr val="FBF2EC"/>
            </a:solidFill>
            <a:prstDash val="solid"/>
          </a:ln>
        </p:spPr>
      </p:sp>
      <p:sp>
        <p:nvSpPr>
          <p:cNvPr id="6" name="Text 3"/>
          <p:cNvSpPr/>
          <p:nvPr/>
        </p:nvSpPr>
        <p:spPr>
          <a:xfrm>
            <a:off x="822960" y="3566160"/>
            <a:ext cx="5212080" cy="219456"/>
          </a:xfrm>
          <a:prstGeom prst="rect">
            <a:avLst/>
          </a:prstGeom>
          <a:noFill/>
          <a:ln/>
        </p:spPr>
        <p:txBody>
          <a:bodyPr wrap="square" lIns="0" tIns="0" rIns="0" bIns="0" rtlCol="0" anchor="ctr"/>
          <a:lstStyle/>
          <a:p>
            <a:pPr indent="0" marL="0">
              <a:buNone/>
            </a:pPr>
            <a:r>
              <a:rPr lang="en-US" sz="950" b="1" spc="120" kern="0" dirty="0">
                <a:solidFill>
                  <a:srgbClr val="C2703B"/>
                </a:solidFill>
                <a:latin typeface="Calibri" pitchFamily="34" charset="0"/>
                <a:ea typeface="Calibri" pitchFamily="34" charset="-122"/>
                <a:cs typeface="Calibri" pitchFamily="34" charset="-120"/>
              </a:rPr>
              <a:t>THE CONSTRAINT THAT SHAPED EVERYTHING</a:t>
            </a:r>
            <a:endParaRPr lang="en-US" sz="950" dirty="0"/>
          </a:p>
        </p:txBody>
      </p:sp>
      <p:sp>
        <p:nvSpPr>
          <p:cNvPr id="7" name="Text 4"/>
          <p:cNvSpPr/>
          <p:nvPr/>
        </p:nvSpPr>
        <p:spPr>
          <a:xfrm>
            <a:off x="822960" y="3877056"/>
            <a:ext cx="5212080" cy="2011680"/>
          </a:xfrm>
          <a:prstGeom prst="rect">
            <a:avLst/>
          </a:prstGeom>
          <a:noFill/>
          <a:ln/>
        </p:spPr>
        <p:txBody>
          <a:bodyPr wrap="square" lIns="0" tIns="0" rIns="0" bIns="0" rtlCol="0" anchor="ctr"/>
          <a:lstStyle/>
          <a:p>
            <a:pPr indent="0" marL="0">
              <a:lnSpc>
                <a:spcPts val="1800"/>
              </a:lnSpc>
              <a:buNone/>
            </a:pPr>
            <a:r>
              <a:rPr lang="en-US" sz="1200" dirty="0">
                <a:solidFill>
                  <a:srgbClr val="4A5560"/>
                </a:solidFill>
                <a:latin typeface="Calibri" pitchFamily="34" charset="0"/>
                <a:ea typeface="Calibri" pitchFamily="34" charset="-122"/>
                <a:cs typeface="Calibri" pitchFamily="34" charset="-120"/>
              </a:rPr>
              <a:t>f90 is the radial frequency below which 90% of non-DC energy sits. Round-2 structure is </a:t>
            </a:r>
            <a:pPr indent="0" marL="0">
              <a:lnSpc>
                <a:spcPts val="1800"/>
              </a:lnSpc>
              <a:buNone/>
            </a:pPr>
            <a:r>
              <a:rPr lang="en-US" sz="1200" b="1" dirty="0">
                <a:solidFill>
                  <a:srgbClr val="23282E"/>
                </a:solidFill>
                <a:latin typeface="Calibri" pitchFamily="34" charset="0"/>
                <a:ea typeface="Calibri" pitchFamily="34" charset="-122"/>
                <a:cs typeface="Calibri" pitchFamily="34" charset="-120"/>
              </a:rPr>
              <a:t>3.1× finer</a:t>
            </a:r>
            <a:pPr indent="0" marL="0">
              <a:lnSpc>
                <a:spcPts val="1800"/>
              </a:lnSpc>
              <a:buNone/>
            </a:pPr>
            <a:r>
              <a:rPr lang="en-US" sz="1200" dirty="0">
                <a:solidFill>
                  <a:srgbClr val="4A5560"/>
                </a:solidFill>
                <a:latin typeface="Calibri" pitchFamily="34" charset="0"/>
                <a:ea typeface="Calibri" pitchFamily="34" charset="-122"/>
                <a:cs typeface="Calibri" pitchFamily="34" charset="-120"/>
              </a:rPr>
              <a:t>, so 3.1× more of the signal lives above the Nyquist limit of the downsampled input — </a:t>
            </a:r>
            <a:pPr indent="0" marL="0">
              <a:lnSpc>
                <a:spcPts val="1800"/>
              </a:lnSpc>
              <a:buNone/>
            </a:pPr>
            <a:r>
              <a:rPr lang="en-US" sz="1200" b="1" dirty="0">
                <a:solidFill>
                  <a:srgbClr val="23282E"/>
                </a:solidFill>
                <a:latin typeface="Calibri" pitchFamily="34" charset="0"/>
                <a:ea typeface="Calibri" pitchFamily="34" charset="-122"/>
                <a:cs typeface="Calibri" pitchFamily="34" charset="-120"/>
              </a:rPr>
              <a:t>information destroyed by the 2×2 average, not merely obscured by noise</a:t>
            </a:r>
            <a:pPr indent="0" marL="0">
              <a:lnSpc>
                <a:spcPts val="1800"/>
              </a:lnSpc>
              <a:buNone/>
            </a:pPr>
            <a:r>
              <a:rPr lang="en-US" sz="1200" dirty="0">
                <a:solidFill>
                  <a:srgbClr val="4A5560"/>
                </a:solidFill>
                <a:latin typeface="Calibri" pitchFamily="34" charset="0"/>
                <a:ea typeface="Calibri" pitchFamily="34" charset="-122"/>
                <a:cs typeface="Calibri" pitchFamily="34" charset="-120"/>
              </a:rPr>
              <a:t>. No architecture lifts that ceiling.</a:t>
            </a:r>
            <a:endParaRPr lang="en-US" sz="1200" dirty="0"/>
          </a:p>
          <a:p>
            <a:pPr indent="0" marL="0">
              <a:lnSpc>
                <a:spcPts val="1800"/>
              </a:lnSpc>
              <a:buNone/>
            </a:pPr>
            <a:r>
              <a:rPr lang="en-US" sz="1200" dirty="0">
                <a:solidFill>
                  <a:srgbClr val="4A5560"/>
                </a:solidFill>
                <a:latin typeface="Calibri" pitchFamily="34" charset="0"/>
                <a:ea typeface="Calibri" pitchFamily="34" charset="-122"/>
                <a:cs typeface="Calibri" pitchFamily="34" charset="-120"/>
              </a:rPr>
              <a:t>Bicubic falls 2.77 dB between rounds, so equal skill shows up as a lower score. That is why this round was spent measuring the data rather than trying models.</a:t>
            </a:r>
            <a:endParaRPr lang="en-US" sz="1200" dirty="0"/>
          </a:p>
        </p:txBody>
      </p:sp>
      <p:sp>
        <p:nvSpPr>
          <p:cNvPr id="8" name="Shape 5"/>
          <p:cNvSpPr/>
          <p:nvPr/>
        </p:nvSpPr>
        <p:spPr>
          <a:xfrm>
            <a:off x="6583680" y="1371600"/>
            <a:ext cx="5029200" cy="2377440"/>
          </a:xfrm>
          <a:prstGeom prst="roundRect">
            <a:avLst>
              <a:gd name="adj" fmla="val 2308"/>
            </a:avLst>
          </a:prstGeom>
          <a:solidFill>
            <a:srgbClr val="ECEFF2"/>
          </a:solidFill>
          <a:ln w="12700">
            <a:solidFill>
              <a:srgbClr val="ECEFF2"/>
            </a:solidFill>
            <a:prstDash val="solid"/>
          </a:ln>
        </p:spPr>
      </p:sp>
      <p:sp>
        <p:nvSpPr>
          <p:cNvPr id="9" name="Text 6"/>
          <p:cNvSpPr/>
          <p:nvPr/>
        </p:nvSpPr>
        <p:spPr>
          <a:xfrm>
            <a:off x="6858000" y="1572768"/>
            <a:ext cx="4480560" cy="219456"/>
          </a:xfrm>
          <a:prstGeom prst="rect">
            <a:avLst/>
          </a:prstGeom>
          <a:noFill/>
          <a:ln/>
        </p:spPr>
        <p:txBody>
          <a:bodyPr wrap="square" lIns="0" tIns="0" rIns="0" bIns="0" rtlCol="0" anchor="ctr"/>
          <a:lstStyle/>
          <a:p>
            <a:pPr indent="0" marL="0">
              <a:buNone/>
            </a:pPr>
            <a:r>
              <a:rPr lang="en-US" sz="950" b="1" spc="120" kern="0" dirty="0">
                <a:solidFill>
                  <a:srgbClr val="C2703B"/>
                </a:solidFill>
                <a:latin typeface="Calibri" pitchFamily="34" charset="0"/>
                <a:ea typeface="Calibri" pitchFamily="34" charset="-122"/>
                <a:cs typeface="Calibri" pitchFamily="34" charset="-120"/>
              </a:rPr>
              <a:t>THE FOUR THINGS THE STATEMENT ASKS FOR</a:t>
            </a:r>
            <a:endParaRPr lang="en-US" sz="950" dirty="0"/>
          </a:p>
        </p:txBody>
      </p:sp>
      <p:sp>
        <p:nvSpPr>
          <p:cNvPr id="10" name="Text 7"/>
          <p:cNvSpPr/>
          <p:nvPr/>
        </p:nvSpPr>
        <p:spPr>
          <a:xfrm>
            <a:off x="6858000" y="1883664"/>
            <a:ext cx="4480560" cy="1371600"/>
          </a:xfrm>
          <a:prstGeom prst="rect">
            <a:avLst/>
          </a:prstGeom>
          <a:noFill/>
          <a:ln/>
        </p:spPr>
        <p:txBody>
          <a:bodyPr wrap="square" lIns="0" tIns="0" rIns="0" bIns="0" rtlCol="0" anchor="ctr"/>
          <a:lstStyle/>
          <a:p>
            <a:pPr indent="0" marL="0">
              <a:lnSpc>
                <a:spcPts val="2100"/>
              </a:lnSpc>
              <a:buNone/>
            </a:pPr>
            <a:r>
              <a:rPr lang="en-US" sz="1200" dirty="0">
                <a:solidFill>
                  <a:srgbClr val="4A5560"/>
                </a:solidFill>
                <a:latin typeface="Calibri" pitchFamily="34" charset="0"/>
                <a:ea typeface="Calibri" pitchFamily="34" charset="-122"/>
                <a:cs typeface="Calibri" pitchFamily="34" charset="-120"/>
              </a:rPr>
              <a:t>·   Recover fine spatial detail lost to downsampling</a:t>
            </a:r>
            <a:endParaRPr lang="en-US" sz="1200" dirty="0"/>
          </a:p>
          <a:p>
            <a:pPr indent="0" marL="0">
              <a:lnSpc>
                <a:spcPts val="2100"/>
              </a:lnSpc>
              <a:buNone/>
            </a:pPr>
            <a:r>
              <a:rPr lang="en-US" sz="1200" dirty="0">
                <a:solidFill>
                  <a:srgbClr val="4A5560"/>
                </a:solidFill>
                <a:latin typeface="Calibri" pitchFamily="34" charset="0"/>
                <a:ea typeface="Calibri" pitchFamily="34" charset="-122"/>
                <a:cs typeface="Calibri" pitchFamily="34" charset="-120"/>
              </a:rPr>
              <a:t>·   Suppress speckle noise across diverse image types</a:t>
            </a:r>
            <a:endParaRPr lang="en-US" sz="1200" dirty="0"/>
          </a:p>
          <a:p>
            <a:pPr indent="0" marL="0">
              <a:lnSpc>
                <a:spcPts val="2100"/>
              </a:lnSpc>
              <a:buNone/>
            </a:pPr>
            <a:r>
              <a:rPr lang="en-US" sz="1200" b="1" dirty="0">
                <a:solidFill>
                  <a:srgbClr val="C2703B"/>
                </a:solidFill>
                <a:latin typeface="Calibri" pitchFamily="34" charset="0"/>
                <a:ea typeface="Calibri" pitchFamily="34" charset="-122"/>
                <a:cs typeface="Calibri" pitchFamily="34" charset="-120"/>
              </a:rPr>
              <a:t>·   Generalise broadly across multiple image distributions</a:t>
            </a:r>
            <a:endParaRPr lang="en-US" sz="1200" dirty="0"/>
          </a:p>
          <a:p>
            <a:pPr indent="0" marL="0">
              <a:lnSpc>
                <a:spcPts val="2100"/>
              </a:lnSpc>
              <a:buNone/>
            </a:pPr>
            <a:r>
              <a:rPr lang="en-US" sz="1200" dirty="0">
                <a:solidFill>
                  <a:srgbClr val="4A5560"/>
                </a:solidFill>
                <a:latin typeface="Calibri" pitchFamily="34" charset="0"/>
                <a:ea typeface="Calibri" pitchFamily="34" charset="-122"/>
                <a:cs typeface="Calibri" pitchFamily="34" charset="-120"/>
              </a:rPr>
              <a:t>·   Handle the ×2 reduction in spatial resolution</a:t>
            </a:r>
            <a:endParaRPr lang="en-US" sz="1200" dirty="0"/>
          </a:p>
        </p:txBody>
      </p:sp>
      <p:sp>
        <p:nvSpPr>
          <p:cNvPr id="11" name="Text 8"/>
          <p:cNvSpPr/>
          <p:nvPr/>
        </p:nvSpPr>
        <p:spPr>
          <a:xfrm>
            <a:off x="6858000" y="3291840"/>
            <a:ext cx="4480560" cy="310896"/>
          </a:xfrm>
          <a:prstGeom prst="rect">
            <a:avLst/>
          </a:prstGeom>
          <a:noFill/>
          <a:ln/>
        </p:spPr>
        <p:txBody>
          <a:bodyPr wrap="square" lIns="0" tIns="0" rIns="0" bIns="0" rtlCol="0" anchor="ctr"/>
          <a:lstStyle/>
          <a:p>
            <a:pPr indent="0" marL="0">
              <a:buNone/>
            </a:pPr>
            <a:r>
              <a:rPr lang="en-US" sz="1150" i="1" dirty="0">
                <a:solidFill>
                  <a:srgbClr val="C2703B"/>
                </a:solidFill>
                <a:latin typeface="Calibri" pitchFamily="34" charset="0"/>
                <a:ea typeface="Calibri" pitchFamily="34" charset="-122"/>
                <a:cs typeface="Calibri" pitchFamily="34" charset="-120"/>
              </a:rPr>
              <a:t>The third is the whole deck. Every decision below was made against it.</a:t>
            </a:r>
            <a:endParaRPr lang="en-US" sz="1150" dirty="0"/>
          </a:p>
        </p:txBody>
      </p:sp>
      <p:sp>
        <p:nvSpPr>
          <p:cNvPr id="12" name="Shape 9"/>
          <p:cNvSpPr/>
          <p:nvPr/>
        </p:nvSpPr>
        <p:spPr>
          <a:xfrm>
            <a:off x="6583680" y="3886200"/>
            <a:ext cx="5029200" cy="2176272"/>
          </a:xfrm>
          <a:prstGeom prst="roundRect">
            <a:avLst>
              <a:gd name="adj" fmla="val 2521"/>
            </a:avLst>
          </a:prstGeom>
          <a:solidFill>
            <a:srgbClr val="ECEFF2"/>
          </a:solidFill>
          <a:ln w="12700">
            <a:solidFill>
              <a:srgbClr val="ECEFF2"/>
            </a:solidFill>
            <a:prstDash val="solid"/>
          </a:ln>
        </p:spPr>
      </p:sp>
      <p:sp>
        <p:nvSpPr>
          <p:cNvPr id="13" name="Text 10"/>
          <p:cNvSpPr/>
          <p:nvPr/>
        </p:nvSpPr>
        <p:spPr>
          <a:xfrm>
            <a:off x="6858000" y="4087368"/>
            <a:ext cx="4480560" cy="219456"/>
          </a:xfrm>
          <a:prstGeom prst="rect">
            <a:avLst/>
          </a:prstGeom>
          <a:noFill/>
          <a:ln/>
        </p:spPr>
        <p:txBody>
          <a:bodyPr wrap="square" lIns="0" tIns="0" rIns="0" bIns="0" rtlCol="0" anchor="ctr"/>
          <a:lstStyle/>
          <a:p>
            <a:pPr indent="0" marL="0">
              <a:buNone/>
            </a:pPr>
            <a:r>
              <a:rPr lang="en-US" sz="950" b="1" spc="120" kern="0" dirty="0">
                <a:solidFill>
                  <a:srgbClr val="C2703B"/>
                </a:solidFill>
                <a:latin typeface="Calibri" pitchFamily="34" charset="0"/>
                <a:ea typeface="Calibri" pitchFamily="34" charset="-122"/>
                <a:cs typeface="Calibri" pitchFamily="34" charset="-120"/>
              </a:rPr>
              <a:t>IN-DISTRIBUTION vs OUT-OF-DISTRIBUTION</a:t>
            </a:r>
            <a:endParaRPr lang="en-US" sz="950" dirty="0"/>
          </a:p>
        </p:txBody>
      </p:sp>
      <p:sp>
        <p:nvSpPr>
          <p:cNvPr id="14" name="Text 11"/>
          <p:cNvSpPr/>
          <p:nvPr/>
        </p:nvSpPr>
        <p:spPr>
          <a:xfrm>
            <a:off x="6858000" y="4416552"/>
            <a:ext cx="4480560" cy="1554480"/>
          </a:xfrm>
          <a:prstGeom prst="rect">
            <a:avLst/>
          </a:prstGeom>
          <a:noFill/>
          <a:ln/>
        </p:spPr>
        <p:txBody>
          <a:bodyPr wrap="square" lIns="0" tIns="0" rIns="0" bIns="0" rtlCol="0" anchor="ctr"/>
          <a:lstStyle/>
          <a:p>
            <a:pPr indent="0" marL="0">
              <a:lnSpc>
                <a:spcPts val="1700"/>
              </a:lnSpc>
              <a:buNone/>
            </a:pPr>
            <a:r>
              <a:rPr lang="en-US" sz="1150" dirty="0">
                <a:solidFill>
                  <a:srgbClr val="4A5560"/>
                </a:solidFill>
                <a:latin typeface="Calibri" pitchFamily="34" charset="0"/>
                <a:ea typeface="Calibri" pitchFamily="34" charset="-122"/>
                <a:cs typeface="Calibri" pitchFamily="34" charset="-120"/>
              </a:rPr>
              <a:t>Every model we trained scores within 0.30 dB of every other at the noise level KLA’s data actually contains. </a:t>
            </a:r>
            <a:pPr indent="0" marL="0">
              <a:lnSpc>
                <a:spcPts val="1700"/>
              </a:lnSpc>
              <a:buNone/>
            </a:pPr>
            <a:r>
              <a:rPr lang="en-US" sz="1150" b="1" dirty="0">
                <a:solidFill>
                  <a:srgbClr val="23282E"/>
                </a:solidFill>
                <a:latin typeface="Calibri" pitchFamily="34" charset="0"/>
                <a:ea typeface="Calibri" pitchFamily="34" charset="-122"/>
                <a:cs typeface="Calibri" pitchFamily="34" charset="-120"/>
              </a:rPr>
              <a:t>The models only separate outside it</a:t>
            </a:r>
            <a:pPr indent="0" marL="0">
              <a:lnSpc>
                <a:spcPts val="1700"/>
              </a:lnSpc>
              <a:buNone/>
            </a:pPr>
            <a:r>
              <a:rPr lang="en-US" sz="1150" dirty="0">
                <a:solidFill>
                  <a:srgbClr val="4A5560"/>
                </a:solidFill>
                <a:latin typeface="Calibri" pitchFamily="34" charset="0"/>
                <a:ea typeface="Calibri" pitchFamily="34" charset="-122"/>
                <a:cs typeface="Calibri" pitchFamily="34" charset="-120"/>
              </a:rPr>
              <a:t> — and “outside it” is what the statement calls generalisation.</a:t>
            </a:r>
            <a:endParaRPr lang="en-US" sz="1150" dirty="0"/>
          </a:p>
          <a:p>
            <a:pPr indent="0" marL="0">
              <a:lnSpc>
                <a:spcPts val="1700"/>
              </a:lnSpc>
              <a:buNone/>
            </a:pPr>
            <a:r>
              <a:rPr lang="en-US" sz="1150" b="1" dirty="0">
                <a:solidFill>
                  <a:srgbClr val="23282E"/>
                </a:solidFill>
                <a:latin typeface="Calibri" pitchFamily="34" charset="0"/>
                <a:ea typeface="Calibri" pitchFamily="34" charset="-122"/>
                <a:cs typeface="Calibri" pitchFamily="34" charset="-120"/>
              </a:rPr>
              <a:t>So we measure everything twice: once where the data lives, once where it might move to.</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400" b="1" dirty="0">
                <a:solidFill>
                  <a:srgbClr val="23282E"/>
                </a:solidFill>
                <a:latin typeface="Cambria" pitchFamily="34" charset="0"/>
                <a:ea typeface="Cambria" pitchFamily="34" charset="-122"/>
                <a:cs typeface="Cambria" pitchFamily="34" charset="-120"/>
              </a:rPr>
              <a:t>Idea Description</a:t>
            </a:r>
            <a:endParaRPr lang="en-US" sz="3400" dirty="0"/>
          </a:p>
        </p:txBody>
      </p:sp>
      <p:sp>
        <p:nvSpPr>
          <p:cNvPr id="3" name="Text 1"/>
          <p:cNvSpPr/>
          <p:nvPr/>
        </p:nvSpPr>
        <p:spPr>
          <a:xfrm>
            <a:off x="548640" y="905256"/>
            <a:ext cx="11064240" cy="310896"/>
          </a:xfrm>
          <a:prstGeom prst="rect">
            <a:avLst/>
          </a:prstGeom>
          <a:noFill/>
          <a:ln/>
        </p:spPr>
        <p:txBody>
          <a:bodyPr wrap="square" lIns="0" tIns="0" rIns="0" bIns="0" rtlCol="0" anchor="ctr"/>
          <a:lstStyle/>
          <a:p>
            <a:pPr indent="0" marL="0">
              <a:buNone/>
            </a:pPr>
            <a:r>
              <a:rPr lang="en-US" sz="1300" i="1" dirty="0">
                <a:solidFill>
                  <a:srgbClr val="7C8895"/>
                </a:solidFill>
                <a:latin typeface="Calibri" pitchFamily="34" charset="0"/>
                <a:ea typeface="Calibri" pitchFamily="34" charset="-122"/>
                <a:cs typeface="Calibri" pitchFamily="34" charset="-120"/>
              </a:rPr>
              <a:t>Measure the degradation, then build two generators from it — one calibrated to reality, one deliberately wider</a:t>
            </a:r>
            <a:endParaRPr lang="en-US" sz="1300" dirty="0"/>
          </a:p>
        </p:txBody>
      </p:sp>
      <p:sp>
        <p:nvSpPr>
          <p:cNvPr id="4" name="Shape 2"/>
          <p:cNvSpPr/>
          <p:nvPr/>
        </p:nvSpPr>
        <p:spPr>
          <a:xfrm>
            <a:off x="548640" y="1371600"/>
            <a:ext cx="5394960" cy="914400"/>
          </a:xfrm>
          <a:prstGeom prst="roundRect">
            <a:avLst>
              <a:gd name="adj" fmla="val 6000"/>
            </a:avLst>
          </a:prstGeom>
          <a:solidFill>
            <a:srgbClr val="23282E"/>
          </a:solidFill>
          <a:ln w="12700">
            <a:solidFill>
              <a:srgbClr val="23282E"/>
            </a:solidFill>
            <a:prstDash val="solid"/>
          </a:ln>
        </p:spPr>
      </p:sp>
      <p:sp>
        <p:nvSpPr>
          <p:cNvPr id="5" name="Text 3"/>
          <p:cNvSpPr/>
          <p:nvPr/>
        </p:nvSpPr>
        <p:spPr>
          <a:xfrm>
            <a:off x="777240" y="1517904"/>
            <a:ext cx="5029200" cy="658368"/>
          </a:xfrm>
          <a:prstGeom prst="rect">
            <a:avLst/>
          </a:prstGeom>
          <a:noFill/>
          <a:ln/>
        </p:spPr>
        <p:txBody>
          <a:bodyPr wrap="square" lIns="0" tIns="0" rIns="0" bIns="0" rtlCol="0" anchor="ctr"/>
          <a:lstStyle/>
          <a:p>
            <a:pPr indent="0" marL="0">
              <a:lnSpc>
                <a:spcPts val="2000"/>
              </a:lnSpc>
              <a:buNone/>
            </a:pPr>
            <a:r>
              <a:rPr lang="en-US" sz="1250" dirty="0">
                <a:solidFill>
                  <a:srgbClr val="FFFFFF"/>
                </a:solidFill>
                <a:latin typeface="Consolas" pitchFamily="34" charset="0"/>
                <a:ea typeface="Consolas" pitchFamily="34" charset="-122"/>
                <a:cs typeface="Consolas" pitchFamily="34" charset="-120"/>
              </a:rPr>
              <a:t>var(residual) = σ²add + σ²mul·m² + c·v</a:t>
            </a:r>
            <a:endParaRPr lang="en-US" sz="1250" dirty="0"/>
          </a:p>
          <a:p>
            <a:pPr indent="0" marL="0">
              <a:lnSpc>
                <a:spcPts val="2000"/>
              </a:lnSpc>
              <a:buNone/>
            </a:pPr>
            <a:r>
              <a:rPr lang="en-US" sz="1250" dirty="0">
                <a:solidFill>
                  <a:srgbClr val="FFFFFF"/>
                </a:solidFill>
                <a:latin typeface="Consolas" pitchFamily="34" charset="0"/>
                <a:ea typeface="Consolas" pitchFamily="34" charset="-122"/>
                <a:cs typeface="Consolas" pitchFamily="34" charset="-120"/>
              </a:rPr>
              <a:t>downsample    = exact 2×2 box average</a:t>
            </a:r>
            <a:endParaRPr lang="en-US" sz="1250" dirty="0"/>
          </a:p>
        </p:txBody>
      </p:sp>
      <p:sp>
        <p:nvSpPr>
          <p:cNvPr id="6" name="Text 4"/>
          <p:cNvSpPr/>
          <p:nvPr/>
        </p:nvSpPr>
        <p:spPr>
          <a:xfrm>
            <a:off x="548640" y="2340864"/>
            <a:ext cx="5394960" cy="274320"/>
          </a:xfrm>
          <a:prstGeom prst="rect">
            <a:avLst/>
          </a:prstGeom>
          <a:noFill/>
          <a:ln/>
        </p:spPr>
        <p:txBody>
          <a:bodyPr wrap="square" lIns="0" tIns="0" rIns="0" bIns="0" rtlCol="0" anchor="ctr"/>
          <a:lstStyle/>
          <a:p>
            <a:pPr indent="0" marL="0">
              <a:buNone/>
            </a:pPr>
            <a:r>
              <a:rPr lang="en-US" sz="1100" dirty="0">
                <a:solidFill>
                  <a:srgbClr val="4A5560"/>
                </a:solidFill>
                <a:latin typeface="Calibri" pitchFamily="34" charset="0"/>
                <a:ea typeface="Calibri" pitchFamily="34" charset="-122"/>
                <a:cs typeface="Calibri" pitchFamily="34" charset="-120"/>
              </a:rPr>
              <a:t>m = 2×2 block mean of the clean image, v = within-block variance.  </a:t>
            </a:r>
            <a:pPr indent="0" marL="0">
              <a:buNone/>
            </a:pPr>
            <a:r>
              <a:rPr lang="en-US" sz="1100" b="1" dirty="0">
                <a:solidFill>
                  <a:srgbClr val="23282E"/>
                </a:solidFill>
                <a:latin typeface="Calibri" pitchFamily="34" charset="0"/>
                <a:ea typeface="Calibri" pitchFamily="34" charset="-122"/>
                <a:cs typeface="Calibri" pitchFamily="34" charset="-120"/>
              </a:rPr>
              <a:t>adjusted R² = 0.9987</a:t>
            </a:r>
            <a:pPr indent="0" marL="0">
              <a:buNone/>
            </a:pPr>
            <a:r>
              <a:rPr lang="en-US" sz="1100" dirty="0">
                <a:solidFill>
                  <a:srgbClr val="4A5560"/>
                </a:solidFill>
                <a:latin typeface="Calibri" pitchFamily="34" charset="0"/>
                <a:ea typeface="Calibri" pitchFamily="34" charset="-122"/>
                <a:cs typeface="Calibri" pitchFamily="34" charset="-120"/>
              </a:rPr>
              <a:t> over 288 bins / 6.55 M pixels.</a:t>
            </a:r>
            <a:endParaRPr lang="en-US" sz="1100" dirty="0"/>
          </a:p>
        </p:txBody>
      </p:sp>
      <p:sp>
        <p:nvSpPr>
          <p:cNvPr id="7" name="Text 5"/>
          <p:cNvSpPr/>
          <p:nvPr/>
        </p:nvSpPr>
        <p:spPr>
          <a:xfrm>
            <a:off x="548640" y="2724912"/>
            <a:ext cx="5394960" cy="219456"/>
          </a:xfrm>
          <a:prstGeom prst="rect">
            <a:avLst/>
          </a:prstGeom>
          <a:noFill/>
          <a:ln/>
        </p:spPr>
        <p:txBody>
          <a:bodyPr wrap="square" lIns="0" tIns="0" rIns="0" bIns="0" rtlCol="0" anchor="ctr"/>
          <a:lstStyle/>
          <a:p>
            <a:pPr indent="0" marL="0">
              <a:buNone/>
            </a:pPr>
            <a:r>
              <a:rPr lang="en-US" sz="950" b="1" spc="120" kern="0" dirty="0">
                <a:solidFill>
                  <a:srgbClr val="C2703B"/>
                </a:solidFill>
                <a:latin typeface="Calibri" pitchFamily="34" charset="0"/>
                <a:ea typeface="Calibri" pitchFamily="34" charset="-122"/>
                <a:cs typeface="Calibri" pitchFamily="34" charset="-120"/>
              </a:rPr>
              <a:t>SPECKLE OR SHOT NOISE? SETTLED BY BIC, NOT ASSUMED</a:t>
            </a:r>
            <a:endParaRPr lang="en-US" sz="9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3017520"/>
          <a:ext cx="5394960" cy="914400"/>
        </p:xfrm>
        <a:graphic>
          <a:graphicData uri="http://schemas.openxmlformats.org/drawingml/2006/table">
            <a:tbl>
              <a:tblPr/>
              <a:tblGrid>
                <a:gridCol w="1554480"/>
                <a:gridCol w="1920240"/>
                <a:gridCol w="960120"/>
                <a:gridCol w="960120"/>
              </a:tblGrid>
              <a:tr h="26517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form</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adj R²</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BIC</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r>
              <a:tr h="265176">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M1 multiplicative</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a + b·m² + c·v</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0.9987</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−1814.5</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65176">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M2 Poisson / shot</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a + p·m + c·v</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0.9370</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−696.2</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65176">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M3 both terms</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a + p·m + b·m² + c·v</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0.9989</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−1849.5</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65176">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M4 no brightness term</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a + c·v</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0.1808</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+37.7</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bl>
          </a:graphicData>
        </a:graphic>
      </p:graphicFrame>
      <p:sp>
        <p:nvSpPr>
          <p:cNvPr id="9" name="Text 6"/>
          <p:cNvSpPr/>
          <p:nvPr/>
        </p:nvSpPr>
        <p:spPr>
          <a:xfrm>
            <a:off x="548640" y="4434840"/>
            <a:ext cx="5394960" cy="1005840"/>
          </a:xfrm>
          <a:prstGeom prst="rect">
            <a:avLst/>
          </a:prstGeom>
          <a:noFill/>
          <a:ln/>
        </p:spPr>
        <p:txBody>
          <a:bodyPr wrap="square" lIns="0" tIns="0" rIns="0" bIns="0" rtlCol="0" anchor="ctr"/>
          <a:lstStyle/>
          <a:p>
            <a:pPr indent="0" marL="0">
              <a:lnSpc>
                <a:spcPts val="1500"/>
              </a:lnSpc>
              <a:buNone/>
            </a:pPr>
            <a:r>
              <a:rPr lang="en-US" sz="1100" b="1" dirty="0">
                <a:solidFill>
                  <a:srgbClr val="C2703B"/>
                </a:solidFill>
                <a:latin typeface="Calibri" pitchFamily="34" charset="0"/>
                <a:ea typeface="Calibri" pitchFamily="34" charset="-122"/>
                <a:cs typeface="Calibri" pitchFamily="34" charset="-120"/>
              </a:rPr>
              <a:t>ΔBIC = 1118.3</a:t>
            </a:r>
            <a:pPr indent="0" marL="0">
              <a:lnSpc>
                <a:spcPts val="1500"/>
              </a:lnSpc>
              <a:buNone/>
            </a:pPr>
            <a:r>
              <a:rPr lang="en-US" sz="1100" dirty="0">
                <a:solidFill>
                  <a:srgbClr val="4A5560"/>
                </a:solidFill>
                <a:latin typeface="Calibri" pitchFamily="34" charset="0"/>
                <a:ea typeface="Calibri" pitchFamily="34" charset="-122"/>
                <a:cs typeface="Calibri" pitchFamily="34" charset="-120"/>
              </a:rPr>
              <a:t>  — decisive (&gt;10 is “very strong”). M3 fits marginally better but drives the Poisson coefficient to −0.00196: negative, meaningless for a shot-noise term. It absorbs curvature, it does not count photons. So the generator multiplies, and the network </a:t>
            </a:r>
            <a:pPr indent="0" marL="0">
              <a:lnSpc>
                <a:spcPts val="1500"/>
              </a:lnSpc>
              <a:buNone/>
            </a:pPr>
            <a:r>
              <a:rPr lang="en-US" sz="1100" i="1" dirty="0">
                <a:solidFill>
                  <a:srgbClr val="4A5560"/>
                </a:solidFill>
                <a:latin typeface="Calibri" pitchFamily="34" charset="0"/>
                <a:ea typeface="Calibri" pitchFamily="34" charset="-122"/>
                <a:cs typeface="Calibri" pitchFamily="34" charset="-120"/>
              </a:rPr>
              <a:t>offers</a:t>
            </a:r>
            <a:pPr indent="0" marL="0">
              <a:lnSpc>
                <a:spcPts val="1500"/>
              </a:lnSpc>
              <a:buNone/>
            </a:pPr>
            <a:r>
              <a:rPr lang="en-US" sz="1100" dirty="0">
                <a:solidFill>
                  <a:srgbClr val="4A5560"/>
                </a:solidFill>
                <a:latin typeface="Calibri" pitchFamily="34" charset="0"/>
                <a:ea typeface="Calibri" pitchFamily="34" charset="-122"/>
                <a:cs typeface="Calibri" pitchFamily="34" charset="-120"/>
              </a:rPr>
              <a:t> √x as one of three views rather than being built on it.</a:t>
            </a:r>
            <a:endParaRPr lang="en-US" sz="11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309360" y="1371600"/>
          <a:ext cx="5303520" cy="914400"/>
        </p:xfrm>
        <a:graphic>
          <a:graphicData uri="http://schemas.openxmlformats.org/drawingml/2006/table">
            <a:tbl>
              <a:tblPr/>
              <a:tblGrid>
                <a:gridCol w="1645920"/>
                <a:gridCol w="1828800"/>
                <a:gridCol w="1828800"/>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parameter</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NARROW — as measured</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WIDE — deliberately broader</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r>
              <a:tr h="274320">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σ_add</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0.000 – 0.065</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0.000 – 0.180</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74320">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σ_mul</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0.155 – 0.258</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0.060 – 0.500</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74320">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c  detail term</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0.026 – 0.234</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0.000 – 0.450</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74320">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Gamma k</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14</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4 – 60</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74320">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optical blur</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absent</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σ 0.3–1.1 on 30%</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74320">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downsample kernel</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exact 2×2 box</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box, or Gaussian on 25%</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bl>
          </a:graphicData>
        </a:graphic>
      </p:graphicFrame>
      <p:sp>
        <p:nvSpPr>
          <p:cNvPr id="11" name="Shape 7"/>
          <p:cNvSpPr/>
          <p:nvPr/>
        </p:nvSpPr>
        <p:spPr>
          <a:xfrm>
            <a:off x="6309360" y="3310128"/>
            <a:ext cx="5303520" cy="1371600"/>
          </a:xfrm>
          <a:prstGeom prst="roundRect">
            <a:avLst>
              <a:gd name="adj" fmla="val 4000"/>
            </a:avLst>
          </a:prstGeom>
          <a:solidFill>
            <a:srgbClr val="FBF2EC"/>
          </a:solidFill>
          <a:ln w="12700">
            <a:solidFill>
              <a:srgbClr val="FBF2EC"/>
            </a:solidFill>
            <a:prstDash val="solid"/>
          </a:ln>
        </p:spPr>
      </p:sp>
      <p:sp>
        <p:nvSpPr>
          <p:cNvPr id="12" name="Text 8"/>
          <p:cNvSpPr/>
          <p:nvPr/>
        </p:nvSpPr>
        <p:spPr>
          <a:xfrm>
            <a:off x="6583680" y="3474720"/>
            <a:ext cx="4754880" cy="219456"/>
          </a:xfrm>
          <a:prstGeom prst="rect">
            <a:avLst/>
          </a:prstGeom>
          <a:noFill/>
          <a:ln/>
        </p:spPr>
        <p:txBody>
          <a:bodyPr wrap="square" lIns="0" tIns="0" rIns="0" bIns="0" rtlCol="0" anchor="ctr"/>
          <a:lstStyle/>
          <a:p>
            <a:pPr indent="0" marL="0">
              <a:buNone/>
            </a:pPr>
            <a:r>
              <a:rPr lang="en-US" sz="950" b="1" spc="120" kern="0" dirty="0">
                <a:solidFill>
                  <a:srgbClr val="C2703B"/>
                </a:solidFill>
                <a:latin typeface="Calibri" pitchFamily="34" charset="0"/>
                <a:ea typeface="Calibri" pitchFamily="34" charset="-122"/>
                <a:cs typeface="Calibri" pitchFamily="34" charset="-120"/>
              </a:rPr>
              <a:t>CALIBRATION IS A TEST, NOT A CLAIM</a:t>
            </a:r>
            <a:endParaRPr lang="en-US" sz="950" dirty="0"/>
          </a:p>
        </p:txBody>
      </p:sp>
      <p:sp>
        <p:nvSpPr>
          <p:cNvPr id="13" name="Text 9"/>
          <p:cNvSpPr/>
          <p:nvPr/>
        </p:nvSpPr>
        <p:spPr>
          <a:xfrm>
            <a:off x="6583680" y="3749040"/>
            <a:ext cx="4754880" cy="868680"/>
          </a:xfrm>
          <a:prstGeom prst="rect">
            <a:avLst/>
          </a:prstGeom>
          <a:noFill/>
          <a:ln/>
        </p:spPr>
        <p:txBody>
          <a:bodyPr wrap="square" lIns="0" tIns="0" rIns="0" bIns="0" rtlCol="0" anchor="ctr"/>
          <a:lstStyle/>
          <a:p>
            <a:pPr indent="0" marL="0">
              <a:lnSpc>
                <a:spcPts val="1400"/>
              </a:lnSpc>
              <a:buNone/>
            </a:pPr>
            <a:r>
              <a:rPr lang="en-US" sz="1000" dirty="0">
                <a:solidFill>
                  <a:srgbClr val="23282E"/>
                </a:solidFill>
                <a:latin typeface="Consolas" pitchFamily="34" charset="0"/>
                <a:ea typeface="Consolas" pitchFamily="34" charset="-122"/>
                <a:cs typeface="Consolas" pitchFamily="34" charset="-120"/>
              </a:rPr>
              <a:t>KLA real       σa 0.0414   σm 0.1863</a:t>
            </a:r>
            <a:endParaRPr lang="en-US" sz="1050" dirty="0"/>
          </a:p>
          <a:p>
            <a:pPr indent="0" marL="0">
              <a:lnSpc>
                <a:spcPts val="1400"/>
              </a:lnSpc>
              <a:buNone/>
            </a:pPr>
            <a:r>
              <a:rPr lang="en-US" sz="1000" dirty="0">
                <a:solidFill>
                  <a:srgbClr val="23282E"/>
                </a:solidFill>
                <a:latin typeface="Consolas" pitchFamily="34" charset="0"/>
                <a:ea typeface="Consolas" pitchFamily="34" charset="-122"/>
                <a:cs typeface="Consolas" pitchFamily="34" charset="-120"/>
              </a:rPr>
              <a:t>ours NARROW    σa 0.0415   σm 0.1986</a:t>
            </a:r>
            <a:endParaRPr lang="en-US" sz="1050" dirty="0"/>
          </a:p>
          <a:p>
            <a:pPr indent="0" marL="0">
              <a:lnSpc>
                <a:spcPts val="1400"/>
              </a:lnSpc>
              <a:buNone/>
            </a:pPr>
            <a:r>
              <a:rPr lang="en-US" sz="1000" dirty="0">
                <a:solidFill>
                  <a:srgbClr val="23282E"/>
                </a:solidFill>
                <a:latin typeface="Consolas" pitchFamily="34" charset="0"/>
                <a:ea typeface="Consolas" pitchFamily="34" charset="-122"/>
                <a:cs typeface="Consolas" pitchFamily="34" charset="-120"/>
              </a:rPr>
              <a:t>ours TRAINING  σa 0.0507   σm 0.2192</a:t>
            </a:r>
            <a:endParaRPr lang="en-US" sz="1050" dirty="0"/>
          </a:p>
          <a:p>
            <a:pPr indent="0" marL="0">
              <a:lnSpc>
                <a:spcPts val="1400"/>
              </a:lnSpc>
              <a:buNone/>
            </a:pPr>
            <a:r>
              <a:rPr lang="en-US" sz="1050" dirty="0">
                <a:solidFill>
                  <a:srgbClr val="4A5560"/>
                </a:solidFill>
                <a:latin typeface="Calibri" pitchFamily="34" charset="0"/>
                <a:ea typeface="Calibri" pitchFamily="34" charset="-122"/>
                <a:cs typeface="Calibri" pitchFamily="34" charset="-120"/>
              </a:rPr>
              <a:t>The narrow family brackets reality — that is the test. The training mixture is visibly wider on purpose.</a:t>
            </a:r>
            <a:endParaRPr lang="en-US" sz="1050" dirty="0"/>
          </a:p>
        </p:txBody>
      </p:sp>
      <p:sp>
        <p:nvSpPr>
          <p:cNvPr id="14" name="Shape 10"/>
          <p:cNvSpPr/>
          <p:nvPr/>
        </p:nvSpPr>
        <p:spPr>
          <a:xfrm>
            <a:off x="6309360" y="4791456"/>
            <a:ext cx="5303520" cy="1271016"/>
          </a:xfrm>
          <a:prstGeom prst="roundRect">
            <a:avLst>
              <a:gd name="adj" fmla="val 4317"/>
            </a:avLst>
          </a:prstGeom>
          <a:solidFill>
            <a:srgbClr val="ECEFF2"/>
          </a:solidFill>
          <a:ln w="12700">
            <a:solidFill>
              <a:srgbClr val="ECEFF2"/>
            </a:solidFill>
            <a:prstDash val="solid"/>
          </a:ln>
        </p:spPr>
      </p:sp>
      <p:sp>
        <p:nvSpPr>
          <p:cNvPr id="15" name="Text 11"/>
          <p:cNvSpPr/>
          <p:nvPr/>
        </p:nvSpPr>
        <p:spPr>
          <a:xfrm>
            <a:off x="6583680" y="4956048"/>
            <a:ext cx="4754880" cy="960120"/>
          </a:xfrm>
          <a:prstGeom prst="rect">
            <a:avLst/>
          </a:prstGeom>
          <a:noFill/>
          <a:ln/>
        </p:spPr>
        <p:txBody>
          <a:bodyPr wrap="square" lIns="0" tIns="0" rIns="0" bIns="0" rtlCol="0" anchor="ctr"/>
          <a:lstStyle/>
          <a:p>
            <a:pPr indent="0" marL="0">
              <a:lnSpc>
                <a:spcPts val="1400"/>
              </a:lnSpc>
              <a:buNone/>
            </a:pPr>
            <a:r>
              <a:rPr lang="en-US" sz="1050" b="1" dirty="0">
                <a:solidFill>
                  <a:srgbClr val="23282E"/>
                </a:solidFill>
                <a:latin typeface="Calibri" pitchFamily="34" charset="0"/>
                <a:ea typeface="Calibri" pitchFamily="34" charset="-122"/>
                <a:cs typeface="Calibri" pitchFamily="34" charset="-120"/>
              </a:rPr>
              <a:t>Blur is applied to the clean image before the noise is sampled</a:t>
            </a:r>
            <a:pPr indent="0" marL="0">
              <a:lnSpc>
                <a:spcPts val="1400"/>
              </a:lnSpc>
              <a:buNone/>
            </a:pPr>
            <a:r>
              <a:rPr lang="en-US" sz="1050" dirty="0">
                <a:solidFill>
                  <a:srgbClr val="4A5560"/>
                </a:solidFill>
                <a:latin typeface="Calibri" pitchFamily="34" charset="0"/>
                <a:ea typeface="Calibri" pitchFamily="34" charset="-122"/>
                <a:cs typeface="Calibri" pitchFamily="34" charset="-120"/>
              </a:rPr>
              <a:t> — never to the degraded output. Optics act on the image, not on the sensor. Blurring the output would correlate noise we measured to be white (lag-1 −0.052), teaching the network to remove a structure that does not exist.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400" b="1" dirty="0">
                <a:solidFill>
                  <a:srgbClr val="23282E"/>
                </a:solidFill>
                <a:latin typeface="Cambria" pitchFamily="34" charset="0"/>
                <a:ea typeface="Cambria" pitchFamily="34" charset="-122"/>
                <a:cs typeface="Cambria" pitchFamily="34" charset="-120"/>
              </a:rPr>
              <a:t>Distribution Analysis</a:t>
            </a:r>
            <a:endParaRPr lang="en-US" sz="3400" dirty="0"/>
          </a:p>
        </p:txBody>
      </p:sp>
      <p:sp>
        <p:nvSpPr>
          <p:cNvPr id="3" name="Text 1"/>
          <p:cNvSpPr/>
          <p:nvPr/>
        </p:nvSpPr>
        <p:spPr>
          <a:xfrm>
            <a:off x="548640" y="905256"/>
            <a:ext cx="11064240" cy="310896"/>
          </a:xfrm>
          <a:prstGeom prst="rect">
            <a:avLst/>
          </a:prstGeom>
          <a:noFill/>
          <a:ln/>
        </p:spPr>
        <p:txBody>
          <a:bodyPr wrap="square" lIns="0" tIns="0" rIns="0" bIns="0" rtlCol="0" anchor="ctr"/>
          <a:lstStyle/>
          <a:p>
            <a:pPr indent="0" marL="0">
              <a:buNone/>
            </a:pPr>
            <a:r>
              <a:rPr lang="en-US" sz="1300" i="1" dirty="0">
                <a:solidFill>
                  <a:srgbClr val="7C8895"/>
                </a:solidFill>
                <a:latin typeface="Calibri" pitchFamily="34" charset="0"/>
                <a:ea typeface="Calibri" pitchFamily="34" charset="-122"/>
                <a:cs typeface="Calibri" pitchFamily="34" charset="-120"/>
              </a:rPr>
              <a:t>Two histograms. The first decided the generator; the second decided how we read the test set we were given.</a:t>
            </a:r>
            <a:endParaRPr lang="en-US" sz="1300" dirty="0"/>
          </a:p>
        </p:txBody>
      </p:sp>
      <p:pic>
        <p:nvPicPr>
          <p:cNvPr id="4" name="Image 0" descr="/home/claude/deck5/c_resid.png">    </p:cNvPr>
          <p:cNvPicPr>
            <a:picLocks noChangeAspect="1"/>
          </p:cNvPicPr>
          <p:nvPr/>
        </p:nvPicPr>
        <p:blipFill>
          <a:blip r:embed="rId1"/>
          <a:stretch>
            <a:fillRect/>
          </a:stretch>
        </p:blipFill>
        <p:spPr>
          <a:xfrm>
            <a:off x="502920" y="1371600"/>
            <a:ext cx="5486400" cy="2414016"/>
          </a:xfrm>
          <a:prstGeom prst="rect">
            <a:avLst/>
          </a:prstGeom>
        </p:spPr>
      </p:pic>
      <p:sp>
        <p:nvSpPr>
          <p:cNvPr id="5" name="Shape 2"/>
          <p:cNvSpPr/>
          <p:nvPr/>
        </p:nvSpPr>
        <p:spPr>
          <a:xfrm>
            <a:off x="502920" y="3913632"/>
            <a:ext cx="5486400" cy="2139696"/>
          </a:xfrm>
          <a:prstGeom prst="roundRect">
            <a:avLst>
              <a:gd name="adj" fmla="val 2564"/>
            </a:avLst>
          </a:prstGeom>
          <a:solidFill>
            <a:srgbClr val="ECEFF2"/>
          </a:solidFill>
          <a:ln w="12700">
            <a:solidFill>
              <a:srgbClr val="ECEFF2"/>
            </a:solidFill>
            <a:prstDash val="solid"/>
          </a:ln>
        </p:spPr>
      </p:sp>
      <p:sp>
        <p:nvSpPr>
          <p:cNvPr id="6" name="Text 3"/>
          <p:cNvSpPr/>
          <p:nvPr/>
        </p:nvSpPr>
        <p:spPr>
          <a:xfrm>
            <a:off x="777240" y="4096512"/>
            <a:ext cx="4937760" cy="219456"/>
          </a:xfrm>
          <a:prstGeom prst="rect">
            <a:avLst/>
          </a:prstGeom>
          <a:noFill/>
          <a:ln/>
        </p:spPr>
        <p:txBody>
          <a:bodyPr wrap="square" lIns="0" tIns="0" rIns="0" bIns="0" rtlCol="0" anchor="ctr"/>
          <a:lstStyle/>
          <a:p>
            <a:pPr indent="0" marL="0">
              <a:buNone/>
            </a:pPr>
            <a:r>
              <a:rPr lang="en-US" sz="950" b="1" spc="120" kern="0" dirty="0">
                <a:solidFill>
                  <a:srgbClr val="C2703B"/>
                </a:solidFill>
                <a:latin typeface="Calibri" pitchFamily="34" charset="0"/>
                <a:ea typeface="Calibri" pitchFamily="34" charset="-122"/>
                <a:cs typeface="Calibri" pitchFamily="34" charset="-120"/>
              </a:rPr>
              <a:t>WHY GAMMA, NOT GAUSSIAN</a:t>
            </a:r>
            <a:endParaRPr lang="en-US" sz="950" dirty="0"/>
          </a:p>
        </p:txBody>
      </p:sp>
      <p:sp>
        <p:nvSpPr>
          <p:cNvPr id="7" name="Text 4"/>
          <p:cNvSpPr/>
          <p:nvPr/>
        </p:nvSpPr>
        <p:spPr>
          <a:xfrm>
            <a:off x="777240" y="4425696"/>
            <a:ext cx="4937760" cy="1554480"/>
          </a:xfrm>
          <a:prstGeom prst="rect">
            <a:avLst/>
          </a:prstGeom>
          <a:noFill/>
          <a:ln/>
        </p:spPr>
        <p:txBody>
          <a:bodyPr wrap="square" lIns="0" tIns="0" rIns="0" bIns="0" rtlCol="0" anchor="ctr"/>
          <a:lstStyle/>
          <a:p>
            <a:pPr indent="0" marL="0">
              <a:lnSpc>
                <a:spcPts val="1500"/>
              </a:lnSpc>
              <a:buNone/>
            </a:pPr>
            <a:r>
              <a:rPr lang="en-US" sz="1100" dirty="0">
                <a:solidFill>
                  <a:srgbClr val="4A5560"/>
                </a:solidFill>
                <a:latin typeface="Calibri" pitchFamily="34" charset="0"/>
                <a:ea typeface="Calibri" pitchFamily="34" charset="-122"/>
                <a:cs typeface="Calibri" pitchFamily="34" charset="-120"/>
              </a:rPr>
              <a:t>The residual is spatially white — lag-1 correlation −0.052 horizontal, −0.050 vertical — so independent per-pixel draws are faithful. But it is </a:t>
            </a:r>
            <a:pPr indent="0" marL="0">
              <a:lnSpc>
                <a:spcPts val="1500"/>
              </a:lnSpc>
              <a:buNone/>
            </a:pPr>
            <a:r>
              <a:rPr lang="en-US" sz="1100" i="1" dirty="0">
                <a:solidFill>
                  <a:srgbClr val="4A5560"/>
                </a:solidFill>
                <a:latin typeface="Calibri" pitchFamily="34" charset="0"/>
                <a:ea typeface="Calibri" pitchFamily="34" charset="-122"/>
                <a:cs typeface="Calibri" pitchFamily="34" charset="-120"/>
              </a:rPr>
              <a:t>not</a:t>
            </a:r>
            <a:pPr indent="0" marL="0">
              <a:lnSpc>
                <a:spcPts val="1500"/>
              </a:lnSpc>
              <a:buNone/>
            </a:pPr>
            <a:r>
              <a:rPr lang="en-US" sz="1100" dirty="0">
                <a:solidFill>
                  <a:srgbClr val="4A5560"/>
                </a:solidFill>
                <a:latin typeface="Calibri" pitchFamily="34" charset="0"/>
                <a:ea typeface="Calibri" pitchFamily="34" charset="-122"/>
                <a:cs typeface="Calibri" pitchFamily="34" charset="-120"/>
              </a:rPr>
              <a:t> Gaussian: skew </a:t>
            </a:r>
            <a:pPr indent="0" marL="0">
              <a:lnSpc>
                <a:spcPts val="1500"/>
              </a:lnSpc>
              <a:buNone/>
            </a:pPr>
            <a:r>
              <a:rPr lang="en-US" sz="1100" b="1" dirty="0">
                <a:solidFill>
                  <a:srgbClr val="23282E"/>
                </a:solidFill>
                <a:latin typeface="Calibri" pitchFamily="34" charset="0"/>
                <a:ea typeface="Calibri" pitchFamily="34" charset="-122"/>
                <a:cs typeface="Calibri" pitchFamily="34" charset="-120"/>
              </a:rPr>
              <a:t>+0.51</a:t>
            </a:r>
            <a:pPr indent="0" marL="0">
              <a:lnSpc>
                <a:spcPts val="1500"/>
              </a:lnSpc>
              <a:buNone/>
            </a:pPr>
            <a:r>
              <a:rPr lang="en-US" sz="1100" dirty="0">
                <a:solidFill>
                  <a:srgbClr val="4A5560"/>
                </a:solidFill>
                <a:latin typeface="Calibri" pitchFamily="34" charset="0"/>
                <a:ea typeface="Calibri" pitchFamily="34" charset="-122"/>
                <a:cs typeface="Calibri" pitchFamily="34" charset="-120"/>
              </a:rPr>
              <a:t>, excess kurtosis </a:t>
            </a:r>
            <a:pPr indent="0" marL="0">
              <a:lnSpc>
                <a:spcPts val="1500"/>
              </a:lnSpc>
              <a:buNone/>
            </a:pPr>
            <a:r>
              <a:rPr lang="en-US" sz="1100" b="1" dirty="0">
                <a:solidFill>
                  <a:srgbClr val="23282E"/>
                </a:solidFill>
                <a:latin typeface="Calibri" pitchFamily="34" charset="0"/>
                <a:ea typeface="Calibri" pitchFamily="34" charset="-122"/>
                <a:cs typeface="Calibri" pitchFamily="34" charset="-120"/>
              </a:rPr>
              <a:t>+1.28</a:t>
            </a:r>
            <a:pPr indent="0" marL="0">
              <a:lnSpc>
                <a:spcPts val="1500"/>
              </a:lnSpc>
              <a:buNone/>
            </a:pPr>
            <a:r>
              <a:rPr lang="en-US" sz="1100" dirty="0">
                <a:solidFill>
                  <a:srgbClr val="4A5560"/>
                </a:solidFill>
                <a:latin typeface="Calibri" pitchFamily="34" charset="0"/>
                <a:ea typeface="Calibri" pitchFamily="34" charset="-122"/>
                <a:cs typeface="Calibri" pitchFamily="34" charset="-120"/>
              </a:rPr>
              <a:t>.</a:t>
            </a:r>
            <a:endParaRPr lang="en-US" sz="1100" dirty="0"/>
          </a:p>
          <a:p>
            <a:pPr indent="0" marL="0">
              <a:lnSpc>
                <a:spcPts val="1500"/>
              </a:lnSpc>
              <a:buNone/>
            </a:pPr>
            <a:r>
              <a:rPr lang="en-US" sz="1100" b="1" dirty="0">
                <a:solidFill>
                  <a:srgbClr val="23282E"/>
                </a:solidFill>
                <a:latin typeface="Calibri" pitchFamily="34" charset="0"/>
                <a:ea typeface="Calibri" pitchFamily="34" charset="-122"/>
                <a:cs typeface="Calibri" pitchFamily="34" charset="-120"/>
              </a:rPr>
              <a:t>A Gaussian generator would match the variance and miss the shape</a:t>
            </a:r>
            <a:pPr indent="0" marL="0">
              <a:lnSpc>
                <a:spcPts val="1500"/>
              </a:lnSpc>
              <a:buNone/>
            </a:pPr>
            <a:r>
              <a:rPr lang="en-US" sz="1100" dirty="0">
                <a:solidFill>
                  <a:srgbClr val="4A5560"/>
                </a:solidFill>
                <a:latin typeface="Calibri" pitchFamily="34" charset="0"/>
                <a:ea typeface="Calibri" pitchFamily="34" charset="-122"/>
                <a:cs typeface="Calibri" pitchFamily="34" charset="-120"/>
              </a:rPr>
              <a:t> — the network would never see the heavy right tail that real speckle produces, and would learn to expect symmetric noise it will not get. We draw from a shifted Gamma with k = 14, which is the physically correct family for speckle and reproduces both moments.</a:t>
            </a:r>
            <a:endParaRPr lang="en-US" sz="1100" dirty="0"/>
          </a:p>
        </p:txBody>
      </p:sp>
      <p:pic>
        <p:nvPicPr>
          <p:cNvPr id="8" name="Image 1" descr="/home/claude/deck5/c_dist.png">    </p:cNvPr>
          <p:cNvPicPr>
            <a:picLocks noChangeAspect="1"/>
          </p:cNvPicPr>
          <p:nvPr/>
        </p:nvPicPr>
        <p:blipFill>
          <a:blip r:embed="rId2"/>
          <a:stretch>
            <a:fillRect/>
          </a:stretch>
        </p:blipFill>
        <p:spPr>
          <a:xfrm>
            <a:off x="6263640" y="1481328"/>
            <a:ext cx="5349240" cy="2212848"/>
          </a:xfrm>
          <a:prstGeom prst="rect">
            <a:avLst/>
          </a:prstGeom>
        </p:spPr>
      </p:pic>
      <p:sp>
        <p:nvSpPr>
          <p:cNvPr id="9" name="Shape 5"/>
          <p:cNvSpPr/>
          <p:nvPr/>
        </p:nvSpPr>
        <p:spPr>
          <a:xfrm>
            <a:off x="6263640" y="3913632"/>
            <a:ext cx="5349240" cy="2139696"/>
          </a:xfrm>
          <a:prstGeom prst="roundRect">
            <a:avLst>
              <a:gd name="adj" fmla="val 2564"/>
            </a:avLst>
          </a:prstGeom>
          <a:solidFill>
            <a:srgbClr val="FBF2EC"/>
          </a:solidFill>
          <a:ln w="12700">
            <a:solidFill>
              <a:srgbClr val="FBF2EC"/>
            </a:solidFill>
            <a:prstDash val="solid"/>
          </a:ln>
        </p:spPr>
      </p:sp>
      <p:sp>
        <p:nvSpPr>
          <p:cNvPr id="10" name="Text 6"/>
          <p:cNvSpPr/>
          <p:nvPr/>
        </p:nvSpPr>
        <p:spPr>
          <a:xfrm>
            <a:off x="6537960" y="4096512"/>
            <a:ext cx="4800600" cy="219456"/>
          </a:xfrm>
          <a:prstGeom prst="rect">
            <a:avLst/>
          </a:prstGeom>
          <a:noFill/>
          <a:ln/>
        </p:spPr>
        <p:txBody>
          <a:bodyPr wrap="square" lIns="0" tIns="0" rIns="0" bIns="0" rtlCol="0" anchor="ctr"/>
          <a:lstStyle/>
          <a:p>
            <a:pPr indent="0" marL="0">
              <a:buNone/>
            </a:pPr>
            <a:r>
              <a:rPr lang="en-US" sz="950" b="1" spc="120" kern="0" dirty="0">
                <a:solidFill>
                  <a:srgbClr val="C2703B"/>
                </a:solidFill>
                <a:latin typeface="Calibri" pitchFamily="34" charset="0"/>
                <a:ea typeface="Calibri" pitchFamily="34" charset="-122"/>
                <a:cs typeface="Calibri" pitchFamily="34" charset="-120"/>
              </a:rPr>
              <a:t>THE SET THEY GAVE US IS IN-DISTRIBUTION</a:t>
            </a:r>
            <a:endParaRPr lang="en-US" sz="950" dirty="0"/>
          </a:p>
        </p:txBody>
      </p:sp>
      <p:sp>
        <p:nvSpPr>
          <p:cNvPr id="11" name="Text 7"/>
          <p:cNvSpPr/>
          <p:nvPr/>
        </p:nvSpPr>
        <p:spPr>
          <a:xfrm>
            <a:off x="6537960" y="4425696"/>
            <a:ext cx="4800600" cy="1554480"/>
          </a:xfrm>
          <a:prstGeom prst="rect">
            <a:avLst/>
          </a:prstGeom>
          <a:noFill/>
          <a:ln/>
        </p:spPr>
        <p:txBody>
          <a:bodyPr wrap="square" lIns="0" tIns="0" rIns="0" bIns="0" rtlCol="0" anchor="ctr"/>
          <a:lstStyle/>
          <a:p>
            <a:pPr indent="0" marL="0">
              <a:lnSpc>
                <a:spcPts val="1400"/>
              </a:lnSpc>
              <a:buNone/>
            </a:pPr>
            <a:r>
              <a:rPr lang="en-US" sz="1050" dirty="0">
                <a:solidFill>
                  <a:srgbClr val="4A5560"/>
                </a:solidFill>
                <a:latin typeface="Calibri" pitchFamily="34" charset="0"/>
                <a:ea typeface="Calibri" pitchFamily="34" charset="-122"/>
                <a:cs typeface="Calibri" pitchFamily="34" charset="-120"/>
              </a:rPr>
              <a:t>We refitted the degradation on the organisers’ 297 images and compared it against 297 random training images. </a:t>
            </a:r>
            <a:pPr indent="0" marL="0">
              <a:lnSpc>
                <a:spcPts val="1400"/>
              </a:lnSpc>
              <a:buNone/>
            </a:pPr>
            <a:r>
              <a:rPr lang="en-US" sz="1050" b="1" dirty="0">
                <a:solidFill>
                  <a:srgbClr val="23282E"/>
                </a:solidFill>
                <a:latin typeface="Calibri" pitchFamily="34" charset="0"/>
                <a:ea typeface="Calibri" pitchFamily="34" charset="-122"/>
                <a:cs typeface="Calibri" pitchFamily="34" charset="-120"/>
              </a:rPr>
              <a:t>Every property matches</a:t>
            </a:r>
            <a:pPr indent="0" marL="0">
              <a:lnSpc>
                <a:spcPts val="1400"/>
              </a:lnSpc>
              <a:buNone/>
            </a:pPr>
            <a:r>
              <a:rPr lang="en-US" sz="1050" dirty="0">
                <a:solidFill>
                  <a:srgbClr val="4A5560"/>
                </a:solidFill>
                <a:latin typeface="Calibri" pitchFamily="34" charset="0"/>
                <a:ea typeface="Calibri" pitchFamily="34" charset="-122"/>
                <a:cs typeface="Calibri" pitchFamily="34" charset="-120"/>
              </a:rPr>
              <a:t> — σ_mul 0.1865 vs 0.1890, f90 0.5205 vs 0.5163, skew +0.512 vs +0.539, lag-1 −0.052 vs −0.048. Only 1–3% of test images fall outside the training p1–p99 band, which is what two samples of the </a:t>
            </a:r>
            <a:pPr indent="0" marL="0">
              <a:lnSpc>
                <a:spcPts val="1400"/>
              </a:lnSpc>
              <a:buNone/>
            </a:pPr>
            <a:r>
              <a:rPr lang="en-US" sz="1050" i="1" dirty="0">
                <a:solidFill>
                  <a:srgbClr val="4A5560"/>
                </a:solidFill>
                <a:latin typeface="Calibri" pitchFamily="34" charset="0"/>
                <a:ea typeface="Calibri" pitchFamily="34" charset="-122"/>
                <a:cs typeface="Calibri" pitchFamily="34" charset="-120"/>
              </a:rPr>
              <a:t>same</a:t>
            </a:r>
            <a:pPr indent="0" marL="0">
              <a:lnSpc>
                <a:spcPts val="1400"/>
              </a:lnSpc>
              <a:buNone/>
            </a:pPr>
            <a:r>
              <a:rPr lang="en-US" sz="1050" dirty="0">
                <a:solidFill>
                  <a:srgbClr val="4A5560"/>
                </a:solidFill>
                <a:latin typeface="Calibri" pitchFamily="34" charset="0"/>
                <a:ea typeface="Calibri" pitchFamily="34" charset="-122"/>
                <a:cs typeface="Calibri" pitchFamily="34" charset="-120"/>
              </a:rPr>
              <a:t> distribution give by construction. Zero exact overlap, verified by SHA-1.</a:t>
            </a:r>
            <a:endParaRPr lang="en-US" sz="1050" dirty="0"/>
          </a:p>
          <a:p>
            <a:pPr indent="0" marL="0">
              <a:lnSpc>
                <a:spcPts val="1400"/>
              </a:lnSpc>
              <a:buNone/>
            </a:pPr>
            <a:r>
              <a:rPr lang="en-US" sz="1050" b="1" dirty="0">
                <a:solidFill>
                  <a:srgbClr val="C2703B"/>
                </a:solidFill>
                <a:latin typeface="Calibri" pitchFamily="34" charset="0"/>
                <a:ea typeface="Calibri" pitchFamily="34" charset="-122"/>
                <a:cs typeface="Calibri" pitchFamily="34" charset="-120"/>
              </a:rPr>
              <a:t>So we did not optimise for it.</a:t>
            </a:r>
            <a:pPr indent="0" marL="0">
              <a:lnSpc>
                <a:spcPts val="1400"/>
              </a:lnSpc>
              <a:buNone/>
            </a:pPr>
            <a:r>
              <a:rPr lang="en-US" sz="1050" dirty="0">
                <a:solidFill>
                  <a:srgbClr val="4A5560"/>
                </a:solidFill>
                <a:latin typeface="Calibri" pitchFamily="34" charset="0"/>
                <a:ea typeface="Calibri" pitchFamily="34" charset="-122"/>
                <a:cs typeface="Calibri" pitchFamily="34" charset="-120"/>
              </a:rPr>
              <a:t> The problem statement promises a test of generalisation across distributions. This set is not that test — so we treat it as a dev set and keep the robustness we would otherwise have traded away.</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400" b="1" dirty="0">
                <a:solidFill>
                  <a:srgbClr val="23282E"/>
                </a:solidFill>
                <a:latin typeface="Cambria" pitchFamily="34" charset="0"/>
                <a:ea typeface="Cambria" pitchFamily="34" charset="-122"/>
                <a:cs typeface="Cambria" pitchFamily="34" charset="-120"/>
              </a:rPr>
              <a:t>Synthetic Degradation Generation</a:t>
            </a:r>
            <a:endParaRPr lang="en-US" sz="3400" dirty="0"/>
          </a:p>
        </p:txBody>
      </p:sp>
      <p:sp>
        <p:nvSpPr>
          <p:cNvPr id="3" name="Text 1"/>
          <p:cNvSpPr/>
          <p:nvPr/>
        </p:nvSpPr>
        <p:spPr>
          <a:xfrm>
            <a:off x="548640" y="905256"/>
            <a:ext cx="11064240" cy="310896"/>
          </a:xfrm>
          <a:prstGeom prst="rect">
            <a:avLst/>
          </a:prstGeom>
          <a:noFill/>
          <a:ln/>
        </p:spPr>
        <p:txBody>
          <a:bodyPr wrap="square" lIns="0" tIns="0" rIns="0" bIns="0" rtlCol="0" anchor="ctr"/>
          <a:lstStyle/>
          <a:p>
            <a:pPr indent="0" marL="0">
              <a:buNone/>
            </a:pPr>
            <a:r>
              <a:rPr lang="en-US" sz="1300" i="1" dirty="0">
                <a:solidFill>
                  <a:srgbClr val="7C8895"/>
                </a:solidFill>
                <a:latin typeface="Calibri" pitchFamily="34" charset="0"/>
                <a:ea typeface="Calibri" pitchFamily="34" charset="-122"/>
                <a:cs typeface="Calibri" pitchFamily="34" charset="-120"/>
              </a:rPr>
              <a:t>Why we manufacture training pairs instead of only using the 4,785 we were handed — and why we do NOT randomise the operation order</a:t>
            </a:r>
            <a:endParaRPr lang="en-US" sz="1300" dirty="0"/>
          </a:p>
        </p:txBody>
      </p:sp>
      <p:sp>
        <p:nvSpPr>
          <p:cNvPr id="4" name="Shape 2"/>
          <p:cNvSpPr/>
          <p:nvPr/>
        </p:nvSpPr>
        <p:spPr>
          <a:xfrm>
            <a:off x="502920" y="1371600"/>
            <a:ext cx="3657600" cy="2286000"/>
          </a:xfrm>
          <a:prstGeom prst="roundRect">
            <a:avLst>
              <a:gd name="adj" fmla="val 2400"/>
            </a:avLst>
          </a:prstGeom>
          <a:solidFill>
            <a:srgbClr val="FBF2EC"/>
          </a:solidFill>
          <a:ln w="12700">
            <a:solidFill>
              <a:srgbClr val="FBF2EC"/>
            </a:solidFill>
            <a:prstDash val="solid"/>
          </a:ln>
        </p:spPr>
      </p:sp>
      <p:sp>
        <p:nvSpPr>
          <p:cNvPr id="5" name="Text 3"/>
          <p:cNvSpPr/>
          <p:nvPr/>
        </p:nvSpPr>
        <p:spPr>
          <a:xfrm>
            <a:off x="777240" y="1554480"/>
            <a:ext cx="3108960" cy="219456"/>
          </a:xfrm>
          <a:prstGeom prst="rect">
            <a:avLst/>
          </a:prstGeom>
          <a:noFill/>
          <a:ln/>
        </p:spPr>
        <p:txBody>
          <a:bodyPr wrap="square" lIns="0" tIns="0" rIns="0" bIns="0" rtlCol="0" anchor="ctr"/>
          <a:lstStyle/>
          <a:p>
            <a:pPr indent="0" marL="0">
              <a:buNone/>
            </a:pPr>
            <a:r>
              <a:rPr lang="en-US" sz="950" b="1" spc="120" kern="0" dirty="0">
                <a:solidFill>
                  <a:srgbClr val="C2703B"/>
                </a:solidFill>
                <a:latin typeface="Calibri" pitchFamily="34" charset="0"/>
                <a:ea typeface="Calibri" pitchFamily="34" charset="-122"/>
                <a:cs typeface="Calibri" pitchFamily="34" charset="-120"/>
              </a:rPr>
              <a:t>WHY SYNTHETIC AT ALL</a:t>
            </a:r>
            <a:endParaRPr lang="en-US" sz="950" dirty="0"/>
          </a:p>
        </p:txBody>
      </p:sp>
      <p:sp>
        <p:nvSpPr>
          <p:cNvPr id="6" name="Text 4"/>
          <p:cNvSpPr/>
          <p:nvPr/>
        </p:nvSpPr>
        <p:spPr>
          <a:xfrm>
            <a:off x="777240" y="1883664"/>
            <a:ext cx="3108960" cy="1645920"/>
          </a:xfrm>
          <a:prstGeom prst="rect">
            <a:avLst/>
          </a:prstGeom>
          <a:noFill/>
          <a:ln/>
        </p:spPr>
        <p:txBody>
          <a:bodyPr wrap="square" lIns="0" tIns="0" rIns="0" bIns="0" rtlCol="0" anchor="ctr"/>
          <a:lstStyle/>
          <a:p>
            <a:pPr indent="0" marL="0">
              <a:lnSpc>
                <a:spcPts val="1400"/>
              </a:lnSpc>
              <a:buNone/>
            </a:pPr>
            <a:r>
              <a:rPr lang="en-US" sz="1050" b="1" dirty="0">
                <a:solidFill>
                  <a:srgbClr val="23282E"/>
                </a:solidFill>
                <a:latin typeface="Calibri" pitchFamily="34" charset="0"/>
                <a:ea typeface="Calibri" pitchFamily="34" charset="-122"/>
                <a:cs typeface="Calibri" pitchFamily="34" charset="-120"/>
              </a:rPr>
              <a:t>1  Unlimited pairs.</a:t>
            </a:r>
            <a:pPr indent="0" marL="0">
              <a:lnSpc>
                <a:spcPts val="1400"/>
              </a:lnSpc>
              <a:buNone/>
            </a:pPr>
            <a:r>
              <a:rPr lang="en-US" sz="1050" dirty="0">
                <a:solidFill>
                  <a:srgbClr val="4A5560"/>
                </a:solidFill>
                <a:latin typeface="Calibri" pitchFamily="34" charset="0"/>
                <a:ea typeface="Calibri" pitchFamily="34" charset="-122"/>
                <a:cs typeface="Calibri" pitchFamily="34" charset="-120"/>
              </a:rPr>
              <a:t> 4,785 real pairs become an unbounded stream — fresh noise every epoch, so there is nothing stable to memorise.</a:t>
            </a:r>
            <a:endParaRPr lang="en-US" sz="1050" dirty="0"/>
          </a:p>
          <a:p>
            <a:pPr indent="0" marL="0">
              <a:lnSpc>
                <a:spcPts val="1400"/>
              </a:lnSpc>
              <a:buNone/>
            </a:pPr>
            <a:r>
              <a:rPr lang="en-US" sz="1050" b="1" dirty="0">
                <a:solidFill>
                  <a:srgbClr val="23282E"/>
                </a:solidFill>
                <a:latin typeface="Calibri" pitchFamily="34" charset="0"/>
                <a:ea typeface="Calibri" pitchFamily="34" charset="-122"/>
                <a:cs typeface="Calibri" pitchFamily="34" charset="-120"/>
              </a:rPr>
              <a:t>2  Control of the axis that matters.</a:t>
            </a:r>
            <a:pPr indent="0" marL="0">
              <a:lnSpc>
                <a:spcPts val="1400"/>
              </a:lnSpc>
              <a:buNone/>
            </a:pPr>
            <a:r>
              <a:rPr lang="en-US" sz="1050" dirty="0">
                <a:solidFill>
                  <a:srgbClr val="4A5560"/>
                </a:solidFill>
                <a:latin typeface="Calibri" pitchFamily="34" charset="0"/>
                <a:ea typeface="Calibri" pitchFamily="34" charset="-122"/>
                <a:cs typeface="Calibri" pitchFamily="34" charset="-120"/>
              </a:rPr>
              <a:t> Real pairs come at one noise level. Only a generator lets us train across a range, which is the whole out-of-distribution argument.</a:t>
            </a:r>
            <a:endParaRPr lang="en-US" sz="1050" dirty="0"/>
          </a:p>
          <a:p>
            <a:pPr indent="0" marL="0">
              <a:lnSpc>
                <a:spcPts val="1400"/>
              </a:lnSpc>
              <a:buNone/>
            </a:pPr>
            <a:r>
              <a:rPr lang="en-US" sz="1050" b="1" dirty="0">
                <a:solidFill>
                  <a:srgbClr val="23282E"/>
                </a:solidFill>
                <a:latin typeface="Calibri" pitchFamily="34" charset="0"/>
                <a:ea typeface="Calibri" pitchFamily="34" charset="-122"/>
                <a:cs typeface="Calibri" pitchFamily="34" charset="-120"/>
              </a:rPr>
              <a:t>3  It is a test, not a claim.</a:t>
            </a:r>
            <a:pPr indent="0" marL="0">
              <a:lnSpc>
                <a:spcPts val="1400"/>
              </a:lnSpc>
              <a:buNone/>
            </a:pPr>
            <a:r>
              <a:rPr lang="en-US" sz="1050" dirty="0">
                <a:solidFill>
                  <a:srgbClr val="4A5560"/>
                </a:solidFill>
                <a:latin typeface="Calibri" pitchFamily="34" charset="0"/>
                <a:ea typeface="Calibri" pitchFamily="34" charset="-122"/>
                <a:cs typeface="Calibri" pitchFamily="34" charset="-120"/>
              </a:rPr>
              <a:t> Refitting our synthetic output with the same estimator used on the real pairs tells us whether the model of the damage is right.</a:t>
            </a:r>
            <a:endParaRPr lang="en-US" sz="1050" dirty="0"/>
          </a:p>
        </p:txBody>
      </p:sp>
      <p:sp>
        <p:nvSpPr>
          <p:cNvPr id="7" name="Shape 5"/>
          <p:cNvSpPr/>
          <p:nvPr/>
        </p:nvSpPr>
        <p:spPr>
          <a:xfrm>
            <a:off x="502920" y="3767328"/>
            <a:ext cx="3657600" cy="2286000"/>
          </a:xfrm>
          <a:prstGeom prst="roundRect">
            <a:avLst>
              <a:gd name="adj" fmla="val 2400"/>
            </a:avLst>
          </a:prstGeom>
          <a:solidFill>
            <a:srgbClr val="ECEFF2"/>
          </a:solidFill>
          <a:ln w="12700">
            <a:solidFill>
              <a:srgbClr val="ECEFF2"/>
            </a:solidFill>
            <a:prstDash val="solid"/>
          </a:ln>
        </p:spPr>
      </p:sp>
      <p:sp>
        <p:nvSpPr>
          <p:cNvPr id="8" name="Text 6"/>
          <p:cNvSpPr/>
          <p:nvPr/>
        </p:nvSpPr>
        <p:spPr>
          <a:xfrm>
            <a:off x="777240" y="3950208"/>
            <a:ext cx="3108960" cy="219456"/>
          </a:xfrm>
          <a:prstGeom prst="rect">
            <a:avLst/>
          </a:prstGeom>
          <a:noFill/>
          <a:ln/>
        </p:spPr>
        <p:txBody>
          <a:bodyPr wrap="square" lIns="0" tIns="0" rIns="0" bIns="0" rtlCol="0" anchor="ctr"/>
          <a:lstStyle/>
          <a:p>
            <a:pPr indent="0" marL="0">
              <a:buNone/>
            </a:pPr>
            <a:r>
              <a:rPr lang="en-US" sz="950" b="1" spc="120" kern="0" dirty="0">
                <a:solidFill>
                  <a:srgbClr val="C2703B"/>
                </a:solidFill>
                <a:latin typeface="Calibri" pitchFamily="34" charset="0"/>
                <a:ea typeface="Calibri" pitchFamily="34" charset="-122"/>
                <a:cs typeface="Calibri" pitchFamily="34" charset="-120"/>
              </a:rPr>
              <a:t>HOW IT WORKS — THREE LINES, NO PIPELINE</a:t>
            </a:r>
            <a:endParaRPr lang="en-US" sz="950" dirty="0"/>
          </a:p>
        </p:txBody>
      </p:sp>
      <p:sp>
        <p:nvSpPr>
          <p:cNvPr id="9" name="Text 7"/>
          <p:cNvSpPr/>
          <p:nvPr/>
        </p:nvSpPr>
        <p:spPr>
          <a:xfrm>
            <a:off x="777240" y="4279392"/>
            <a:ext cx="3108960" cy="1645920"/>
          </a:xfrm>
          <a:prstGeom prst="rect">
            <a:avLst/>
          </a:prstGeom>
          <a:noFill/>
          <a:ln/>
        </p:spPr>
        <p:txBody>
          <a:bodyPr wrap="square" lIns="0" tIns="0" rIns="0" bIns="0" rtlCol="0" anchor="ctr"/>
          <a:lstStyle/>
          <a:p>
            <a:pPr indent="0" marL="0">
              <a:lnSpc>
                <a:spcPts val="1400"/>
              </a:lnSpc>
              <a:buNone/>
            </a:pPr>
            <a:r>
              <a:rPr lang="en-US" sz="1000" dirty="0">
                <a:solidFill>
                  <a:srgbClr val="23282E"/>
                </a:solidFill>
                <a:latin typeface="Consolas" pitchFamily="34" charset="0"/>
                <a:ea typeface="Consolas" pitchFamily="34" charset="-122"/>
                <a:cs typeface="Consolas" pitchFamily="34" charset="-120"/>
              </a:rPr>
              <a:t>m, v = block_stats(gt)</a:t>
            </a:r>
            <a:endParaRPr lang="en-US" sz="1050" dirty="0"/>
          </a:p>
          <a:p>
            <a:pPr indent="0" marL="0">
              <a:lnSpc>
                <a:spcPts val="1400"/>
              </a:lnSpc>
              <a:buNone/>
            </a:pPr>
            <a:r>
              <a:rPr lang="en-US" sz="1000" dirty="0">
                <a:solidFill>
                  <a:srgbClr val="23282E"/>
                </a:solidFill>
                <a:latin typeface="Consolas" pitchFamily="34" charset="0"/>
                <a:ea typeface="Consolas" pitchFamily="34" charset="-122"/>
                <a:cs typeface="Consolas" pitchFamily="34" charset="-120"/>
              </a:rPr>
              <a:t>var  = s_add² + s_mul²·m² + c·v</a:t>
            </a:r>
            <a:endParaRPr lang="en-US" sz="1050" dirty="0"/>
          </a:p>
          <a:p>
            <a:pPr indent="0" marL="0">
              <a:lnSpc>
                <a:spcPts val="1400"/>
              </a:lnSpc>
              <a:buNone/>
            </a:pPr>
            <a:r>
              <a:rPr lang="en-US" sz="1000" dirty="0">
                <a:solidFill>
                  <a:srgbClr val="23282E"/>
                </a:solidFill>
                <a:latin typeface="Consolas" pitchFamily="34" charset="0"/>
                <a:ea typeface="Consolas" pitchFamily="34" charset="-122"/>
                <a:cs typeface="Consolas" pitchFamily="34" charset="-120"/>
              </a:rPr>
              <a:t>out  = m + sqrt(var)·Gamma(k=14)</a:t>
            </a:r>
            <a:endParaRPr lang="en-US" sz="1050" dirty="0"/>
          </a:p>
          <a:p>
            <a:pPr indent="0" marL="0">
              <a:lnSpc>
                <a:spcPts val="1400"/>
              </a:lnSpc>
              <a:buNone/>
            </a:pPr>
            <a:r>
              <a:rPr lang="en-US" sz="1050" dirty="0">
                <a:solidFill>
                  <a:srgbClr val="4A5560"/>
                </a:solidFill>
                <a:latin typeface="Calibri" pitchFamily="34" charset="0"/>
                <a:ea typeface="Calibri" pitchFamily="34" charset="-122"/>
                <a:cs typeface="Calibri" pitchFamily="34" charset="-120"/>
              </a:rPr>
              <a:t>m is the 2×2 block mean — the noise-free low-res reference — and v the within-block variance. We synthesise the measured variance structure </a:t>
            </a:r>
            <a:pPr indent="0" marL="0">
              <a:lnSpc>
                <a:spcPts val="1400"/>
              </a:lnSpc>
              <a:buNone/>
            </a:pPr>
            <a:r>
              <a:rPr lang="en-US" sz="1050" b="1" dirty="0">
                <a:solidFill>
                  <a:srgbClr val="23282E"/>
                </a:solidFill>
                <a:latin typeface="Calibri" pitchFamily="34" charset="0"/>
                <a:ea typeface="Calibri" pitchFamily="34" charset="-122"/>
                <a:cs typeface="Calibri" pitchFamily="34" charset="-120"/>
              </a:rPr>
              <a:t>directly at low resolution</a:t>
            </a:r>
            <a:pPr indent="0" marL="0">
              <a:lnSpc>
                <a:spcPts val="1400"/>
              </a:lnSpc>
              <a:buNone/>
            </a:pPr>
            <a:r>
              <a:rPr lang="en-US" sz="1050" dirty="0">
                <a:solidFill>
                  <a:srgbClr val="4A5560"/>
                </a:solidFill>
                <a:latin typeface="Calibri" pitchFamily="34" charset="0"/>
                <a:ea typeface="Calibri" pitchFamily="34" charset="-122"/>
                <a:cs typeface="Calibri" pitchFamily="34" charset="-120"/>
              </a:rPr>
              <a:t>. There is no sequence of operations to order, because the statistics are generated, not simulated.</a:t>
            </a:r>
            <a:endParaRPr lang="en-US" sz="1050" dirty="0"/>
          </a:p>
        </p:txBody>
      </p:sp>
      <p:sp>
        <p:nvSpPr>
          <p:cNvPr id="10" name="Shape 8"/>
          <p:cNvSpPr/>
          <p:nvPr/>
        </p:nvSpPr>
        <p:spPr>
          <a:xfrm>
            <a:off x="4389120" y="1371600"/>
            <a:ext cx="3611880" cy="4681728"/>
          </a:xfrm>
          <a:prstGeom prst="roundRect">
            <a:avLst>
              <a:gd name="adj" fmla="val 1519"/>
            </a:avLst>
          </a:prstGeom>
          <a:solidFill>
            <a:srgbClr val="ECEFF2"/>
          </a:solidFill>
          <a:ln w="12700">
            <a:solidFill>
              <a:srgbClr val="ECEFF2"/>
            </a:solidFill>
            <a:prstDash val="solid"/>
          </a:ln>
        </p:spPr>
      </p:sp>
      <p:sp>
        <p:nvSpPr>
          <p:cNvPr id="11" name="Text 9"/>
          <p:cNvSpPr/>
          <p:nvPr/>
        </p:nvSpPr>
        <p:spPr>
          <a:xfrm>
            <a:off x="4663440" y="1554480"/>
            <a:ext cx="3063240" cy="219456"/>
          </a:xfrm>
          <a:prstGeom prst="rect">
            <a:avLst/>
          </a:prstGeom>
          <a:noFill/>
          <a:ln/>
        </p:spPr>
        <p:txBody>
          <a:bodyPr wrap="square" lIns="0" tIns="0" rIns="0" bIns="0" rtlCol="0" anchor="ctr"/>
          <a:lstStyle/>
          <a:p>
            <a:pPr indent="0" marL="0">
              <a:buNone/>
            </a:pPr>
            <a:r>
              <a:rPr lang="en-US" sz="950" b="1" spc="120" kern="0" dirty="0">
                <a:solidFill>
                  <a:srgbClr val="C2703B"/>
                </a:solidFill>
                <a:latin typeface="Calibri" pitchFamily="34" charset="0"/>
                <a:ea typeface="Calibri" pitchFamily="34" charset="-122"/>
                <a:cs typeface="Calibri" pitchFamily="34" charset="-120"/>
              </a:rPr>
              <a:t>WHY WE REMOVED THE RANDOM ORDER</a:t>
            </a:r>
            <a:endParaRPr lang="en-US" sz="950" dirty="0"/>
          </a:p>
        </p:txBody>
      </p:sp>
      <p:sp>
        <p:nvSpPr>
          <p:cNvPr id="12" name="Text 10"/>
          <p:cNvSpPr/>
          <p:nvPr/>
        </p:nvSpPr>
        <p:spPr>
          <a:xfrm>
            <a:off x="4663440" y="1883664"/>
            <a:ext cx="3063240" cy="4023360"/>
          </a:xfrm>
          <a:prstGeom prst="rect">
            <a:avLst/>
          </a:prstGeom>
          <a:noFill/>
          <a:ln/>
        </p:spPr>
        <p:txBody>
          <a:bodyPr wrap="square" lIns="0" tIns="0" rIns="0" bIns="0" rtlCol="0" anchor="ctr"/>
          <a:lstStyle/>
          <a:p>
            <a:pPr indent="0" marL="0">
              <a:lnSpc>
                <a:spcPts val="1400"/>
              </a:lnSpc>
              <a:buNone/>
            </a:pPr>
            <a:r>
              <a:rPr lang="en-US" sz="1050" dirty="0">
                <a:solidFill>
                  <a:srgbClr val="4A5560"/>
                </a:solidFill>
                <a:latin typeface="Calibri" pitchFamily="34" charset="0"/>
                <a:ea typeface="Calibri" pitchFamily="34" charset="-122"/>
                <a:cs typeface="Calibri" pitchFamily="34" charset="-120"/>
              </a:rPr>
              <a:t>Our Round-1 generator randomised the order of [speckle, downsample, gaussian] — six permutations, on the reasoning that variety is safe.</a:t>
            </a:r>
            <a:endParaRPr lang="en-US" sz="1050" dirty="0"/>
          </a:p>
          <a:p>
            <a:pPr indent="0" marL="0">
              <a:lnSpc>
                <a:spcPts val="1400"/>
              </a:lnSpc>
              <a:buNone/>
            </a:pPr>
            <a:r>
              <a:rPr lang="en-US" sz="1050" b="1" dirty="0">
                <a:solidFill>
                  <a:srgbClr val="23282E"/>
                </a:solidFill>
                <a:latin typeface="Calibri" pitchFamily="34" charset="0"/>
                <a:ea typeface="Calibri" pitchFamily="34" charset="-122"/>
                <a:cs typeface="Calibri" pitchFamily="34" charset="-120"/>
              </a:rPr>
              <a:t>Measured, that reasoning is wrong.</a:t>
            </a:r>
            <a:pPr indent="0" marL="0">
              <a:lnSpc>
                <a:spcPts val="1400"/>
              </a:lnSpc>
              <a:buNone/>
            </a:pPr>
            <a:r>
              <a:rPr lang="en-US" sz="1050" dirty="0">
                <a:solidFill>
                  <a:srgbClr val="4A5560"/>
                </a:solidFill>
                <a:latin typeface="Calibri" pitchFamily="34" charset="0"/>
                <a:ea typeface="Calibri" pitchFamily="34" charset="-122"/>
                <a:cs typeface="Calibri" pitchFamily="34" charset="-120"/>
              </a:rPr>
              <a:t> Speckle applied BEFORE a 2×2 average has a quarter the variance of speckle applied AFTER. Those are materially different physical processes, so at most one of the six can match reality — emitting all six guarantees five are wrong, and the network spends capacity learning to invert damage that never happens.</a:t>
            </a:r>
            <a:endParaRPr lang="en-US" sz="1050" dirty="0"/>
          </a:p>
          <a:p>
            <a:pPr indent="0" marL="0">
              <a:lnSpc>
                <a:spcPts val="1400"/>
              </a:lnSpc>
              <a:buNone/>
            </a:pPr>
            <a:r>
              <a:rPr lang="en-US" sz="1050" b="1" dirty="0">
                <a:solidFill>
                  <a:srgbClr val="23282E"/>
                </a:solidFill>
                <a:latin typeface="Calibri" pitchFamily="34" charset="0"/>
                <a:ea typeface="Calibri" pitchFamily="34" charset="-122"/>
                <a:cs typeface="Calibri" pitchFamily="34" charset="-120"/>
              </a:rPr>
              <a:t>Two more Round-1 defects the measurement caught:</a:t>
            </a:r>
            <a:pPr indent="0" marL="0">
              <a:lnSpc>
                <a:spcPts val="1400"/>
              </a:lnSpc>
              <a:buNone/>
            </a:pPr>
            <a:r>
              <a:rPr lang="en-US" sz="1050" dirty="0">
                <a:solidFill>
                  <a:srgbClr val="4A5560"/>
                </a:solidFill>
                <a:latin typeface="Calibri" pitchFamily="34" charset="0"/>
                <a:ea typeface="Calibri" pitchFamily="34" charset="-122"/>
                <a:cs typeface="Calibri" pitchFamily="34" charset="-120"/>
              </a:rPr>
              <a:t> blur on 25% of samples (residual error rose 0.01074 → 0.01235 with it) and Gaussian noise where the real residual has skew +0.43 and excess kurtosis +0.62.</a:t>
            </a:r>
            <a:endParaRPr lang="en-US" sz="1050" dirty="0"/>
          </a:p>
          <a:p>
            <a:pPr indent="0" marL="0">
              <a:lnSpc>
                <a:spcPts val="1400"/>
              </a:lnSpc>
              <a:buNone/>
            </a:pPr>
            <a:r>
              <a:rPr lang="en-US" sz="1050" b="1" dirty="0">
                <a:solidFill>
                  <a:srgbClr val="C2703B"/>
                </a:solidFill>
                <a:latin typeface="Calibri" pitchFamily="34" charset="0"/>
                <a:ea typeface="Calibri" pitchFamily="34" charset="-122"/>
                <a:cs typeface="Calibri" pitchFamily="34" charset="-120"/>
              </a:rPr>
              <a:t>So the narrow family has no order, no blur, and draws Gamma.</a:t>
            </a:r>
            <a:pPr indent="0" marL="0">
              <a:lnSpc>
                <a:spcPts val="1400"/>
              </a:lnSpc>
              <a:buNone/>
            </a:pPr>
            <a:r>
              <a:rPr lang="en-US" sz="1050" dirty="0">
                <a:solidFill>
                  <a:srgbClr val="4A5560"/>
                </a:solidFill>
                <a:latin typeface="Calibri" pitchFamily="34" charset="0"/>
                <a:ea typeface="Calibri" pitchFamily="34" charset="-122"/>
                <a:cs typeface="Calibri" pitchFamily="34" charset="-120"/>
              </a:rPr>
              <a:t> It is not a simulation of the microscope. It is a reproduction of the statistics we measured coming out of it.</a:t>
            </a:r>
            <a:endParaRPr lang="en-US" sz="1050" dirty="0"/>
          </a:p>
        </p:txBody>
      </p:sp>
      <p:sp>
        <p:nvSpPr>
          <p:cNvPr id="13" name="Shape 11"/>
          <p:cNvSpPr/>
          <p:nvPr/>
        </p:nvSpPr>
        <p:spPr>
          <a:xfrm>
            <a:off x="8229600" y="1371600"/>
            <a:ext cx="3383280" cy="4681728"/>
          </a:xfrm>
          <a:prstGeom prst="roundRect">
            <a:avLst>
              <a:gd name="adj" fmla="val 1622"/>
            </a:avLst>
          </a:prstGeom>
          <a:solidFill>
            <a:srgbClr val="FBF2EC"/>
          </a:solidFill>
          <a:ln w="12700">
            <a:solidFill>
              <a:srgbClr val="FBF2EC"/>
            </a:solidFill>
            <a:prstDash val="solid"/>
          </a:ln>
        </p:spPr>
      </p:sp>
      <p:sp>
        <p:nvSpPr>
          <p:cNvPr id="14" name="Text 12"/>
          <p:cNvSpPr/>
          <p:nvPr/>
        </p:nvSpPr>
        <p:spPr>
          <a:xfrm>
            <a:off x="8503920" y="1554480"/>
            <a:ext cx="2834640" cy="219456"/>
          </a:xfrm>
          <a:prstGeom prst="rect">
            <a:avLst/>
          </a:prstGeom>
          <a:noFill/>
          <a:ln/>
        </p:spPr>
        <p:txBody>
          <a:bodyPr wrap="square" lIns="0" tIns="0" rIns="0" bIns="0" rtlCol="0" anchor="ctr"/>
          <a:lstStyle/>
          <a:p>
            <a:pPr indent="0" marL="0">
              <a:buNone/>
            </a:pPr>
            <a:r>
              <a:rPr lang="en-US" sz="950" b="1" spc="120" kern="0" dirty="0">
                <a:solidFill>
                  <a:srgbClr val="C2703B"/>
                </a:solidFill>
                <a:latin typeface="Calibri" pitchFamily="34" charset="0"/>
                <a:ea typeface="Calibri" pitchFamily="34" charset="-122"/>
                <a:cs typeface="Calibri" pitchFamily="34" charset="-120"/>
              </a:rPr>
              <a:t>AND THEN WE PUT THE VARIETY BACK — ON PURPOSE</a:t>
            </a:r>
            <a:endParaRPr lang="en-US" sz="950" dirty="0"/>
          </a:p>
        </p:txBody>
      </p:sp>
      <p:sp>
        <p:nvSpPr>
          <p:cNvPr id="15" name="Text 13"/>
          <p:cNvSpPr/>
          <p:nvPr/>
        </p:nvSpPr>
        <p:spPr>
          <a:xfrm>
            <a:off x="8503920" y="1883664"/>
            <a:ext cx="2834640" cy="4023360"/>
          </a:xfrm>
          <a:prstGeom prst="rect">
            <a:avLst/>
          </a:prstGeom>
          <a:noFill/>
          <a:ln/>
        </p:spPr>
        <p:txBody>
          <a:bodyPr wrap="square" lIns="0" tIns="0" rIns="0" bIns="0" rtlCol="0" anchor="ctr"/>
          <a:lstStyle/>
          <a:p>
            <a:pPr indent="0" marL="0">
              <a:lnSpc>
                <a:spcPts val="1350"/>
              </a:lnSpc>
              <a:buNone/>
            </a:pPr>
            <a:r>
              <a:rPr lang="en-US" sz="1000" dirty="0">
                <a:solidFill>
                  <a:srgbClr val="4A5560"/>
                </a:solidFill>
                <a:latin typeface="Calibri" pitchFamily="34" charset="0"/>
                <a:ea typeface="Calibri" pitchFamily="34" charset="-122"/>
                <a:cs typeface="Calibri" pitchFamily="34" charset="-120"/>
              </a:rPr>
              <a:t>The narrow family is a faithful copy of KLA’s degradation. For a test set stated to contain out-of-distribution samples, faithful is exactly the wrong goal.</a:t>
            </a:r>
            <a:endParaRPr lang="en-US" sz="1000" dirty="0"/>
          </a:p>
          <a:p>
            <a:pPr indent="0" marL="0">
              <a:lnSpc>
                <a:spcPts val="1350"/>
              </a:lnSpc>
              <a:buNone/>
            </a:pPr>
            <a:r>
              <a:rPr lang="en-US" sz="1000" b="1" dirty="0">
                <a:solidFill>
                  <a:srgbClr val="23282E"/>
                </a:solidFill>
                <a:latin typeface="Calibri" pitchFamily="34" charset="0"/>
                <a:ea typeface="Calibri" pitchFamily="34" charset="-122"/>
                <a:cs typeface="Calibri" pitchFamily="34" charset="-120"/>
              </a:rPr>
              <a:t>The evidence that forced this:</a:t>
            </a:r>
            <a:pPr indent="0" marL="0">
              <a:lnSpc>
                <a:spcPts val="1350"/>
              </a:lnSpc>
              <a:buNone/>
            </a:pPr>
            <a:r>
              <a:rPr lang="en-US" sz="1000" dirty="0">
                <a:solidFill>
                  <a:srgbClr val="4A5560"/>
                </a:solidFill>
                <a:latin typeface="Calibri" pitchFamily="34" charset="0"/>
                <a:ea typeface="Calibri" pitchFamily="34" charset="-122"/>
                <a:cs typeface="Calibri" pitchFamily="34" charset="-120"/>
              </a:rPr>
              <a:t> our Round-1 generator was wrong in three separate ways — yet the model trained on it fell only </a:t>
            </a:r>
            <a:pPr indent="0" marL="0">
              <a:lnSpc>
                <a:spcPts val="1350"/>
              </a:lnSpc>
              <a:buNone/>
            </a:pPr>
            <a:r>
              <a:rPr lang="en-US" sz="1000" b="1" dirty="0">
                <a:solidFill>
                  <a:srgbClr val="23282E"/>
                </a:solidFill>
                <a:latin typeface="Calibri" pitchFamily="34" charset="0"/>
                <a:ea typeface="Calibri" pitchFamily="34" charset="-122"/>
                <a:cs typeface="Calibri" pitchFamily="34" charset="-120"/>
              </a:rPr>
              <a:t>1.79 dB</a:t>
            </a:r>
            <a:pPr indent="0" marL="0">
              <a:lnSpc>
                <a:spcPts val="1350"/>
              </a:lnSpc>
              <a:buNone/>
            </a:pPr>
            <a:r>
              <a:rPr lang="en-US" sz="1000" dirty="0">
                <a:solidFill>
                  <a:srgbClr val="4A5560"/>
                </a:solidFill>
                <a:latin typeface="Calibri" pitchFamily="34" charset="0"/>
                <a:ea typeface="Calibri" pitchFamily="34" charset="-122"/>
                <a:cs typeface="Calibri" pitchFamily="34" charset="-120"/>
              </a:rPr>
              <a:t> from σ 0.19 to 0.45, where the model trained on the CORRECT generator fell </a:t>
            </a:r>
            <a:pPr indent="0" marL="0">
              <a:lnSpc>
                <a:spcPts val="1350"/>
              </a:lnSpc>
              <a:buNone/>
            </a:pPr>
            <a:r>
              <a:rPr lang="en-US" sz="1000" b="1" dirty="0">
                <a:solidFill>
                  <a:srgbClr val="23282E"/>
                </a:solidFill>
                <a:latin typeface="Calibri" pitchFamily="34" charset="0"/>
                <a:ea typeface="Calibri" pitchFamily="34" charset="-122"/>
                <a:cs typeface="Calibri" pitchFamily="34" charset="-120"/>
              </a:rPr>
              <a:t>5.10 dB</a:t>
            </a:r>
            <a:pPr indent="0" marL="0">
              <a:lnSpc>
                <a:spcPts val="1350"/>
              </a:lnSpc>
              <a:buNone/>
            </a:pPr>
            <a:r>
              <a:rPr lang="en-US" sz="1000" dirty="0">
                <a:solidFill>
                  <a:srgbClr val="4A5560"/>
                </a:solidFill>
                <a:latin typeface="Calibri" pitchFamily="34" charset="0"/>
                <a:ea typeface="Calibri" pitchFamily="34" charset="-122"/>
                <a:cs typeface="Calibri" pitchFamily="34" charset="-120"/>
              </a:rPr>
              <a:t>.</a:t>
            </a:r>
            <a:endParaRPr lang="en-US" sz="1000" dirty="0"/>
          </a:p>
          <a:p>
            <a:pPr indent="0" marL="0">
              <a:lnSpc>
                <a:spcPts val="1350"/>
              </a:lnSpc>
              <a:buNone/>
            </a:pPr>
            <a:r>
              <a:rPr lang="en-US" sz="1000" b="1" i="1" dirty="0">
                <a:solidFill>
                  <a:srgbClr val="C2703B"/>
                </a:solidFill>
                <a:latin typeface="Calibri" pitchFamily="34" charset="0"/>
                <a:ea typeface="Calibri" pitchFamily="34" charset="-122"/>
                <a:cs typeface="Calibri" pitchFamily="34" charset="-120"/>
              </a:rPr>
              <a:t>Being wrong in a varied way generalised better than being right in a narrow one.</a:t>
            </a:r>
            <a:endParaRPr lang="en-US" sz="1000" dirty="0"/>
          </a:p>
          <a:p>
            <a:pPr indent="0" marL="0">
              <a:lnSpc>
                <a:spcPts val="1350"/>
              </a:lnSpc>
              <a:buNone/>
            </a:pPr>
            <a:r>
              <a:rPr lang="en-US" sz="1000" dirty="0">
                <a:solidFill>
                  <a:srgbClr val="4A5560"/>
                </a:solidFill>
                <a:latin typeface="Calibri" pitchFamily="34" charset="0"/>
                <a:ea typeface="Calibri" pitchFamily="34" charset="-122"/>
                <a:cs typeface="Calibri" pitchFamily="34" charset="-120"/>
              </a:rPr>
              <a:t>So degrade_wide() keeps the measured functional form and adds breadth deliberately — σ_mul 0.060–0.500 against the observed 0.155–0.258, Gamma k 4–60 against 14, optical blur on 30%, a Gaussian downsampling kernel on 25%. Blur is applied to the clean image before noise is sampled, never to the output.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400" b="1" dirty="0">
                <a:solidFill>
                  <a:srgbClr val="23282E"/>
                </a:solidFill>
                <a:latin typeface="Cambria" pitchFamily="34" charset="0"/>
                <a:ea typeface="Cambria" pitchFamily="34" charset="-122"/>
                <a:cs typeface="Cambria" pitchFamily="34" charset="-120"/>
              </a:rPr>
              <a:t>Proposed Solution</a:t>
            </a:r>
            <a:endParaRPr lang="en-US" sz="3400" dirty="0"/>
          </a:p>
        </p:txBody>
      </p:sp>
      <p:sp>
        <p:nvSpPr>
          <p:cNvPr id="3" name="Text 1"/>
          <p:cNvSpPr/>
          <p:nvPr/>
        </p:nvSpPr>
        <p:spPr>
          <a:xfrm>
            <a:off x="548640" y="905256"/>
            <a:ext cx="11064240" cy="310896"/>
          </a:xfrm>
          <a:prstGeom prst="rect">
            <a:avLst/>
          </a:prstGeom>
          <a:noFill/>
          <a:ln/>
        </p:spPr>
        <p:txBody>
          <a:bodyPr wrap="square" lIns="0" tIns="0" rIns="0" bIns="0" rtlCol="0" anchor="ctr"/>
          <a:lstStyle/>
          <a:p>
            <a:pPr indent="0" marL="0">
              <a:buNone/>
            </a:pPr>
            <a:r>
              <a:rPr lang="en-US" sz="1300" i="1" dirty="0">
                <a:solidFill>
                  <a:srgbClr val="7C8895"/>
                </a:solidFill>
                <a:latin typeface="Calibri" pitchFamily="34" charset="0"/>
                <a:ea typeface="Calibri" pitchFamily="34" charset="-122"/>
                <a:cs typeface="Calibri" pitchFamily="34" charset="-120"/>
              </a:rPr>
              <a:t>Pipeline, architecture, loss — and the measurement rule that governs every number in this deck</a:t>
            </a:r>
            <a:endParaRPr lang="en-US" sz="1300" dirty="0"/>
          </a:p>
        </p:txBody>
      </p:sp>
      <p:sp>
        <p:nvSpPr>
          <p:cNvPr id="4" name="Shape 2"/>
          <p:cNvSpPr/>
          <p:nvPr/>
        </p:nvSpPr>
        <p:spPr>
          <a:xfrm>
            <a:off x="548640" y="1325880"/>
            <a:ext cx="1600200" cy="713232"/>
          </a:xfrm>
          <a:prstGeom prst="roundRect">
            <a:avLst>
              <a:gd name="adj" fmla="val 7692"/>
            </a:avLst>
          </a:prstGeom>
          <a:solidFill>
            <a:srgbClr val="ECEFF2"/>
          </a:solidFill>
          <a:ln w="12700">
            <a:solidFill>
              <a:srgbClr val="ECEFF2"/>
            </a:solidFill>
            <a:prstDash val="solid"/>
          </a:ln>
        </p:spPr>
      </p:sp>
      <p:sp>
        <p:nvSpPr>
          <p:cNvPr id="5" name="Text 3"/>
          <p:cNvSpPr/>
          <p:nvPr/>
        </p:nvSpPr>
        <p:spPr>
          <a:xfrm>
            <a:off x="548640" y="1435608"/>
            <a:ext cx="1600200" cy="256032"/>
          </a:xfrm>
          <a:prstGeom prst="rect">
            <a:avLst/>
          </a:prstGeom>
          <a:noFill/>
          <a:ln/>
        </p:spPr>
        <p:txBody>
          <a:bodyPr wrap="square" lIns="0" tIns="0" rIns="0" bIns="0" rtlCol="0" anchor="ctr"/>
          <a:lstStyle/>
          <a:p>
            <a:pPr algn="ctr" indent="0" marL="0">
              <a:buNone/>
            </a:pPr>
            <a:r>
              <a:rPr lang="en-US" sz="1150" b="1" dirty="0">
                <a:solidFill>
                  <a:srgbClr val="23282E"/>
                </a:solidFill>
                <a:latin typeface="Calibri" pitchFamily="34" charset="0"/>
                <a:ea typeface="Calibri" pitchFamily="34" charset="-122"/>
                <a:cs typeface="Calibri" pitchFamily="34" charset="-120"/>
              </a:rPr>
              <a:t>Clean GT</a:t>
            </a:r>
            <a:endParaRPr lang="en-US" sz="1150" dirty="0"/>
          </a:p>
        </p:txBody>
      </p:sp>
      <p:sp>
        <p:nvSpPr>
          <p:cNvPr id="6" name="Text 4"/>
          <p:cNvSpPr/>
          <p:nvPr/>
        </p:nvSpPr>
        <p:spPr>
          <a:xfrm>
            <a:off x="548640" y="1691640"/>
            <a:ext cx="1600200" cy="237744"/>
          </a:xfrm>
          <a:prstGeom prst="rect">
            <a:avLst/>
          </a:prstGeom>
          <a:noFill/>
          <a:ln/>
        </p:spPr>
        <p:txBody>
          <a:bodyPr wrap="square" lIns="0" tIns="0" rIns="0" bIns="0" rtlCol="0" anchor="ctr"/>
          <a:lstStyle/>
          <a:p>
            <a:pPr algn="ctr" indent="0" marL="0">
              <a:buNone/>
            </a:pPr>
            <a:r>
              <a:rPr lang="en-US" sz="950" dirty="0">
                <a:solidFill>
                  <a:srgbClr val="7C8895"/>
                </a:solidFill>
                <a:latin typeface="Calibri" pitchFamily="34" charset="0"/>
                <a:ea typeface="Calibri" pitchFamily="34" charset="-122"/>
                <a:cs typeface="Calibri" pitchFamily="34" charset="-120"/>
              </a:rPr>
              <a:t>256²</a:t>
            </a:r>
            <a:endParaRPr lang="en-US" sz="950" dirty="0"/>
          </a:p>
        </p:txBody>
      </p:sp>
      <p:sp>
        <p:nvSpPr>
          <p:cNvPr id="7" name="Text 5"/>
          <p:cNvSpPr/>
          <p:nvPr/>
        </p:nvSpPr>
        <p:spPr>
          <a:xfrm>
            <a:off x="2148840" y="1490472"/>
            <a:ext cx="365760" cy="365760"/>
          </a:xfrm>
          <a:prstGeom prst="rect">
            <a:avLst/>
          </a:prstGeom>
          <a:noFill/>
          <a:ln/>
        </p:spPr>
        <p:txBody>
          <a:bodyPr wrap="square" lIns="0" tIns="0" rIns="0" bIns="0" rtlCol="0" anchor="ctr"/>
          <a:lstStyle/>
          <a:p>
            <a:pPr algn="ctr" indent="0" marL="0">
              <a:buNone/>
            </a:pPr>
            <a:r>
              <a:rPr lang="en-US" sz="1600" dirty="0">
                <a:solidFill>
                  <a:srgbClr val="7C8895"/>
                </a:solidFill>
              </a:rPr>
              <a:t>→</a:t>
            </a:r>
            <a:endParaRPr lang="en-US" sz="1600" dirty="0"/>
          </a:p>
        </p:txBody>
      </p:sp>
      <p:sp>
        <p:nvSpPr>
          <p:cNvPr id="8" name="Shape 6"/>
          <p:cNvSpPr/>
          <p:nvPr/>
        </p:nvSpPr>
        <p:spPr>
          <a:xfrm>
            <a:off x="2514600" y="1325880"/>
            <a:ext cx="1600200" cy="713232"/>
          </a:xfrm>
          <a:prstGeom prst="roundRect">
            <a:avLst>
              <a:gd name="adj" fmla="val 7692"/>
            </a:avLst>
          </a:prstGeom>
          <a:solidFill>
            <a:srgbClr val="ECEFF2"/>
          </a:solidFill>
          <a:ln w="12700">
            <a:solidFill>
              <a:srgbClr val="ECEFF2"/>
            </a:solidFill>
            <a:prstDash val="solid"/>
          </a:ln>
        </p:spPr>
      </p:sp>
      <p:sp>
        <p:nvSpPr>
          <p:cNvPr id="9" name="Text 7"/>
          <p:cNvSpPr/>
          <p:nvPr/>
        </p:nvSpPr>
        <p:spPr>
          <a:xfrm>
            <a:off x="2514600" y="1435608"/>
            <a:ext cx="1600200" cy="256032"/>
          </a:xfrm>
          <a:prstGeom prst="rect">
            <a:avLst/>
          </a:prstGeom>
          <a:noFill/>
          <a:ln/>
        </p:spPr>
        <p:txBody>
          <a:bodyPr wrap="square" lIns="0" tIns="0" rIns="0" bIns="0" rtlCol="0" anchor="ctr"/>
          <a:lstStyle/>
          <a:p>
            <a:pPr algn="ctr" indent="0" marL="0">
              <a:buNone/>
            </a:pPr>
            <a:r>
              <a:rPr lang="en-US" sz="1150" b="1" dirty="0">
                <a:solidFill>
                  <a:srgbClr val="23282E"/>
                </a:solidFill>
                <a:latin typeface="Calibri" pitchFamily="34" charset="0"/>
                <a:ea typeface="Calibri" pitchFamily="34" charset="-122"/>
                <a:cs typeface="Calibri" pitchFamily="34" charset="-120"/>
              </a:rPr>
              <a:t>Degradation</a:t>
            </a:r>
            <a:endParaRPr lang="en-US" sz="1150" dirty="0"/>
          </a:p>
        </p:txBody>
      </p:sp>
      <p:sp>
        <p:nvSpPr>
          <p:cNvPr id="10" name="Text 8"/>
          <p:cNvSpPr/>
          <p:nvPr/>
        </p:nvSpPr>
        <p:spPr>
          <a:xfrm>
            <a:off x="2514600" y="1691640"/>
            <a:ext cx="1600200" cy="237744"/>
          </a:xfrm>
          <a:prstGeom prst="rect">
            <a:avLst/>
          </a:prstGeom>
          <a:noFill/>
          <a:ln/>
        </p:spPr>
        <p:txBody>
          <a:bodyPr wrap="square" lIns="0" tIns="0" rIns="0" bIns="0" rtlCol="0" anchor="ctr"/>
          <a:lstStyle/>
          <a:p>
            <a:pPr algn="ctr" indent="0" marL="0">
              <a:buNone/>
            </a:pPr>
            <a:r>
              <a:rPr lang="en-US" sz="950" dirty="0">
                <a:solidFill>
                  <a:srgbClr val="7C8895"/>
                </a:solidFill>
                <a:latin typeface="Calibri" pitchFamily="34" charset="0"/>
                <a:ea typeface="Calibri" pitchFamily="34" charset="-122"/>
                <a:cs typeface="Calibri" pitchFamily="34" charset="-120"/>
              </a:rPr>
              <a:t>real / wide / narrow</a:t>
            </a:r>
            <a:endParaRPr lang="en-US" sz="950" dirty="0"/>
          </a:p>
        </p:txBody>
      </p:sp>
      <p:sp>
        <p:nvSpPr>
          <p:cNvPr id="11" name="Text 9"/>
          <p:cNvSpPr/>
          <p:nvPr/>
        </p:nvSpPr>
        <p:spPr>
          <a:xfrm>
            <a:off x="4114800" y="1490472"/>
            <a:ext cx="365760" cy="365760"/>
          </a:xfrm>
          <a:prstGeom prst="rect">
            <a:avLst/>
          </a:prstGeom>
          <a:noFill/>
          <a:ln/>
        </p:spPr>
        <p:txBody>
          <a:bodyPr wrap="square" lIns="0" tIns="0" rIns="0" bIns="0" rtlCol="0" anchor="ctr"/>
          <a:lstStyle/>
          <a:p>
            <a:pPr algn="ctr" indent="0" marL="0">
              <a:buNone/>
            </a:pPr>
            <a:r>
              <a:rPr lang="en-US" sz="1600" dirty="0">
                <a:solidFill>
                  <a:srgbClr val="7C8895"/>
                </a:solidFill>
              </a:rPr>
              <a:t>→</a:t>
            </a:r>
            <a:endParaRPr lang="en-US" sz="1600" dirty="0"/>
          </a:p>
        </p:txBody>
      </p:sp>
      <p:sp>
        <p:nvSpPr>
          <p:cNvPr id="12" name="Shape 10"/>
          <p:cNvSpPr/>
          <p:nvPr/>
        </p:nvSpPr>
        <p:spPr>
          <a:xfrm>
            <a:off x="4480560" y="1325880"/>
            <a:ext cx="1600200" cy="713232"/>
          </a:xfrm>
          <a:prstGeom prst="roundRect">
            <a:avLst>
              <a:gd name="adj" fmla="val 7692"/>
            </a:avLst>
          </a:prstGeom>
          <a:solidFill>
            <a:srgbClr val="ECEFF2"/>
          </a:solidFill>
          <a:ln w="12700">
            <a:solidFill>
              <a:srgbClr val="ECEFF2"/>
            </a:solidFill>
            <a:prstDash val="solid"/>
          </a:ln>
        </p:spPr>
      </p:sp>
      <p:sp>
        <p:nvSpPr>
          <p:cNvPr id="13" name="Text 11"/>
          <p:cNvSpPr/>
          <p:nvPr/>
        </p:nvSpPr>
        <p:spPr>
          <a:xfrm>
            <a:off x="4480560" y="1435608"/>
            <a:ext cx="1600200" cy="256032"/>
          </a:xfrm>
          <a:prstGeom prst="rect">
            <a:avLst/>
          </a:prstGeom>
          <a:noFill/>
          <a:ln/>
        </p:spPr>
        <p:txBody>
          <a:bodyPr wrap="square" lIns="0" tIns="0" rIns="0" bIns="0" rtlCol="0" anchor="ctr"/>
          <a:lstStyle/>
          <a:p>
            <a:pPr algn="ctr" indent="0" marL="0">
              <a:buNone/>
            </a:pPr>
            <a:r>
              <a:rPr lang="en-US" sz="1150" b="1" dirty="0">
                <a:solidFill>
                  <a:srgbClr val="23282E"/>
                </a:solidFill>
                <a:latin typeface="Calibri" pitchFamily="34" charset="0"/>
                <a:ea typeface="Calibri" pitchFamily="34" charset="-122"/>
                <a:cs typeface="Calibri" pitchFamily="34" charset="-120"/>
              </a:rPr>
              <a:t>Noisy LR</a:t>
            </a:r>
            <a:endParaRPr lang="en-US" sz="1150" dirty="0"/>
          </a:p>
        </p:txBody>
      </p:sp>
      <p:sp>
        <p:nvSpPr>
          <p:cNvPr id="14" name="Text 12"/>
          <p:cNvSpPr/>
          <p:nvPr/>
        </p:nvSpPr>
        <p:spPr>
          <a:xfrm>
            <a:off x="4480560" y="1691640"/>
            <a:ext cx="1600200" cy="237744"/>
          </a:xfrm>
          <a:prstGeom prst="rect">
            <a:avLst/>
          </a:prstGeom>
          <a:noFill/>
          <a:ln/>
        </p:spPr>
        <p:txBody>
          <a:bodyPr wrap="square" lIns="0" tIns="0" rIns="0" bIns="0" rtlCol="0" anchor="ctr"/>
          <a:lstStyle/>
          <a:p>
            <a:pPr algn="ctr" indent="0" marL="0">
              <a:buNone/>
            </a:pPr>
            <a:r>
              <a:rPr lang="en-US" sz="950" dirty="0">
                <a:solidFill>
                  <a:srgbClr val="7C8895"/>
                </a:solidFill>
                <a:latin typeface="Calibri" pitchFamily="34" charset="0"/>
                <a:ea typeface="Calibri" pitchFamily="34" charset="-122"/>
                <a:cs typeface="Calibri" pitchFamily="34" charset="-120"/>
              </a:rPr>
              <a:t>128²</a:t>
            </a:r>
            <a:endParaRPr lang="en-US" sz="950" dirty="0"/>
          </a:p>
        </p:txBody>
      </p:sp>
      <p:sp>
        <p:nvSpPr>
          <p:cNvPr id="15" name="Text 13"/>
          <p:cNvSpPr/>
          <p:nvPr/>
        </p:nvSpPr>
        <p:spPr>
          <a:xfrm>
            <a:off x="6080760" y="1490472"/>
            <a:ext cx="365760" cy="365760"/>
          </a:xfrm>
          <a:prstGeom prst="rect">
            <a:avLst/>
          </a:prstGeom>
          <a:noFill/>
          <a:ln/>
        </p:spPr>
        <p:txBody>
          <a:bodyPr wrap="square" lIns="0" tIns="0" rIns="0" bIns="0" rtlCol="0" anchor="ctr"/>
          <a:lstStyle/>
          <a:p>
            <a:pPr algn="ctr" indent="0" marL="0">
              <a:buNone/>
            </a:pPr>
            <a:r>
              <a:rPr lang="en-US" sz="1600" dirty="0">
                <a:solidFill>
                  <a:srgbClr val="7C8895"/>
                </a:solidFill>
              </a:rPr>
              <a:t>→</a:t>
            </a:r>
            <a:endParaRPr lang="en-US" sz="1600" dirty="0"/>
          </a:p>
        </p:txBody>
      </p:sp>
      <p:sp>
        <p:nvSpPr>
          <p:cNvPr id="16" name="Shape 14"/>
          <p:cNvSpPr/>
          <p:nvPr/>
        </p:nvSpPr>
        <p:spPr>
          <a:xfrm>
            <a:off x="6446520" y="1325880"/>
            <a:ext cx="1600200" cy="713232"/>
          </a:xfrm>
          <a:prstGeom prst="roundRect">
            <a:avLst>
              <a:gd name="adj" fmla="val 7692"/>
            </a:avLst>
          </a:prstGeom>
          <a:solidFill>
            <a:srgbClr val="C2703B"/>
          </a:solidFill>
          <a:ln w="12700">
            <a:solidFill>
              <a:srgbClr val="C2703B"/>
            </a:solidFill>
            <a:prstDash val="solid"/>
          </a:ln>
        </p:spPr>
      </p:sp>
      <p:sp>
        <p:nvSpPr>
          <p:cNvPr id="17" name="Text 15"/>
          <p:cNvSpPr/>
          <p:nvPr/>
        </p:nvSpPr>
        <p:spPr>
          <a:xfrm>
            <a:off x="6446520" y="1435608"/>
            <a:ext cx="1600200"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Restorer</a:t>
            </a:r>
            <a:endParaRPr lang="en-US" sz="1150" dirty="0"/>
          </a:p>
        </p:txBody>
      </p:sp>
      <p:sp>
        <p:nvSpPr>
          <p:cNvPr id="18" name="Text 16"/>
          <p:cNvSpPr/>
          <p:nvPr/>
        </p:nvSpPr>
        <p:spPr>
          <a:xfrm>
            <a:off x="6446520" y="1691640"/>
            <a:ext cx="1600200" cy="237744"/>
          </a:xfrm>
          <a:prstGeom prst="rect">
            <a:avLst/>
          </a:prstGeom>
          <a:noFill/>
          <a:ln/>
        </p:spPr>
        <p:txBody>
          <a:bodyPr wrap="square" lIns="0" tIns="0" rIns="0" bIns="0" rtlCol="0" anchor="ctr"/>
          <a:lstStyle/>
          <a:p>
            <a:pPr algn="ctr" indent="0" marL="0">
              <a:buNone/>
            </a:pPr>
            <a:r>
              <a:rPr lang="en-US" sz="950" dirty="0">
                <a:solidFill>
                  <a:srgbClr val="FBEADD"/>
                </a:solidFill>
                <a:latin typeface="Calibri" pitchFamily="34" charset="0"/>
                <a:ea typeface="Calibri" pitchFamily="34" charset="-122"/>
                <a:cs typeface="Calibri" pitchFamily="34" charset="-120"/>
              </a:rPr>
              <a:t>1.37 M params</a:t>
            </a:r>
            <a:endParaRPr lang="en-US" sz="950" dirty="0"/>
          </a:p>
        </p:txBody>
      </p:sp>
      <p:sp>
        <p:nvSpPr>
          <p:cNvPr id="19" name="Text 17"/>
          <p:cNvSpPr/>
          <p:nvPr/>
        </p:nvSpPr>
        <p:spPr>
          <a:xfrm>
            <a:off x="8046720" y="1490472"/>
            <a:ext cx="365760" cy="365760"/>
          </a:xfrm>
          <a:prstGeom prst="rect">
            <a:avLst/>
          </a:prstGeom>
          <a:noFill/>
          <a:ln/>
        </p:spPr>
        <p:txBody>
          <a:bodyPr wrap="square" lIns="0" tIns="0" rIns="0" bIns="0" rtlCol="0" anchor="ctr"/>
          <a:lstStyle/>
          <a:p>
            <a:pPr algn="ctr" indent="0" marL="0">
              <a:buNone/>
            </a:pPr>
            <a:r>
              <a:rPr lang="en-US" sz="1600" dirty="0">
                <a:solidFill>
                  <a:srgbClr val="7C8895"/>
                </a:solidFill>
              </a:rPr>
              <a:t>→</a:t>
            </a:r>
            <a:endParaRPr lang="en-US" sz="1600" dirty="0"/>
          </a:p>
        </p:txBody>
      </p:sp>
      <p:sp>
        <p:nvSpPr>
          <p:cNvPr id="20" name="Shape 18"/>
          <p:cNvSpPr/>
          <p:nvPr/>
        </p:nvSpPr>
        <p:spPr>
          <a:xfrm>
            <a:off x="8412480" y="1325880"/>
            <a:ext cx="1600200" cy="713232"/>
          </a:xfrm>
          <a:prstGeom prst="roundRect">
            <a:avLst>
              <a:gd name="adj" fmla="val 7692"/>
            </a:avLst>
          </a:prstGeom>
          <a:solidFill>
            <a:srgbClr val="ECEFF2"/>
          </a:solidFill>
          <a:ln w="12700">
            <a:solidFill>
              <a:srgbClr val="ECEFF2"/>
            </a:solidFill>
            <a:prstDash val="solid"/>
          </a:ln>
        </p:spPr>
      </p:sp>
      <p:sp>
        <p:nvSpPr>
          <p:cNvPr id="21" name="Text 19"/>
          <p:cNvSpPr/>
          <p:nvPr/>
        </p:nvSpPr>
        <p:spPr>
          <a:xfrm>
            <a:off x="8412480" y="1435608"/>
            <a:ext cx="1600200" cy="256032"/>
          </a:xfrm>
          <a:prstGeom prst="rect">
            <a:avLst/>
          </a:prstGeom>
          <a:noFill/>
          <a:ln/>
        </p:spPr>
        <p:txBody>
          <a:bodyPr wrap="square" lIns="0" tIns="0" rIns="0" bIns="0" rtlCol="0" anchor="ctr"/>
          <a:lstStyle/>
          <a:p>
            <a:pPr algn="ctr" indent="0" marL="0">
              <a:buNone/>
            </a:pPr>
            <a:r>
              <a:rPr lang="en-US" sz="1150" b="1" dirty="0">
                <a:solidFill>
                  <a:srgbClr val="23282E"/>
                </a:solidFill>
                <a:latin typeface="Calibri" pitchFamily="34" charset="0"/>
                <a:ea typeface="Calibri" pitchFamily="34" charset="-122"/>
                <a:cs typeface="Calibri" pitchFamily="34" charset="-120"/>
              </a:rPr>
              <a:t>Output</a:t>
            </a:r>
            <a:endParaRPr lang="en-US" sz="1150" dirty="0"/>
          </a:p>
        </p:txBody>
      </p:sp>
      <p:sp>
        <p:nvSpPr>
          <p:cNvPr id="22" name="Text 20"/>
          <p:cNvSpPr/>
          <p:nvPr/>
        </p:nvSpPr>
        <p:spPr>
          <a:xfrm>
            <a:off x="8412480" y="1691640"/>
            <a:ext cx="1600200" cy="237744"/>
          </a:xfrm>
          <a:prstGeom prst="rect">
            <a:avLst/>
          </a:prstGeom>
          <a:noFill/>
          <a:ln/>
        </p:spPr>
        <p:txBody>
          <a:bodyPr wrap="square" lIns="0" tIns="0" rIns="0" bIns="0" rtlCol="0" anchor="ctr"/>
          <a:lstStyle/>
          <a:p>
            <a:pPr algn="ctr" indent="0" marL="0">
              <a:buNone/>
            </a:pPr>
            <a:r>
              <a:rPr lang="en-US" sz="950" dirty="0">
                <a:solidFill>
                  <a:srgbClr val="7C8895"/>
                </a:solidFill>
                <a:latin typeface="Calibri" pitchFamily="34" charset="0"/>
                <a:ea typeface="Calibri" pitchFamily="34" charset="-122"/>
                <a:cs typeface="Calibri" pitchFamily="34" charset="-120"/>
              </a:rPr>
              <a:t>256²</a:t>
            </a:r>
            <a:endParaRPr lang="en-US" sz="950" dirty="0"/>
          </a:p>
        </p:txBody>
      </p:sp>
      <p:sp>
        <p:nvSpPr>
          <p:cNvPr id="23" name="Text 21"/>
          <p:cNvSpPr/>
          <p:nvPr/>
        </p:nvSpPr>
        <p:spPr>
          <a:xfrm>
            <a:off x="10012680" y="1490472"/>
            <a:ext cx="365760" cy="365760"/>
          </a:xfrm>
          <a:prstGeom prst="rect">
            <a:avLst/>
          </a:prstGeom>
          <a:noFill/>
          <a:ln/>
        </p:spPr>
        <p:txBody>
          <a:bodyPr wrap="square" lIns="0" tIns="0" rIns="0" bIns="0" rtlCol="0" anchor="ctr"/>
          <a:lstStyle/>
          <a:p>
            <a:pPr algn="ctr" indent="0" marL="0">
              <a:buNone/>
            </a:pPr>
            <a:r>
              <a:rPr lang="en-US" sz="1600" dirty="0">
                <a:solidFill>
                  <a:srgbClr val="7C8895"/>
                </a:solidFill>
              </a:rPr>
              <a:t>→</a:t>
            </a:r>
            <a:endParaRPr lang="en-US" sz="1600" dirty="0"/>
          </a:p>
        </p:txBody>
      </p:sp>
      <p:sp>
        <p:nvSpPr>
          <p:cNvPr id="24" name="Shape 22"/>
          <p:cNvSpPr/>
          <p:nvPr/>
        </p:nvSpPr>
        <p:spPr>
          <a:xfrm>
            <a:off x="10378440" y="1325880"/>
            <a:ext cx="1600200" cy="713232"/>
          </a:xfrm>
          <a:prstGeom prst="roundRect">
            <a:avLst>
              <a:gd name="adj" fmla="val 7692"/>
            </a:avLst>
          </a:prstGeom>
          <a:solidFill>
            <a:srgbClr val="ECEFF2"/>
          </a:solidFill>
          <a:ln w="12700">
            <a:solidFill>
              <a:srgbClr val="ECEFF2"/>
            </a:solidFill>
            <a:prstDash val="solid"/>
          </a:ln>
        </p:spPr>
      </p:sp>
      <p:sp>
        <p:nvSpPr>
          <p:cNvPr id="25" name="Text 23"/>
          <p:cNvSpPr/>
          <p:nvPr/>
        </p:nvSpPr>
        <p:spPr>
          <a:xfrm>
            <a:off x="10378440" y="1435608"/>
            <a:ext cx="1600200" cy="256032"/>
          </a:xfrm>
          <a:prstGeom prst="rect">
            <a:avLst/>
          </a:prstGeom>
          <a:noFill/>
          <a:ln/>
        </p:spPr>
        <p:txBody>
          <a:bodyPr wrap="square" lIns="0" tIns="0" rIns="0" bIns="0" rtlCol="0" anchor="ctr"/>
          <a:lstStyle/>
          <a:p>
            <a:pPr algn="ctr" indent="0" marL="0">
              <a:buNone/>
            </a:pPr>
            <a:r>
              <a:rPr lang="en-US" sz="1150" b="1" dirty="0">
                <a:solidFill>
                  <a:srgbClr val="23282E"/>
                </a:solidFill>
                <a:latin typeface="Calibri" pitchFamily="34" charset="0"/>
                <a:ea typeface="Calibri" pitchFamily="34" charset="-122"/>
                <a:cs typeface="Calibri" pitchFamily="34" charset="-120"/>
              </a:rPr>
              <a:t>Loss</a:t>
            </a:r>
            <a:endParaRPr lang="en-US" sz="1150" dirty="0"/>
          </a:p>
        </p:txBody>
      </p:sp>
      <p:sp>
        <p:nvSpPr>
          <p:cNvPr id="26" name="Text 24"/>
          <p:cNvSpPr/>
          <p:nvPr/>
        </p:nvSpPr>
        <p:spPr>
          <a:xfrm>
            <a:off x="10378440" y="1691640"/>
            <a:ext cx="1600200" cy="237744"/>
          </a:xfrm>
          <a:prstGeom prst="rect">
            <a:avLst/>
          </a:prstGeom>
          <a:noFill/>
          <a:ln/>
        </p:spPr>
        <p:txBody>
          <a:bodyPr wrap="square" lIns="0" tIns="0" rIns="0" bIns="0" rtlCol="0" anchor="ctr"/>
          <a:lstStyle/>
          <a:p>
            <a:pPr algn="ctr" indent="0" marL="0">
              <a:buNone/>
            </a:pPr>
            <a:r>
              <a:rPr lang="en-US" sz="950" dirty="0">
                <a:solidFill>
                  <a:srgbClr val="7C8895"/>
                </a:solidFill>
                <a:latin typeface="Calibri" pitchFamily="34" charset="0"/>
                <a:ea typeface="Calibri" pitchFamily="34" charset="-122"/>
                <a:cs typeface="Calibri" pitchFamily="34" charset="-120"/>
              </a:rPr>
              <a:t>vs GT</a:t>
            </a:r>
            <a:endParaRPr lang="en-US" sz="950" dirty="0"/>
          </a:p>
        </p:txBody>
      </p:sp>
      <p:sp>
        <p:nvSpPr>
          <p:cNvPr id="27" name="Shape 25"/>
          <p:cNvSpPr/>
          <p:nvPr/>
        </p:nvSpPr>
        <p:spPr>
          <a:xfrm>
            <a:off x="548640" y="2286000"/>
            <a:ext cx="3657600" cy="3749040"/>
          </a:xfrm>
          <a:prstGeom prst="roundRect">
            <a:avLst>
              <a:gd name="adj" fmla="val 1500"/>
            </a:avLst>
          </a:prstGeom>
          <a:solidFill>
            <a:srgbClr val="ECEFF2"/>
          </a:solidFill>
          <a:ln w="12700">
            <a:solidFill>
              <a:srgbClr val="ECEFF2"/>
            </a:solidFill>
            <a:prstDash val="solid"/>
          </a:ln>
        </p:spPr>
      </p:sp>
      <p:sp>
        <p:nvSpPr>
          <p:cNvPr id="28" name="Text 26"/>
          <p:cNvSpPr/>
          <p:nvPr/>
        </p:nvSpPr>
        <p:spPr>
          <a:xfrm>
            <a:off x="822960" y="2468880"/>
            <a:ext cx="3108960" cy="274320"/>
          </a:xfrm>
          <a:prstGeom prst="rect">
            <a:avLst/>
          </a:prstGeom>
          <a:noFill/>
          <a:ln/>
        </p:spPr>
        <p:txBody>
          <a:bodyPr wrap="square" lIns="0" tIns="0" rIns="0" bIns="0" rtlCol="0" anchor="ctr"/>
          <a:lstStyle/>
          <a:p>
            <a:pPr indent="0" marL="0">
              <a:buNone/>
            </a:pPr>
            <a:r>
              <a:rPr lang="en-US" sz="1400" b="1" dirty="0">
                <a:solidFill>
                  <a:srgbClr val="23282E"/>
                </a:solidFill>
                <a:latin typeface="Cambria" pitchFamily="34" charset="0"/>
                <a:ea typeface="Cambria" pitchFamily="34" charset="-122"/>
                <a:cs typeface="Cambria" pitchFamily="34" charset="-120"/>
              </a:rPr>
              <a:t>Architecture</a:t>
            </a:r>
            <a:endParaRPr lang="en-US" sz="1400" dirty="0"/>
          </a:p>
        </p:txBody>
      </p:sp>
      <p:sp>
        <p:nvSpPr>
          <p:cNvPr id="29" name="Text 27"/>
          <p:cNvSpPr/>
          <p:nvPr/>
        </p:nvSpPr>
        <p:spPr>
          <a:xfrm>
            <a:off x="822960" y="2798064"/>
            <a:ext cx="3108960" cy="3108960"/>
          </a:xfrm>
          <a:prstGeom prst="rect">
            <a:avLst/>
          </a:prstGeom>
          <a:noFill/>
          <a:ln/>
        </p:spPr>
        <p:txBody>
          <a:bodyPr wrap="square" lIns="0" tIns="0" rIns="0" bIns="0" rtlCol="0" anchor="ctr"/>
          <a:lstStyle/>
          <a:p>
            <a:pPr indent="0" marL="0">
              <a:lnSpc>
                <a:spcPts val="1500"/>
              </a:lnSpc>
              <a:buNone/>
            </a:pPr>
            <a:r>
              <a:rPr lang="en-US" sz="1100" dirty="0">
                <a:solidFill>
                  <a:srgbClr val="4A5560"/>
                </a:solidFill>
                <a:latin typeface="Calibri" pitchFamily="34" charset="0"/>
                <a:ea typeface="Calibri" pitchFamily="34" charset="-122"/>
                <a:cs typeface="Calibri" pitchFamily="34" charset="-120"/>
              </a:rPr>
              <a:t>Residual CNN. All work at low resolution; PixelShuffle ×2 only in the final block — 4× cheaper than upsample-first, and latency is scored.</a:t>
            </a:r>
            <a:endParaRPr lang="en-US" sz="1100" dirty="0"/>
          </a:p>
          <a:p>
            <a:pPr indent="0" marL="0">
              <a:lnSpc>
                <a:spcPts val="1500"/>
              </a:lnSpc>
              <a:buNone/>
            </a:pPr>
            <a:r>
              <a:rPr lang="en-US" sz="1100" b="1" dirty="0">
                <a:solidFill>
                  <a:srgbClr val="23282E"/>
                </a:solidFill>
                <a:latin typeface="Calibri" pitchFamily="34" charset="0"/>
                <a:ea typeface="Calibri" pitchFamily="34" charset="-122"/>
                <a:cs typeface="Calibri" pitchFamily="34" charset="-120"/>
              </a:rPr>
              <a:t>Global bicubic skip.</a:t>
            </a:r>
            <a:pPr indent="0" marL="0">
              <a:lnSpc>
                <a:spcPts val="1500"/>
              </a:lnSpc>
              <a:buNone/>
            </a:pPr>
            <a:r>
              <a:rPr lang="en-US" sz="1100" dirty="0">
                <a:solidFill>
                  <a:srgbClr val="4A5560"/>
                </a:solidFill>
                <a:latin typeface="Calibri" pitchFamily="34" charset="0"/>
                <a:ea typeface="Calibri" pitchFamily="34" charset="-122"/>
                <a:cs typeface="Calibri" pitchFamily="34" charset="-120"/>
              </a:rPr>
              <a:t> Predicts only the correction to a cheap baseline, so it starts at the bicubic score.</a:t>
            </a:r>
            <a:endParaRPr lang="en-US" sz="1100" dirty="0"/>
          </a:p>
          <a:p>
            <a:pPr indent="0" marL="0">
              <a:lnSpc>
                <a:spcPts val="1500"/>
              </a:lnSpc>
              <a:buNone/>
            </a:pPr>
            <a:r>
              <a:rPr lang="en-US" sz="1100" b="1" dirty="0">
                <a:solidFill>
                  <a:srgbClr val="23282E"/>
                </a:solidFill>
                <a:latin typeface="Calibri" pitchFamily="34" charset="0"/>
                <a:ea typeface="Calibri" pitchFamily="34" charset="-122"/>
                <a:cs typeface="Calibri" pitchFamily="34" charset="-120"/>
              </a:rPr>
              <a:t>Variance-stabilising stem.</a:t>
            </a:r>
            <a:pPr indent="0" marL="0">
              <a:lnSpc>
                <a:spcPts val="1500"/>
              </a:lnSpc>
              <a:buNone/>
            </a:pPr>
            <a:r>
              <a:rPr lang="en-US" sz="1100" dirty="0">
                <a:solidFill>
                  <a:srgbClr val="4A5560"/>
                </a:solidFill>
                <a:latin typeface="Calibri" pitchFamily="34" charset="0"/>
                <a:ea typeface="Calibri" pitchFamily="34" charset="-122"/>
                <a:cs typeface="Calibri" pitchFamily="34" charset="-120"/>
              </a:rPr>
              <a:t> Feeds the first conv raw x, √x and log(1+x); the network picks the representation where signal-dependent noise is most uniform, instead of us assuming.</a:t>
            </a:r>
            <a:endParaRPr lang="en-US" sz="1100" dirty="0"/>
          </a:p>
          <a:p>
            <a:pPr indent="0" marL="0">
              <a:lnSpc>
                <a:spcPts val="1500"/>
              </a:lnSpc>
              <a:buNone/>
            </a:pPr>
            <a:r>
              <a:rPr lang="en-US" sz="1100" b="1" dirty="0">
                <a:solidFill>
                  <a:srgbClr val="23282E"/>
                </a:solidFill>
                <a:latin typeface="Calibri" pitchFamily="34" charset="0"/>
                <a:ea typeface="Calibri" pitchFamily="34" charset="-122"/>
                <a:cs typeface="Calibri" pitchFamily="34" charset="-120"/>
              </a:rPr>
              <a:t>No BatchNorm.</a:t>
            </a:r>
            <a:pPr indent="0" marL="0">
              <a:lnSpc>
                <a:spcPts val="1500"/>
              </a:lnSpc>
              <a:buNone/>
            </a:pPr>
            <a:r>
              <a:rPr lang="en-US" sz="1100" dirty="0">
                <a:solidFill>
                  <a:srgbClr val="4A5560"/>
                </a:solidFill>
                <a:latin typeface="Calibri" pitchFamily="34" charset="0"/>
                <a:ea typeface="Calibri" pitchFamily="34" charset="-122"/>
                <a:cs typeface="Calibri" pitchFamily="34" charset="-120"/>
              </a:rPr>
              <a:t> Established to hurt SR; confirmed here.</a:t>
            </a:r>
            <a:endParaRPr lang="en-US" sz="1100" dirty="0"/>
          </a:p>
          <a:p>
            <a:pPr indent="0" marL="0">
              <a:lnSpc>
                <a:spcPts val="1500"/>
              </a:lnSpc>
              <a:buNone/>
            </a:pPr>
            <a:r>
              <a:rPr lang="en-US" sz="950" dirty="0">
                <a:solidFill>
                  <a:srgbClr val="23282E"/>
                </a:solidFill>
                <a:latin typeface="Consolas" pitchFamily="34" charset="0"/>
                <a:ea typeface="Consolas" pitchFamily="34" charset="-122"/>
                <a:cs typeface="Consolas" pitchFamily="34" charset="-120"/>
              </a:rPr>
              <a:t>64 ch · 16 blocks · 1,368,705 params · 5.5 MB</a:t>
            </a:r>
            <a:endParaRPr lang="en-US" sz="1100" dirty="0"/>
          </a:p>
        </p:txBody>
      </p:sp>
      <p:sp>
        <p:nvSpPr>
          <p:cNvPr id="30" name="Shape 28"/>
          <p:cNvSpPr/>
          <p:nvPr/>
        </p:nvSpPr>
        <p:spPr>
          <a:xfrm>
            <a:off x="4434840" y="2286000"/>
            <a:ext cx="3657600" cy="3749040"/>
          </a:xfrm>
          <a:prstGeom prst="roundRect">
            <a:avLst>
              <a:gd name="adj" fmla="val 1500"/>
            </a:avLst>
          </a:prstGeom>
          <a:solidFill>
            <a:srgbClr val="ECEFF2"/>
          </a:solidFill>
          <a:ln w="12700">
            <a:solidFill>
              <a:srgbClr val="ECEFF2"/>
            </a:solidFill>
            <a:prstDash val="solid"/>
          </a:ln>
        </p:spPr>
      </p:sp>
      <p:sp>
        <p:nvSpPr>
          <p:cNvPr id="31" name="Text 29"/>
          <p:cNvSpPr/>
          <p:nvPr/>
        </p:nvSpPr>
        <p:spPr>
          <a:xfrm>
            <a:off x="4709160" y="2468880"/>
            <a:ext cx="3108960" cy="274320"/>
          </a:xfrm>
          <a:prstGeom prst="rect">
            <a:avLst/>
          </a:prstGeom>
          <a:noFill/>
          <a:ln/>
        </p:spPr>
        <p:txBody>
          <a:bodyPr wrap="square" lIns="0" tIns="0" rIns="0" bIns="0" rtlCol="0" anchor="ctr"/>
          <a:lstStyle/>
          <a:p>
            <a:pPr indent="0" marL="0">
              <a:buNone/>
            </a:pPr>
            <a:r>
              <a:rPr lang="en-US" sz="1400" b="1" dirty="0">
                <a:solidFill>
                  <a:srgbClr val="23282E"/>
                </a:solidFill>
                <a:latin typeface="Cambria" pitchFamily="34" charset="0"/>
                <a:ea typeface="Cambria" pitchFamily="34" charset="-122"/>
                <a:cs typeface="Cambria" pitchFamily="34" charset="-120"/>
              </a:rPr>
              <a:t>Training &amp; loss</a:t>
            </a:r>
            <a:endParaRPr lang="en-US" sz="1400" dirty="0"/>
          </a:p>
        </p:txBody>
      </p:sp>
      <p:sp>
        <p:nvSpPr>
          <p:cNvPr id="32" name="Text 30"/>
          <p:cNvSpPr/>
          <p:nvPr/>
        </p:nvSpPr>
        <p:spPr>
          <a:xfrm>
            <a:off x="4709160" y="2798064"/>
            <a:ext cx="3108960" cy="3108960"/>
          </a:xfrm>
          <a:prstGeom prst="rect">
            <a:avLst/>
          </a:prstGeom>
          <a:noFill/>
          <a:ln/>
        </p:spPr>
        <p:txBody>
          <a:bodyPr wrap="square" lIns="0" tIns="0" rIns="0" bIns="0" rtlCol="0" anchor="ctr"/>
          <a:lstStyle/>
          <a:p>
            <a:pPr indent="0" marL="0">
              <a:lnSpc>
                <a:spcPts val="1500"/>
              </a:lnSpc>
              <a:buNone/>
            </a:pPr>
            <a:r>
              <a:rPr lang="en-US" sz="1100" b="1" dirty="0">
                <a:solidFill>
                  <a:srgbClr val="23282E"/>
                </a:solidFill>
                <a:latin typeface="Calibri" pitchFamily="34" charset="0"/>
                <a:ea typeface="Calibri" pitchFamily="34" charset="-122"/>
                <a:cs typeface="Calibri" pitchFamily="34" charset="-120"/>
              </a:rPr>
              <a:t>Charbonnier + 0.15·SSIM + 0.05·gradient + 0.05·LPIPS. No GAN.</a:t>
            </a:r>
            <a:endParaRPr lang="en-US" sz="1100" dirty="0"/>
          </a:p>
          <a:p>
            <a:pPr indent="0" marL="0">
              <a:lnSpc>
                <a:spcPts val="1500"/>
              </a:lnSpc>
              <a:buNone/>
            </a:pPr>
            <a:r>
              <a:rPr lang="en-US" sz="1100" dirty="0">
                <a:solidFill>
                  <a:srgbClr val="4A5560"/>
                </a:solidFill>
                <a:latin typeface="Calibri" pitchFamily="34" charset="0"/>
                <a:ea typeface="Calibri" pitchFamily="34" charset="-122"/>
                <a:cs typeface="Calibri" pitchFamily="34" charset="-120"/>
              </a:rPr>
              <a:t>120 epochs × 500 iters, batch 32, 64×64 crops, AMP, cosine schedule.</a:t>
            </a:r>
            <a:endParaRPr lang="en-US" sz="1100" dirty="0"/>
          </a:p>
          <a:p>
            <a:pPr indent="0" marL="0">
              <a:lnSpc>
                <a:spcPts val="1500"/>
              </a:lnSpc>
              <a:buNone/>
            </a:pPr>
            <a:r>
              <a:rPr lang="en-US" sz="1100" dirty="0">
                <a:solidFill>
                  <a:srgbClr val="4A5560"/>
                </a:solidFill>
                <a:latin typeface="Calibri" pitchFamily="34" charset="0"/>
                <a:ea typeface="Calibri" pitchFamily="34" charset="-122"/>
                <a:cs typeface="Calibri" pitchFamily="34" charset="-120"/>
              </a:rPr>
              <a:t>Mixture: 50% real KLA pairs / 25% wide / 25% narrow.</a:t>
            </a:r>
            <a:endParaRPr lang="en-US" sz="1100" dirty="0"/>
          </a:p>
          <a:p>
            <a:pPr indent="0" marL="0">
              <a:lnSpc>
                <a:spcPts val="1500"/>
              </a:lnSpc>
              <a:buNone/>
            </a:pPr>
            <a:r>
              <a:rPr lang="en-US" sz="1100" b="1" dirty="0">
                <a:solidFill>
                  <a:srgbClr val="23282E"/>
                </a:solidFill>
                <a:latin typeface="Calibri" pitchFamily="34" charset="0"/>
                <a:ea typeface="Calibri" pitchFamily="34" charset="-122"/>
                <a:cs typeface="Calibri" pitchFamily="34" charset="-120"/>
              </a:rPr>
              <a:t>The gradient term sharpens edges only where the ground truth has edges</a:t>
            </a:r>
            <a:pPr indent="0" marL="0">
              <a:lnSpc>
                <a:spcPts val="1500"/>
              </a:lnSpc>
              <a:buNone/>
            </a:pPr>
            <a:r>
              <a:rPr lang="en-US" sz="1100" dirty="0">
                <a:solidFill>
                  <a:srgbClr val="4A5560"/>
                </a:solidFill>
                <a:latin typeface="Calibri" pitchFamily="34" charset="0"/>
                <a:ea typeface="Calibri" pitchFamily="34" charset="-122"/>
                <a:cs typeface="Calibri" pitchFamily="34" charset="-120"/>
              </a:rPr>
              <a:t> — the mechanism that keeps the perceptual term honest.</a:t>
            </a:r>
            <a:endParaRPr lang="en-US" sz="1100" dirty="0"/>
          </a:p>
          <a:p>
            <a:pPr indent="0" marL="0">
              <a:lnSpc>
                <a:spcPts val="1500"/>
              </a:lnSpc>
              <a:buNone/>
            </a:pPr>
            <a:r>
              <a:rPr lang="en-US" sz="1100" b="1" dirty="0">
                <a:solidFill>
                  <a:srgbClr val="23282E"/>
                </a:solidFill>
                <a:latin typeface="Calibri" pitchFamily="34" charset="0"/>
                <a:ea typeface="Calibri" pitchFamily="34" charset="-122"/>
                <a:cs typeface="Calibri" pitchFamily="34" charset="-120"/>
              </a:rPr>
              <a:t>--seed and --split-seed are separate on purpose.</a:t>
            </a:r>
            <a:pPr indent="0" marL="0">
              <a:lnSpc>
                <a:spcPts val="1500"/>
              </a:lnSpc>
              <a:buNone/>
            </a:pPr>
            <a:r>
              <a:rPr lang="en-US" sz="1100" dirty="0">
                <a:solidFill>
                  <a:srgbClr val="4A5560"/>
                </a:solidFill>
                <a:latin typeface="Calibri" pitchFamily="34" charset="0"/>
                <a:ea typeface="Calibri" pitchFamily="34" charset="-122"/>
                <a:cs typeface="Calibri" pitchFamily="34" charset="-120"/>
              </a:rPr>
              <a:t> The validation split must stay fixed while training randomness varies, or a seed experiment compares two models on two different splits and measures nothing.</a:t>
            </a:r>
            <a:endParaRPr lang="en-US" sz="1100" dirty="0"/>
          </a:p>
        </p:txBody>
      </p:sp>
      <p:sp>
        <p:nvSpPr>
          <p:cNvPr id="33" name="Shape 31"/>
          <p:cNvSpPr/>
          <p:nvPr/>
        </p:nvSpPr>
        <p:spPr>
          <a:xfrm>
            <a:off x="8321040" y="2286000"/>
            <a:ext cx="3291840" cy="3749040"/>
          </a:xfrm>
          <a:prstGeom prst="roundRect">
            <a:avLst>
              <a:gd name="adj" fmla="val 1667"/>
            </a:avLst>
          </a:prstGeom>
          <a:solidFill>
            <a:srgbClr val="FBF2EC"/>
          </a:solidFill>
          <a:ln w="12700">
            <a:solidFill>
              <a:srgbClr val="FBF2EC"/>
            </a:solidFill>
            <a:prstDash val="solid"/>
          </a:ln>
        </p:spPr>
      </p:sp>
      <p:sp>
        <p:nvSpPr>
          <p:cNvPr id="34" name="Text 32"/>
          <p:cNvSpPr/>
          <p:nvPr/>
        </p:nvSpPr>
        <p:spPr>
          <a:xfrm>
            <a:off x="8595360" y="2468880"/>
            <a:ext cx="2743200" cy="219456"/>
          </a:xfrm>
          <a:prstGeom prst="rect">
            <a:avLst/>
          </a:prstGeom>
          <a:noFill/>
          <a:ln/>
        </p:spPr>
        <p:txBody>
          <a:bodyPr wrap="square" lIns="0" tIns="0" rIns="0" bIns="0" rtlCol="0" anchor="ctr"/>
          <a:lstStyle/>
          <a:p>
            <a:pPr indent="0" marL="0">
              <a:buNone/>
            </a:pPr>
            <a:r>
              <a:rPr lang="en-US" sz="950" b="1" spc="120" kern="0" dirty="0">
                <a:solidFill>
                  <a:srgbClr val="C2703B"/>
                </a:solidFill>
                <a:latin typeface="Calibri" pitchFamily="34" charset="0"/>
                <a:ea typeface="Calibri" pitchFamily="34" charset="-122"/>
                <a:cs typeface="Calibri" pitchFamily="34" charset="-120"/>
              </a:rPr>
              <a:t>HOW WE DECIDE A RESULT IS REAL</a:t>
            </a:r>
            <a:endParaRPr lang="en-US" sz="950" dirty="0"/>
          </a:p>
        </p:txBody>
      </p:sp>
      <p:sp>
        <p:nvSpPr>
          <p:cNvPr id="35" name="Text 33"/>
          <p:cNvSpPr/>
          <p:nvPr/>
        </p:nvSpPr>
        <p:spPr>
          <a:xfrm>
            <a:off x="8595360" y="2798064"/>
            <a:ext cx="2743200" cy="3108960"/>
          </a:xfrm>
          <a:prstGeom prst="rect">
            <a:avLst/>
          </a:prstGeom>
          <a:noFill/>
          <a:ln/>
        </p:spPr>
        <p:txBody>
          <a:bodyPr wrap="square" lIns="0" tIns="0" rIns="0" bIns="0" rtlCol="0" anchor="ctr"/>
          <a:lstStyle/>
          <a:p>
            <a:pPr indent="0" marL="0">
              <a:lnSpc>
                <a:spcPts val="1400"/>
              </a:lnSpc>
              <a:buNone/>
            </a:pPr>
            <a:r>
              <a:rPr lang="en-US" sz="1050" b="1" dirty="0">
                <a:solidFill>
                  <a:srgbClr val="23282E"/>
                </a:solidFill>
                <a:latin typeface="Calibri" pitchFamily="34" charset="0"/>
                <a:ea typeface="Calibri" pitchFamily="34" charset="-122"/>
                <a:cs typeface="Calibri" pitchFamily="34" charset="-120"/>
              </a:rPr>
              <a:t>0.0049 dB</a:t>
            </a:r>
            <a:pPr indent="0" marL="0">
              <a:lnSpc>
                <a:spcPts val="1400"/>
              </a:lnSpc>
              <a:buNone/>
            </a:pPr>
            <a:r>
              <a:rPr lang="en-US" sz="1050" dirty="0">
                <a:solidFill>
                  <a:srgbClr val="4A5560"/>
                </a:solidFill>
                <a:latin typeface="Calibri" pitchFamily="34" charset="0"/>
                <a:ea typeface="Calibri" pitchFamily="34" charset="-122"/>
                <a:cs typeface="Calibri" pitchFamily="34" charset="-120"/>
              </a:rPr>
              <a:t>  — two runs differing only in seed, final-5-epoch means, matched at epoch 39. We use </a:t>
            </a:r>
            <a:pPr indent="0" marL="0">
              <a:lnSpc>
                <a:spcPts val="1400"/>
              </a:lnSpc>
              <a:buNone/>
            </a:pPr>
            <a:r>
              <a:rPr lang="en-US" sz="1050" b="1" dirty="0">
                <a:solidFill>
                  <a:srgbClr val="23282E"/>
                </a:solidFill>
                <a:latin typeface="Calibri" pitchFamily="34" charset="0"/>
                <a:ea typeface="Calibri" pitchFamily="34" charset="-122"/>
                <a:cs typeface="Calibri" pitchFamily="34" charset="-120"/>
              </a:rPr>
              <a:t>0.010 dB</a:t>
            </a:r>
            <a:pPr indent="0" marL="0">
              <a:lnSpc>
                <a:spcPts val="1400"/>
              </a:lnSpc>
              <a:buNone/>
            </a:pPr>
            <a:r>
              <a:rPr lang="en-US" sz="1050" dirty="0">
                <a:solidFill>
                  <a:srgbClr val="4A5560"/>
                </a:solidFill>
                <a:latin typeface="Calibri" pitchFamily="34" charset="0"/>
                <a:ea typeface="Calibri" pitchFamily="34" charset="-122"/>
                <a:cs typeface="Calibri" pitchFamily="34" charset="-120"/>
              </a:rPr>
              <a:t> as the threshold; anything under it is reported as null.</a:t>
            </a:r>
            <a:endParaRPr lang="en-US" sz="1050" dirty="0"/>
          </a:p>
          <a:p>
            <a:pPr indent="0" marL="0">
              <a:lnSpc>
                <a:spcPts val="1400"/>
              </a:lnSpc>
              <a:buNone/>
            </a:pPr>
            <a:r>
              <a:rPr lang="en-US" sz="1050" b="1" dirty="0">
                <a:solidFill>
                  <a:srgbClr val="23282E"/>
                </a:solidFill>
                <a:latin typeface="Calibri" pitchFamily="34" charset="0"/>
                <a:ea typeface="Calibri" pitchFamily="34" charset="-122"/>
                <a:cs typeface="Calibri" pitchFamily="34" charset="-120"/>
              </a:rPr>
              <a:t>Never best-epoch.</a:t>
            </a:r>
            <a:pPr indent="0" marL="0">
              <a:lnSpc>
                <a:spcPts val="1400"/>
              </a:lnSpc>
              <a:buNone/>
            </a:pPr>
            <a:r>
              <a:rPr lang="en-US" sz="1050" dirty="0">
                <a:solidFill>
                  <a:srgbClr val="4A5560"/>
                </a:solidFill>
                <a:latin typeface="Calibri" pitchFamily="34" charset="0"/>
                <a:ea typeface="Calibri" pitchFamily="34" charset="-122"/>
                <a:cs typeface="Calibri" pitchFamily="34" charset="-120"/>
              </a:rPr>
              <a:t> Best-epoch selection inflates a score by a median 0.058 dB across our six 120-epoch runs — six times the floor. Every number here is a final-5 mean.</a:t>
            </a:r>
            <a:endParaRPr lang="en-US" sz="1050" dirty="0"/>
          </a:p>
          <a:p>
            <a:pPr indent="0" marL="0">
              <a:lnSpc>
                <a:spcPts val="1400"/>
              </a:lnSpc>
              <a:buNone/>
            </a:pPr>
            <a:r>
              <a:rPr lang="en-US" sz="1050" b="1" dirty="0">
                <a:solidFill>
                  <a:srgbClr val="23282E"/>
                </a:solidFill>
                <a:latin typeface="Calibri" pitchFamily="34" charset="0"/>
                <a:ea typeface="Calibri" pitchFamily="34" charset="-122"/>
                <a:cs typeface="Calibri" pitchFamily="34" charset="-120"/>
              </a:rPr>
              <a:t>One pass, one baseline.</a:t>
            </a:r>
            <a:pPr indent="0" marL="0">
              <a:lnSpc>
                <a:spcPts val="1400"/>
              </a:lnSpc>
              <a:buNone/>
            </a:pPr>
            <a:r>
              <a:rPr lang="en-US" sz="1050" dirty="0">
                <a:solidFill>
                  <a:srgbClr val="4A5560"/>
                </a:solidFill>
                <a:latin typeface="Calibri" pitchFamily="34" charset="0"/>
                <a:ea typeface="Calibri" pitchFamily="34" charset="-122"/>
                <a:cs typeface="Calibri" pitchFamily="34" charset="-120"/>
              </a:rPr>
              <a:t> All models scored by the same code on the same inputs. The shared bicubic column is the checksum: if it differs between two files, those files cannot be compared.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400" b="1" dirty="0">
                <a:solidFill>
                  <a:srgbClr val="23282E"/>
                </a:solidFill>
                <a:latin typeface="Cambria" pitchFamily="34" charset="0"/>
                <a:ea typeface="Cambria" pitchFamily="34" charset="-122"/>
                <a:cs typeface="Cambria" pitchFamily="34" charset="-120"/>
              </a:rPr>
              <a:t>The Loss Function</a:t>
            </a:r>
            <a:endParaRPr lang="en-US" sz="3400" dirty="0"/>
          </a:p>
        </p:txBody>
      </p:sp>
      <p:sp>
        <p:nvSpPr>
          <p:cNvPr id="3" name="Text 1"/>
          <p:cNvSpPr/>
          <p:nvPr/>
        </p:nvSpPr>
        <p:spPr>
          <a:xfrm>
            <a:off x="548640" y="905256"/>
            <a:ext cx="11064240" cy="310896"/>
          </a:xfrm>
          <a:prstGeom prst="rect">
            <a:avLst/>
          </a:prstGeom>
          <a:noFill/>
          <a:ln/>
        </p:spPr>
        <p:txBody>
          <a:bodyPr wrap="square" lIns="0" tIns="0" rIns="0" bIns="0" rtlCol="0" anchor="ctr"/>
          <a:lstStyle/>
          <a:p>
            <a:pPr indent="0" marL="0">
              <a:buNone/>
            </a:pPr>
            <a:r>
              <a:rPr lang="en-US" sz="1300" i="1" dirty="0">
                <a:solidFill>
                  <a:srgbClr val="7C8895"/>
                </a:solidFill>
                <a:latin typeface="Calibri" pitchFamily="34" charset="0"/>
                <a:ea typeface="Calibri" pitchFamily="34" charset="-122"/>
                <a:cs typeface="Calibri" pitchFamily="34" charset="-120"/>
              </a:rPr>
              <a:t>Four terms, every weight measured rather than guessed — and the guard that licenses the fourth</a:t>
            </a:r>
            <a:endParaRPr lang="en-US" sz="1300" dirty="0"/>
          </a:p>
        </p:txBody>
      </p:sp>
      <p:sp>
        <p:nvSpPr>
          <p:cNvPr id="4" name="Shape 2"/>
          <p:cNvSpPr/>
          <p:nvPr/>
        </p:nvSpPr>
        <p:spPr>
          <a:xfrm>
            <a:off x="502920" y="1371600"/>
            <a:ext cx="11109960" cy="749808"/>
          </a:xfrm>
          <a:prstGeom prst="roundRect">
            <a:avLst>
              <a:gd name="adj" fmla="val 7317"/>
            </a:avLst>
          </a:prstGeom>
          <a:solidFill>
            <a:srgbClr val="23282E"/>
          </a:solidFill>
          <a:ln w="12700">
            <a:solidFill>
              <a:srgbClr val="23282E"/>
            </a:solidFill>
            <a:prstDash val="solid"/>
          </a:ln>
        </p:spPr>
      </p:sp>
      <p:sp>
        <p:nvSpPr>
          <p:cNvPr id="5" name="Text 3"/>
          <p:cNvSpPr/>
          <p:nvPr/>
        </p:nvSpPr>
        <p:spPr>
          <a:xfrm>
            <a:off x="731520" y="1591056"/>
            <a:ext cx="10607040" cy="365760"/>
          </a:xfrm>
          <a:prstGeom prst="rect">
            <a:avLst/>
          </a:prstGeom>
          <a:noFill/>
          <a:ln/>
        </p:spPr>
        <p:txBody>
          <a:bodyPr wrap="square" lIns="0" tIns="0" rIns="0" bIns="0" rtlCol="0" anchor="ctr"/>
          <a:lstStyle/>
          <a:p>
            <a:pPr indent="0" marL="0">
              <a:buNone/>
            </a:pPr>
            <a:r>
              <a:rPr lang="en-US" sz="1400" dirty="0">
                <a:solidFill>
                  <a:srgbClr val="FFFFFF"/>
                </a:solidFill>
                <a:latin typeface="Consolas" pitchFamily="34" charset="0"/>
                <a:ea typeface="Consolas" pitchFamily="34" charset="-122"/>
                <a:cs typeface="Consolas" pitchFamily="34" charset="-120"/>
              </a:rPr>
              <a:t>L = Charbonnier(x,y)  +  0.15·(1 − SSIM)  +  0.05·|∇x − ∇y|  +  0.05·LPIPS(x,y)</a:t>
            </a:r>
            <a:endParaRPr lang="en-US" sz="1400" dirty="0"/>
          </a:p>
        </p:txBody>
      </p:sp>
      <p:sp>
        <p:nvSpPr>
          <p:cNvPr id="6" name="Shape 4"/>
          <p:cNvSpPr/>
          <p:nvPr/>
        </p:nvSpPr>
        <p:spPr>
          <a:xfrm>
            <a:off x="502920" y="2331720"/>
            <a:ext cx="2670048" cy="2148840"/>
          </a:xfrm>
          <a:prstGeom prst="roundRect">
            <a:avLst>
              <a:gd name="adj" fmla="val 2553"/>
            </a:avLst>
          </a:prstGeom>
          <a:solidFill>
            <a:srgbClr val="ECEFF2"/>
          </a:solidFill>
          <a:ln w="12700">
            <a:solidFill>
              <a:srgbClr val="ECEFF2"/>
            </a:solidFill>
            <a:prstDash val="solid"/>
          </a:ln>
        </p:spPr>
      </p:sp>
      <p:sp>
        <p:nvSpPr>
          <p:cNvPr id="7" name="Text 5"/>
          <p:cNvSpPr/>
          <p:nvPr/>
        </p:nvSpPr>
        <p:spPr>
          <a:xfrm>
            <a:off x="731520" y="2487168"/>
            <a:ext cx="2240280" cy="256032"/>
          </a:xfrm>
          <a:prstGeom prst="rect">
            <a:avLst/>
          </a:prstGeom>
          <a:noFill/>
          <a:ln/>
        </p:spPr>
        <p:txBody>
          <a:bodyPr wrap="square" lIns="0" tIns="0" rIns="0" bIns="0" rtlCol="0" anchor="ctr"/>
          <a:lstStyle/>
          <a:p>
            <a:pPr indent="0" marL="0">
              <a:buNone/>
            </a:pPr>
            <a:r>
              <a:rPr lang="en-US" sz="1300" b="1" dirty="0">
                <a:solidFill>
                  <a:srgbClr val="C2703B"/>
                </a:solidFill>
                <a:latin typeface="Calibri" pitchFamily="34" charset="0"/>
                <a:ea typeface="Calibri" pitchFamily="34" charset="-122"/>
                <a:cs typeface="Calibri" pitchFamily="34" charset="-120"/>
              </a:rPr>
              <a:t>Charbonnier</a:t>
            </a:r>
            <a:endParaRPr lang="en-US" sz="1300" dirty="0"/>
          </a:p>
        </p:txBody>
      </p:sp>
      <p:sp>
        <p:nvSpPr>
          <p:cNvPr id="8" name="Text 6"/>
          <p:cNvSpPr/>
          <p:nvPr/>
        </p:nvSpPr>
        <p:spPr>
          <a:xfrm>
            <a:off x="731520" y="2743200"/>
            <a:ext cx="2240280" cy="219456"/>
          </a:xfrm>
          <a:prstGeom prst="rect">
            <a:avLst/>
          </a:prstGeom>
          <a:noFill/>
          <a:ln/>
        </p:spPr>
        <p:txBody>
          <a:bodyPr wrap="square" lIns="0" tIns="0" rIns="0" bIns="0" rtlCol="0" anchor="ctr"/>
          <a:lstStyle/>
          <a:p>
            <a:pPr indent="0" marL="0">
              <a:buNone/>
            </a:pPr>
            <a:r>
              <a:rPr lang="en-US" sz="1000" i="1" dirty="0">
                <a:solidFill>
                  <a:srgbClr val="7C8895"/>
                </a:solidFill>
                <a:latin typeface="Calibri" pitchFamily="34" charset="0"/>
                <a:ea typeface="Calibri" pitchFamily="34" charset="-122"/>
                <a:cs typeface="Calibri" pitchFamily="34" charset="-120"/>
              </a:rPr>
              <a:t>the base term</a:t>
            </a:r>
            <a:endParaRPr lang="en-US" sz="1000" dirty="0"/>
          </a:p>
        </p:txBody>
      </p:sp>
      <p:sp>
        <p:nvSpPr>
          <p:cNvPr id="9" name="Text 7"/>
          <p:cNvSpPr/>
          <p:nvPr/>
        </p:nvSpPr>
        <p:spPr>
          <a:xfrm>
            <a:off x="731520" y="3017520"/>
            <a:ext cx="2240280" cy="1371600"/>
          </a:xfrm>
          <a:prstGeom prst="rect">
            <a:avLst/>
          </a:prstGeom>
          <a:noFill/>
          <a:ln/>
        </p:spPr>
        <p:txBody>
          <a:bodyPr wrap="square" lIns="0" tIns="0" rIns="0" bIns="0" rtlCol="0" anchor="ctr"/>
          <a:lstStyle/>
          <a:p>
            <a:pPr indent="0" marL="0">
              <a:lnSpc>
                <a:spcPts val="1300"/>
              </a:lnSpc>
              <a:buNone/>
            </a:pPr>
            <a:r>
              <a:rPr lang="en-US" sz="1000" dirty="0">
                <a:solidFill>
                  <a:srgbClr val="4A5560"/>
                </a:solidFill>
                <a:latin typeface="Calibri" pitchFamily="34" charset="0"/>
                <a:ea typeface="Calibri" pitchFamily="34" charset="-122"/>
                <a:cs typeface="Calibri" pitchFamily="34" charset="-120"/>
              </a:rPr>
              <a:t>A smooth L1. L2 averages competing hypotheses and produces the blur that L1 avoids; Charbonnier keeps L1’s robustness while staying differentiable at zero.</a:t>
            </a:r>
            <a:endParaRPr lang="en-US" sz="1000" dirty="0"/>
          </a:p>
        </p:txBody>
      </p:sp>
      <p:sp>
        <p:nvSpPr>
          <p:cNvPr id="10" name="Shape 8"/>
          <p:cNvSpPr/>
          <p:nvPr/>
        </p:nvSpPr>
        <p:spPr>
          <a:xfrm>
            <a:off x="3310128" y="2331720"/>
            <a:ext cx="2670048" cy="2148840"/>
          </a:xfrm>
          <a:prstGeom prst="roundRect">
            <a:avLst>
              <a:gd name="adj" fmla="val 2553"/>
            </a:avLst>
          </a:prstGeom>
          <a:solidFill>
            <a:srgbClr val="ECEFF2"/>
          </a:solidFill>
          <a:ln w="12700">
            <a:solidFill>
              <a:srgbClr val="ECEFF2"/>
            </a:solidFill>
            <a:prstDash val="solid"/>
          </a:ln>
        </p:spPr>
      </p:sp>
      <p:sp>
        <p:nvSpPr>
          <p:cNvPr id="11" name="Text 9"/>
          <p:cNvSpPr/>
          <p:nvPr/>
        </p:nvSpPr>
        <p:spPr>
          <a:xfrm>
            <a:off x="3538728" y="2487168"/>
            <a:ext cx="2240280" cy="256032"/>
          </a:xfrm>
          <a:prstGeom prst="rect">
            <a:avLst/>
          </a:prstGeom>
          <a:noFill/>
          <a:ln/>
        </p:spPr>
        <p:txBody>
          <a:bodyPr wrap="square" lIns="0" tIns="0" rIns="0" bIns="0" rtlCol="0" anchor="ctr"/>
          <a:lstStyle/>
          <a:p>
            <a:pPr indent="0" marL="0">
              <a:buNone/>
            </a:pPr>
            <a:r>
              <a:rPr lang="en-US" sz="1300" b="1" dirty="0">
                <a:solidFill>
                  <a:srgbClr val="C2703B"/>
                </a:solidFill>
                <a:latin typeface="Calibri" pitchFamily="34" charset="0"/>
                <a:ea typeface="Calibri" pitchFamily="34" charset="-122"/>
                <a:cs typeface="Calibri" pitchFamily="34" charset="-120"/>
              </a:rPr>
              <a:t>0.15 · SSIM</a:t>
            </a:r>
            <a:endParaRPr lang="en-US" sz="1300" dirty="0"/>
          </a:p>
        </p:txBody>
      </p:sp>
      <p:sp>
        <p:nvSpPr>
          <p:cNvPr id="12" name="Text 10"/>
          <p:cNvSpPr/>
          <p:nvPr/>
        </p:nvSpPr>
        <p:spPr>
          <a:xfrm>
            <a:off x="3538728" y="2743200"/>
            <a:ext cx="2240280" cy="219456"/>
          </a:xfrm>
          <a:prstGeom prst="rect">
            <a:avLst/>
          </a:prstGeom>
          <a:noFill/>
          <a:ln/>
        </p:spPr>
        <p:txBody>
          <a:bodyPr wrap="square" lIns="0" tIns="0" rIns="0" bIns="0" rtlCol="0" anchor="ctr"/>
          <a:lstStyle/>
          <a:p>
            <a:pPr indent="0" marL="0">
              <a:buNone/>
            </a:pPr>
            <a:r>
              <a:rPr lang="en-US" sz="1000" i="1" dirty="0">
                <a:solidFill>
                  <a:srgbClr val="7C8895"/>
                </a:solidFill>
                <a:latin typeface="Calibri" pitchFamily="34" charset="0"/>
                <a:ea typeface="Calibri" pitchFamily="34" charset="-122"/>
                <a:cs typeface="Calibri" pitchFamily="34" charset="-120"/>
              </a:rPr>
              <a:t>structure, not pixels</a:t>
            </a:r>
            <a:endParaRPr lang="en-US" sz="1000" dirty="0"/>
          </a:p>
        </p:txBody>
      </p:sp>
      <p:sp>
        <p:nvSpPr>
          <p:cNvPr id="13" name="Text 11"/>
          <p:cNvSpPr/>
          <p:nvPr/>
        </p:nvSpPr>
        <p:spPr>
          <a:xfrm>
            <a:off x="3538728" y="3017520"/>
            <a:ext cx="2240280" cy="1371600"/>
          </a:xfrm>
          <a:prstGeom prst="rect">
            <a:avLst/>
          </a:prstGeom>
          <a:noFill/>
          <a:ln/>
        </p:spPr>
        <p:txBody>
          <a:bodyPr wrap="square" lIns="0" tIns="0" rIns="0" bIns="0" rtlCol="0" anchor="ctr"/>
          <a:lstStyle/>
          <a:p>
            <a:pPr indent="0" marL="0">
              <a:lnSpc>
                <a:spcPts val="1300"/>
              </a:lnSpc>
              <a:buNone/>
            </a:pPr>
            <a:r>
              <a:rPr lang="en-US" sz="1000" dirty="0">
                <a:solidFill>
                  <a:srgbClr val="4A5560"/>
                </a:solidFill>
                <a:latin typeface="Calibri" pitchFamily="34" charset="0"/>
                <a:ea typeface="Calibri" pitchFamily="34" charset="-122"/>
                <a:cs typeface="Calibri" pitchFamily="34" charset="-120"/>
              </a:rPr>
              <a:t>PSNR is blind to structural error that is small in magnitude. Weight tested at 0.15 and 0.30 — 0.30 (loss-ss30) scored 23.634 against 23.632 on PSNR but 0.369 LPIPS against 0.193. Kept at 0.15.</a:t>
            </a:r>
            <a:endParaRPr lang="en-US" sz="1000" dirty="0"/>
          </a:p>
        </p:txBody>
      </p:sp>
      <p:sp>
        <p:nvSpPr>
          <p:cNvPr id="14" name="Shape 12"/>
          <p:cNvSpPr/>
          <p:nvPr/>
        </p:nvSpPr>
        <p:spPr>
          <a:xfrm>
            <a:off x="6117336" y="2331720"/>
            <a:ext cx="2670048" cy="2148840"/>
          </a:xfrm>
          <a:prstGeom prst="roundRect">
            <a:avLst>
              <a:gd name="adj" fmla="val 2553"/>
            </a:avLst>
          </a:prstGeom>
          <a:solidFill>
            <a:srgbClr val="ECEFF2"/>
          </a:solidFill>
          <a:ln w="12700">
            <a:solidFill>
              <a:srgbClr val="ECEFF2"/>
            </a:solidFill>
            <a:prstDash val="solid"/>
          </a:ln>
        </p:spPr>
      </p:sp>
      <p:sp>
        <p:nvSpPr>
          <p:cNvPr id="15" name="Text 13"/>
          <p:cNvSpPr/>
          <p:nvPr/>
        </p:nvSpPr>
        <p:spPr>
          <a:xfrm>
            <a:off x="6345936" y="2487168"/>
            <a:ext cx="2240280" cy="256032"/>
          </a:xfrm>
          <a:prstGeom prst="rect">
            <a:avLst/>
          </a:prstGeom>
          <a:noFill/>
          <a:ln/>
        </p:spPr>
        <p:txBody>
          <a:bodyPr wrap="square" lIns="0" tIns="0" rIns="0" bIns="0" rtlCol="0" anchor="ctr"/>
          <a:lstStyle/>
          <a:p>
            <a:pPr indent="0" marL="0">
              <a:buNone/>
            </a:pPr>
            <a:r>
              <a:rPr lang="en-US" sz="1300" b="1" dirty="0">
                <a:solidFill>
                  <a:srgbClr val="C2703B"/>
                </a:solidFill>
                <a:latin typeface="Calibri" pitchFamily="34" charset="0"/>
                <a:ea typeface="Calibri" pitchFamily="34" charset="-122"/>
                <a:cs typeface="Calibri" pitchFamily="34" charset="-120"/>
              </a:rPr>
              <a:t>0.05 · gradient</a:t>
            </a:r>
            <a:endParaRPr lang="en-US" sz="1300" dirty="0"/>
          </a:p>
        </p:txBody>
      </p:sp>
      <p:sp>
        <p:nvSpPr>
          <p:cNvPr id="16" name="Text 14"/>
          <p:cNvSpPr/>
          <p:nvPr/>
        </p:nvSpPr>
        <p:spPr>
          <a:xfrm>
            <a:off x="6345936" y="2743200"/>
            <a:ext cx="2240280" cy="219456"/>
          </a:xfrm>
          <a:prstGeom prst="rect">
            <a:avLst/>
          </a:prstGeom>
          <a:noFill/>
          <a:ln/>
        </p:spPr>
        <p:txBody>
          <a:bodyPr wrap="square" lIns="0" tIns="0" rIns="0" bIns="0" rtlCol="0" anchor="ctr"/>
          <a:lstStyle/>
          <a:p>
            <a:pPr indent="0" marL="0">
              <a:buNone/>
            </a:pPr>
            <a:r>
              <a:rPr lang="en-US" sz="1000" i="1" dirty="0">
                <a:solidFill>
                  <a:srgbClr val="7C8895"/>
                </a:solidFill>
                <a:latin typeface="Calibri" pitchFamily="34" charset="0"/>
                <a:ea typeface="Calibri" pitchFamily="34" charset="-122"/>
                <a:cs typeface="Calibri" pitchFamily="34" charset="-120"/>
              </a:rPr>
              <a:t>edges where edges exist</a:t>
            </a:r>
            <a:endParaRPr lang="en-US" sz="1000" dirty="0"/>
          </a:p>
        </p:txBody>
      </p:sp>
      <p:sp>
        <p:nvSpPr>
          <p:cNvPr id="17" name="Text 15"/>
          <p:cNvSpPr/>
          <p:nvPr/>
        </p:nvSpPr>
        <p:spPr>
          <a:xfrm>
            <a:off x="6345936" y="3017520"/>
            <a:ext cx="2240280" cy="1371600"/>
          </a:xfrm>
          <a:prstGeom prst="rect">
            <a:avLst/>
          </a:prstGeom>
          <a:noFill/>
          <a:ln/>
        </p:spPr>
        <p:txBody>
          <a:bodyPr wrap="square" lIns="0" tIns="0" rIns="0" bIns="0" rtlCol="0" anchor="ctr"/>
          <a:lstStyle/>
          <a:p>
            <a:pPr indent="0" marL="0">
              <a:lnSpc>
                <a:spcPts val="1300"/>
              </a:lnSpc>
              <a:buNone/>
            </a:pPr>
            <a:r>
              <a:rPr lang="en-US" sz="1000" dirty="0">
                <a:solidFill>
                  <a:srgbClr val="4A5560"/>
                </a:solidFill>
                <a:latin typeface="Calibri" pitchFamily="34" charset="0"/>
                <a:ea typeface="Calibri" pitchFamily="34" charset="-122"/>
                <a:cs typeface="Calibri" pitchFamily="34" charset="-120"/>
              </a:rPr>
              <a:t>Sharpens only where the ground truth has a gradient, so it cannot invent an edge in a flat region. This is the term that keeps the perceptual term honest. Round 1 tested 0.20: too much, rejected.</a:t>
            </a:r>
            <a:endParaRPr lang="en-US" sz="1000" dirty="0"/>
          </a:p>
        </p:txBody>
      </p:sp>
      <p:sp>
        <p:nvSpPr>
          <p:cNvPr id="18" name="Shape 16"/>
          <p:cNvSpPr/>
          <p:nvPr/>
        </p:nvSpPr>
        <p:spPr>
          <a:xfrm>
            <a:off x="8924544" y="2331720"/>
            <a:ext cx="2670048" cy="2148840"/>
          </a:xfrm>
          <a:prstGeom prst="roundRect">
            <a:avLst>
              <a:gd name="adj" fmla="val 2553"/>
            </a:avLst>
          </a:prstGeom>
          <a:solidFill>
            <a:srgbClr val="ECEFF2"/>
          </a:solidFill>
          <a:ln w="12700">
            <a:solidFill>
              <a:srgbClr val="ECEFF2"/>
            </a:solidFill>
            <a:prstDash val="solid"/>
          </a:ln>
        </p:spPr>
      </p:sp>
      <p:sp>
        <p:nvSpPr>
          <p:cNvPr id="19" name="Text 17"/>
          <p:cNvSpPr/>
          <p:nvPr/>
        </p:nvSpPr>
        <p:spPr>
          <a:xfrm>
            <a:off x="9153144" y="2487168"/>
            <a:ext cx="2240280" cy="256032"/>
          </a:xfrm>
          <a:prstGeom prst="rect">
            <a:avLst/>
          </a:prstGeom>
          <a:noFill/>
          <a:ln/>
        </p:spPr>
        <p:txBody>
          <a:bodyPr wrap="square" lIns="0" tIns="0" rIns="0" bIns="0" rtlCol="0" anchor="ctr"/>
          <a:lstStyle/>
          <a:p>
            <a:pPr indent="0" marL="0">
              <a:buNone/>
            </a:pPr>
            <a:r>
              <a:rPr lang="en-US" sz="1300" b="1" dirty="0">
                <a:solidFill>
                  <a:srgbClr val="C2703B"/>
                </a:solidFill>
                <a:latin typeface="Calibri" pitchFamily="34" charset="0"/>
                <a:ea typeface="Calibri" pitchFamily="34" charset="-122"/>
                <a:cs typeface="Calibri" pitchFamily="34" charset="-120"/>
              </a:rPr>
              <a:t>0.05 · LPIPS</a:t>
            </a:r>
            <a:endParaRPr lang="en-US" sz="1300" dirty="0"/>
          </a:p>
        </p:txBody>
      </p:sp>
      <p:sp>
        <p:nvSpPr>
          <p:cNvPr id="20" name="Text 18"/>
          <p:cNvSpPr/>
          <p:nvPr/>
        </p:nvSpPr>
        <p:spPr>
          <a:xfrm>
            <a:off x="9153144" y="2743200"/>
            <a:ext cx="2240280" cy="219456"/>
          </a:xfrm>
          <a:prstGeom prst="rect">
            <a:avLst/>
          </a:prstGeom>
          <a:noFill/>
          <a:ln/>
        </p:spPr>
        <p:txBody>
          <a:bodyPr wrap="square" lIns="0" tIns="0" rIns="0" bIns="0" rtlCol="0" anchor="ctr"/>
          <a:lstStyle/>
          <a:p>
            <a:pPr indent="0" marL="0">
              <a:buNone/>
            </a:pPr>
            <a:r>
              <a:rPr lang="en-US" sz="1000" i="1" dirty="0">
                <a:solidFill>
                  <a:srgbClr val="7C8895"/>
                </a:solidFill>
                <a:latin typeface="Calibri" pitchFamily="34" charset="0"/>
                <a:ea typeface="Calibri" pitchFamily="34" charset="-122"/>
                <a:cs typeface="Calibri" pitchFamily="34" charset="-120"/>
              </a:rPr>
              <a:t>the one we resisted</a:t>
            </a:r>
            <a:endParaRPr lang="en-US" sz="1000" dirty="0"/>
          </a:p>
        </p:txBody>
      </p:sp>
      <p:sp>
        <p:nvSpPr>
          <p:cNvPr id="21" name="Text 19"/>
          <p:cNvSpPr/>
          <p:nvPr/>
        </p:nvSpPr>
        <p:spPr>
          <a:xfrm>
            <a:off x="9153144" y="3017520"/>
            <a:ext cx="2240280" cy="1371600"/>
          </a:xfrm>
          <a:prstGeom prst="rect">
            <a:avLst/>
          </a:prstGeom>
          <a:noFill/>
          <a:ln/>
        </p:spPr>
        <p:txBody>
          <a:bodyPr wrap="square" lIns="0" tIns="0" rIns="0" bIns="0" rtlCol="0" anchor="ctr"/>
          <a:lstStyle/>
          <a:p>
            <a:pPr indent="0" marL="0">
              <a:lnSpc>
                <a:spcPts val="1300"/>
              </a:lnSpc>
              <a:buNone/>
            </a:pPr>
            <a:r>
              <a:rPr lang="en-US" sz="1000" dirty="0">
                <a:solidFill>
                  <a:srgbClr val="4A5560"/>
                </a:solidFill>
                <a:latin typeface="Calibri" pitchFamily="34" charset="0"/>
                <a:ea typeface="Calibri" pitchFamily="34" charset="-122"/>
                <a:cs typeface="Calibri" pitchFamily="34" charset="-120"/>
              </a:rPr>
              <a:t>Perceptual losses work by synthesising plausible texture, and invented texture on an inspection image is a fabricated defect. We shipped it only after measuring that it does not fabricate.</a:t>
            </a:r>
            <a:endParaRPr lang="en-US" sz="1000" dirty="0"/>
          </a:p>
        </p:txBody>
      </p:sp>
      <p:sp>
        <p:nvSpPr>
          <p:cNvPr id="22" name="Text 20"/>
          <p:cNvSpPr/>
          <p:nvPr/>
        </p:nvSpPr>
        <p:spPr>
          <a:xfrm>
            <a:off x="502920" y="4617720"/>
            <a:ext cx="5486400" cy="219456"/>
          </a:xfrm>
          <a:prstGeom prst="rect">
            <a:avLst/>
          </a:prstGeom>
          <a:noFill/>
          <a:ln/>
        </p:spPr>
        <p:txBody>
          <a:bodyPr wrap="square" lIns="0" tIns="0" rIns="0" bIns="0" rtlCol="0" anchor="ctr"/>
          <a:lstStyle/>
          <a:p>
            <a:pPr indent="0" marL="0">
              <a:buNone/>
            </a:pPr>
            <a:r>
              <a:rPr lang="en-US" sz="950" b="1" spc="120" kern="0" dirty="0">
                <a:solidFill>
                  <a:srgbClr val="C2703B"/>
                </a:solidFill>
                <a:latin typeface="Calibri" pitchFamily="34" charset="0"/>
                <a:ea typeface="Calibri" pitchFamily="34" charset="-122"/>
                <a:cs typeface="Calibri" pitchFamily="34" charset="-120"/>
              </a:rPr>
              <a:t>THE LPIPS WEIGHT, SWEPT — IDENTICAL MIXTURE, ONE VARIABLE</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4937760"/>
          <a:ext cx="5486400" cy="914400"/>
        </p:xfrm>
        <a:graphic>
          <a:graphicData uri="http://schemas.openxmlformats.org/drawingml/2006/table">
            <a:tbl>
              <a:tblPr/>
              <a:tblGrid>
                <a:gridCol w="1645920"/>
                <a:gridCol w="960120"/>
                <a:gridCol w="960120"/>
                <a:gridCol w="960120"/>
                <a:gridCol w="960120"/>
              </a:tblGrid>
              <a:tr h="26060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w_lpips</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PSNR</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SSIM</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LPIPS</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σ=0.45</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r>
              <a:tr h="260604">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0.00   (pr50-w50)</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23.763</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0.619</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0.355</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+6.03</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60604">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0.02   (lp02)</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23.685</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0.607</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0.220</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+6.00</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60604">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0.05   ★ shipped</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23.632</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0.608</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0.193</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+5.91</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60604">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0.15   (loss-lp15)</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23.479</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0.595</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0.187</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+5.76</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bl>
          </a:graphicData>
        </a:graphic>
      </p:graphicFrame>
      <p:sp>
        <p:nvSpPr>
          <p:cNvPr id="24" name="Shape 21"/>
          <p:cNvSpPr/>
          <p:nvPr/>
        </p:nvSpPr>
        <p:spPr>
          <a:xfrm>
            <a:off x="6263640" y="4617720"/>
            <a:ext cx="5349240" cy="1435608"/>
          </a:xfrm>
          <a:prstGeom prst="roundRect">
            <a:avLst>
              <a:gd name="adj" fmla="val 3822"/>
            </a:avLst>
          </a:prstGeom>
          <a:solidFill>
            <a:srgbClr val="FBF2EC"/>
          </a:solidFill>
          <a:ln w="12700">
            <a:solidFill>
              <a:srgbClr val="FBF2EC"/>
            </a:solidFill>
            <a:prstDash val="solid"/>
          </a:ln>
        </p:spPr>
      </p:sp>
      <p:sp>
        <p:nvSpPr>
          <p:cNvPr id="25" name="Text 22"/>
          <p:cNvSpPr/>
          <p:nvPr/>
        </p:nvSpPr>
        <p:spPr>
          <a:xfrm>
            <a:off x="6537960" y="4773168"/>
            <a:ext cx="4800600" cy="1143000"/>
          </a:xfrm>
          <a:prstGeom prst="rect">
            <a:avLst/>
          </a:prstGeom>
          <a:noFill/>
          <a:ln/>
        </p:spPr>
        <p:txBody>
          <a:bodyPr wrap="square" lIns="0" tIns="0" rIns="0" bIns="0" rtlCol="0" anchor="ctr"/>
          <a:lstStyle/>
          <a:p>
            <a:pPr indent="0" marL="0">
              <a:lnSpc>
                <a:spcPts val="1400"/>
              </a:lnSpc>
              <a:buNone/>
            </a:pPr>
            <a:r>
              <a:rPr lang="en-US" sz="1050" b="1" dirty="0">
                <a:solidFill>
                  <a:srgbClr val="C2703B"/>
                </a:solidFill>
                <a:latin typeface="Calibri" pitchFamily="34" charset="0"/>
                <a:ea typeface="Calibri" pitchFamily="34" charset="-122"/>
                <a:cs typeface="Calibri" pitchFamily="34" charset="-120"/>
              </a:rPr>
              <a:t>0.131 dB buys 46% of the perceptual metric.</a:t>
            </a:r>
            <a:pPr indent="0" marL="0">
              <a:lnSpc>
                <a:spcPts val="1400"/>
              </a:lnSpc>
              <a:buNone/>
            </a:pPr>
            <a:r>
              <a:rPr lang="en-US" sz="1050" dirty="0">
                <a:solidFill>
                  <a:srgbClr val="4A5560"/>
                </a:solidFill>
                <a:latin typeface="Calibri" pitchFamily="34" charset="0"/>
                <a:ea typeface="Calibri" pitchFamily="34" charset="-122"/>
                <a:cs typeface="Calibri" pitchFamily="34" charset="-120"/>
              </a:rPr>
              <a:t>  Going from 0.00 to 0.05 costs 0.131 dB of PSNR and takes LPIPS from 0.355 to 0.193. Going further, from 0.05 to 0.15, costs another 0.153 dB and buys only 0.006 — 25× worse value, and it loses 0.15 dB of noise headroom too. 0.05 is where the curve turns.</a:t>
            </a:r>
            <a:endParaRPr lang="en-US" sz="1050" dirty="0"/>
          </a:p>
          <a:p>
            <a:pPr indent="0" marL="0">
              <a:lnSpc>
                <a:spcPts val="1400"/>
              </a:lnSpc>
              <a:buNone/>
            </a:pPr>
            <a:r>
              <a:rPr lang="en-US" sz="1050" b="1" dirty="0">
                <a:solidFill>
                  <a:srgbClr val="23282E"/>
                </a:solidFill>
                <a:latin typeface="Calibri" pitchFamily="34" charset="0"/>
                <a:ea typeface="Calibri" pitchFamily="34" charset="-122"/>
                <a:cs typeface="Calibri" pitchFamily="34" charset="-120"/>
              </a:rPr>
              <a:t>And it does not hallucinate.</a:t>
            </a:r>
            <a:pPr indent="0" marL="0">
              <a:lnSpc>
                <a:spcPts val="1400"/>
              </a:lnSpc>
              <a:buNone/>
            </a:pPr>
            <a:r>
              <a:rPr lang="en-US" sz="1050" dirty="0">
                <a:solidFill>
                  <a:srgbClr val="4A5560"/>
                </a:solidFill>
                <a:latin typeface="Calibri" pitchFamily="34" charset="0"/>
                <a:ea typeface="Calibri" pitchFamily="34" charset="-122"/>
                <a:cs typeface="Calibri" pitchFamily="34" charset="-120"/>
              </a:rPr>
              <a:t>  Energy above the input’s Nyquist — the band where content is necessarily invented — reads 0.421 for us against bicubic’s 0.375, and zero of our 297 outputs cross ratio 1.0 against bicubic’s fourteen.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400" b="1" dirty="0">
                <a:solidFill>
                  <a:srgbClr val="23282E"/>
                </a:solidFill>
                <a:latin typeface="Cambria" pitchFamily="34" charset="0"/>
                <a:ea typeface="Cambria" pitchFamily="34" charset="-122"/>
                <a:cs typeface="Cambria" pitchFamily="34" charset="-120"/>
              </a:rPr>
              <a:t>Innovation &amp; Uniqueness</a:t>
            </a:r>
            <a:endParaRPr lang="en-US" sz="3400" dirty="0"/>
          </a:p>
        </p:txBody>
      </p:sp>
      <p:sp>
        <p:nvSpPr>
          <p:cNvPr id="3" name="Text 1"/>
          <p:cNvSpPr/>
          <p:nvPr/>
        </p:nvSpPr>
        <p:spPr>
          <a:xfrm>
            <a:off x="548640" y="905256"/>
            <a:ext cx="11064240" cy="310896"/>
          </a:xfrm>
          <a:prstGeom prst="rect">
            <a:avLst/>
          </a:prstGeom>
          <a:noFill/>
          <a:ln/>
        </p:spPr>
        <p:txBody>
          <a:bodyPr wrap="square" lIns="0" tIns="0" rIns="0" bIns="0" rtlCol="0" anchor="ctr"/>
          <a:lstStyle/>
          <a:p>
            <a:pPr indent="0" marL="0">
              <a:buNone/>
            </a:pPr>
            <a:r>
              <a:rPr lang="en-US" sz="1300" i="1" dirty="0">
                <a:solidFill>
                  <a:srgbClr val="7C8895"/>
                </a:solidFill>
                <a:latin typeface="Calibri" pitchFamily="34" charset="0"/>
                <a:ea typeface="Calibri" pitchFamily="34" charset="-122"/>
                <a:cs typeface="Calibri" pitchFamily="34" charset="-120"/>
              </a:rPr>
              <a:t>Four choices that are ours — beginning with the result that reversed our own conclusion</a:t>
            </a:r>
            <a:endParaRPr lang="en-US" sz="1300" dirty="0"/>
          </a:p>
        </p:txBody>
      </p:sp>
      <p:pic>
        <p:nvPicPr>
          <p:cNvPr id="4" name="Image 0" descr="/home/claude/deck5/c_idood.png">    </p:cNvPr>
          <p:cNvPicPr>
            <a:picLocks noChangeAspect="1"/>
          </p:cNvPicPr>
          <p:nvPr/>
        </p:nvPicPr>
        <p:blipFill>
          <a:blip r:embed="rId1"/>
          <a:stretch>
            <a:fillRect/>
          </a:stretch>
        </p:blipFill>
        <p:spPr>
          <a:xfrm>
            <a:off x="502920" y="1371600"/>
            <a:ext cx="5943600" cy="3172968"/>
          </a:xfrm>
          <a:prstGeom prst="rect">
            <a:avLst/>
          </a:prstGeom>
        </p:spPr>
      </p:pic>
      <p:sp>
        <p:nvSpPr>
          <p:cNvPr id="5" name="Text 2"/>
          <p:cNvSpPr/>
          <p:nvPr/>
        </p:nvSpPr>
        <p:spPr>
          <a:xfrm>
            <a:off x="502920" y="4590288"/>
            <a:ext cx="5943600" cy="274320"/>
          </a:xfrm>
          <a:prstGeom prst="rect">
            <a:avLst/>
          </a:prstGeom>
          <a:noFill/>
          <a:ln/>
        </p:spPr>
        <p:txBody>
          <a:bodyPr wrap="square" lIns="0" tIns="0" rIns="0" bIns="0" rtlCol="0" anchor="ctr"/>
          <a:lstStyle/>
          <a:p>
            <a:pPr indent="0" marL="0">
              <a:buNone/>
            </a:pPr>
            <a:r>
              <a:rPr lang="en-US" sz="950" i="1" dirty="0">
                <a:solidFill>
                  <a:srgbClr val="7C8895"/>
                </a:solidFill>
                <a:latin typeface="Calibri" pitchFamily="34" charset="0"/>
                <a:ea typeface="Calibri" pitchFamily="34" charset="-122"/>
                <a:cs typeface="Calibri" pitchFamily="34" charset="-120"/>
              </a:rPr>
              <a:t>Nine noise levels, same held-out images, identical inputs for every model. docs/noise_sweep_*.csv</a:t>
            </a:r>
            <a:endParaRPr lang="en-US" sz="950" dirty="0"/>
          </a:p>
        </p:txBody>
      </p:sp>
      <p:sp>
        <p:nvSpPr>
          <p:cNvPr id="6" name="Shape 3"/>
          <p:cNvSpPr/>
          <p:nvPr/>
        </p:nvSpPr>
        <p:spPr>
          <a:xfrm>
            <a:off x="502920" y="4892040"/>
            <a:ext cx="5943600" cy="1161288"/>
          </a:xfrm>
          <a:prstGeom prst="roundRect">
            <a:avLst>
              <a:gd name="adj" fmla="val 4724"/>
            </a:avLst>
          </a:prstGeom>
          <a:solidFill>
            <a:srgbClr val="FBF2EC"/>
          </a:solidFill>
          <a:ln w="12700">
            <a:solidFill>
              <a:srgbClr val="FBF2EC"/>
            </a:solidFill>
            <a:prstDash val="solid"/>
          </a:ln>
        </p:spPr>
      </p:sp>
      <p:sp>
        <p:nvSpPr>
          <p:cNvPr id="7" name="Text 4"/>
          <p:cNvSpPr/>
          <p:nvPr/>
        </p:nvSpPr>
        <p:spPr>
          <a:xfrm>
            <a:off x="777240" y="5056632"/>
            <a:ext cx="5394960" cy="914400"/>
          </a:xfrm>
          <a:prstGeom prst="rect">
            <a:avLst/>
          </a:prstGeom>
          <a:noFill/>
          <a:ln/>
        </p:spPr>
        <p:txBody>
          <a:bodyPr wrap="square" lIns="0" tIns="0" rIns="0" bIns="0" rtlCol="0" anchor="ctr"/>
          <a:lstStyle/>
          <a:p>
            <a:pPr indent="0" marL="0">
              <a:lnSpc>
                <a:spcPts val="1400"/>
              </a:lnSpc>
              <a:buNone/>
            </a:pPr>
            <a:r>
              <a:rPr lang="en-US" sz="1050" b="1" dirty="0">
                <a:solidFill>
                  <a:srgbClr val="C2703B"/>
                </a:solidFill>
                <a:latin typeface="Calibri" pitchFamily="34" charset="0"/>
                <a:ea typeface="Calibri" pitchFamily="34" charset="-122"/>
                <a:cs typeface="Calibri" pitchFamily="34" charset="-120"/>
              </a:rPr>
              <a:t>For a week we believed the opposite.</a:t>
            </a:r>
            <a:pPr indent="0" marL="0">
              <a:lnSpc>
                <a:spcPts val="1400"/>
              </a:lnSpc>
              <a:buNone/>
            </a:pPr>
            <a:r>
              <a:rPr lang="en-US" sz="1050" dirty="0">
                <a:solidFill>
                  <a:srgbClr val="4A5560"/>
                </a:solidFill>
                <a:latin typeface="Calibri" pitchFamily="34" charset="0"/>
                <a:ea typeface="Calibri" pitchFamily="34" charset="-122"/>
                <a:cs typeface="Calibri" pitchFamily="34" charset="-120"/>
              </a:rPr>
              <a:t>  100% real pairs beat every synthetic mixture on the held-out split — 23.267 vs 23.218 vs 23.134. The measurement was sound; the inference was not. σ ≈ 0.19 is the one operating point where all models agree, so we were resolving 0.13 dB where there is nothing to see.</a:t>
            </a:r>
            <a:endParaRPr lang="en-US" sz="1050" dirty="0"/>
          </a:p>
        </p:txBody>
      </p:sp>
      <p:sp>
        <p:nvSpPr>
          <p:cNvPr id="8" name="Shape 5"/>
          <p:cNvSpPr/>
          <p:nvPr/>
        </p:nvSpPr>
        <p:spPr>
          <a:xfrm>
            <a:off x="6720840" y="1371600"/>
            <a:ext cx="4892040" cy="1060704"/>
          </a:xfrm>
          <a:prstGeom prst="roundRect">
            <a:avLst>
              <a:gd name="adj" fmla="val 5172"/>
            </a:avLst>
          </a:prstGeom>
          <a:solidFill>
            <a:srgbClr val="ECEFF2"/>
          </a:solidFill>
          <a:ln w="12700">
            <a:solidFill>
              <a:srgbClr val="ECEFF2"/>
            </a:solidFill>
            <a:prstDash val="solid"/>
          </a:ln>
        </p:spPr>
      </p:sp>
      <p:sp>
        <p:nvSpPr>
          <p:cNvPr id="9" name="Shape 6"/>
          <p:cNvSpPr/>
          <p:nvPr/>
        </p:nvSpPr>
        <p:spPr>
          <a:xfrm>
            <a:off x="6949440" y="1517904"/>
            <a:ext cx="384048" cy="384048"/>
          </a:xfrm>
          <a:prstGeom prst="ellipse">
            <a:avLst/>
          </a:prstGeom>
          <a:solidFill>
            <a:srgbClr val="C2703B"/>
          </a:solidFill>
          <a:ln w="12700">
            <a:solidFill>
              <a:srgbClr val="C2703B"/>
            </a:solidFill>
            <a:prstDash val="solid"/>
          </a:ln>
        </p:spPr>
      </p:sp>
      <p:sp>
        <p:nvSpPr>
          <p:cNvPr id="10" name="Text 7"/>
          <p:cNvSpPr/>
          <p:nvPr/>
        </p:nvSpPr>
        <p:spPr>
          <a:xfrm>
            <a:off x="6949440" y="151790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Text 8"/>
          <p:cNvSpPr/>
          <p:nvPr/>
        </p:nvSpPr>
        <p:spPr>
          <a:xfrm>
            <a:off x="7452360" y="1499616"/>
            <a:ext cx="4023360" cy="237744"/>
          </a:xfrm>
          <a:prstGeom prst="rect">
            <a:avLst/>
          </a:prstGeom>
          <a:noFill/>
          <a:ln/>
        </p:spPr>
        <p:txBody>
          <a:bodyPr wrap="square" lIns="0" tIns="0" rIns="0" bIns="0" rtlCol="0" anchor="ctr"/>
          <a:lstStyle/>
          <a:p>
            <a:pPr indent="0" marL="0">
              <a:buNone/>
            </a:pPr>
            <a:r>
              <a:rPr lang="en-US" sz="1200" b="1" dirty="0">
                <a:solidFill>
                  <a:srgbClr val="C2703B"/>
                </a:solidFill>
                <a:latin typeface="Calibri" pitchFamily="34" charset="0"/>
                <a:ea typeface="Calibri" pitchFamily="34" charset="-122"/>
                <a:cs typeface="Calibri" pitchFamily="34" charset="-120"/>
              </a:rPr>
              <a:t>The wide degradation family</a:t>
            </a:r>
            <a:endParaRPr lang="en-US" sz="1200" dirty="0"/>
          </a:p>
        </p:txBody>
      </p:sp>
      <p:sp>
        <p:nvSpPr>
          <p:cNvPr id="12" name="Text 9"/>
          <p:cNvSpPr/>
          <p:nvPr/>
        </p:nvSpPr>
        <p:spPr>
          <a:xfrm>
            <a:off x="7452360" y="1755648"/>
            <a:ext cx="4023360" cy="621792"/>
          </a:xfrm>
          <a:prstGeom prst="rect">
            <a:avLst/>
          </a:prstGeom>
          <a:noFill/>
          <a:ln/>
        </p:spPr>
        <p:txBody>
          <a:bodyPr wrap="square" lIns="0" tIns="0" rIns="0" bIns="0" rtlCol="0" anchor="ctr"/>
          <a:lstStyle/>
          <a:p>
            <a:pPr indent="0" marL="0">
              <a:lnSpc>
                <a:spcPts val="1250"/>
              </a:lnSpc>
              <a:buNone/>
            </a:pPr>
            <a:r>
              <a:rPr lang="en-US" sz="950" dirty="0">
                <a:solidFill>
                  <a:srgbClr val="4A5560"/>
                </a:solidFill>
                <a:latin typeface="Calibri" pitchFamily="34" charset="0"/>
                <a:ea typeface="Calibri" pitchFamily="34" charset="-122"/>
                <a:cs typeface="Calibri" pitchFamily="34" charset="-120"/>
              </a:rPr>
              <a:t>Three σ-steps out the real-only model is 4.03 dB behind, and it turns over at σ = 0.25 — the signature of a model that memorised a noise amplitude rather than learning the inverse problem. So we generate breadth on purpose. It costs 0.013 dB in-distribution and buys 3.72 dB outside it.</a:t>
            </a:r>
            <a:endParaRPr lang="en-US" sz="950" dirty="0"/>
          </a:p>
        </p:txBody>
      </p:sp>
      <p:sp>
        <p:nvSpPr>
          <p:cNvPr id="13" name="Shape 10"/>
          <p:cNvSpPr/>
          <p:nvPr/>
        </p:nvSpPr>
        <p:spPr>
          <a:xfrm>
            <a:off x="6720840" y="2542032"/>
            <a:ext cx="4892040" cy="1060704"/>
          </a:xfrm>
          <a:prstGeom prst="roundRect">
            <a:avLst>
              <a:gd name="adj" fmla="val 5172"/>
            </a:avLst>
          </a:prstGeom>
          <a:solidFill>
            <a:srgbClr val="ECEFF2"/>
          </a:solidFill>
          <a:ln w="12700">
            <a:solidFill>
              <a:srgbClr val="ECEFF2"/>
            </a:solidFill>
            <a:prstDash val="solid"/>
          </a:ln>
        </p:spPr>
      </p:sp>
      <p:sp>
        <p:nvSpPr>
          <p:cNvPr id="14" name="Shape 11"/>
          <p:cNvSpPr/>
          <p:nvPr/>
        </p:nvSpPr>
        <p:spPr>
          <a:xfrm>
            <a:off x="6949440" y="2688336"/>
            <a:ext cx="384048" cy="384048"/>
          </a:xfrm>
          <a:prstGeom prst="ellipse">
            <a:avLst/>
          </a:prstGeom>
          <a:solidFill>
            <a:srgbClr val="C2703B"/>
          </a:solidFill>
          <a:ln w="12700">
            <a:solidFill>
              <a:srgbClr val="C2703B"/>
            </a:solidFill>
            <a:prstDash val="solid"/>
          </a:ln>
        </p:spPr>
      </p:sp>
      <p:sp>
        <p:nvSpPr>
          <p:cNvPr id="15" name="Text 12"/>
          <p:cNvSpPr/>
          <p:nvPr/>
        </p:nvSpPr>
        <p:spPr>
          <a:xfrm>
            <a:off x="6949440" y="268833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7452360" y="2670048"/>
            <a:ext cx="4023360" cy="237744"/>
          </a:xfrm>
          <a:prstGeom prst="rect">
            <a:avLst/>
          </a:prstGeom>
          <a:noFill/>
          <a:ln/>
        </p:spPr>
        <p:txBody>
          <a:bodyPr wrap="square" lIns="0" tIns="0" rIns="0" bIns="0" rtlCol="0" anchor="ctr"/>
          <a:lstStyle/>
          <a:p>
            <a:pPr indent="0" marL="0">
              <a:buNone/>
            </a:pPr>
            <a:r>
              <a:rPr lang="en-US" sz="1200" b="1" dirty="0">
                <a:solidFill>
                  <a:srgbClr val="C2703B"/>
                </a:solidFill>
                <a:latin typeface="Calibri" pitchFamily="34" charset="0"/>
                <a:ea typeface="Calibri" pitchFamily="34" charset="-122"/>
                <a:cs typeface="Calibri" pitchFamily="34" charset="-120"/>
              </a:rPr>
              <a:t>A measured noise floor, before any claim</a:t>
            </a:r>
            <a:endParaRPr lang="en-US" sz="1200" dirty="0"/>
          </a:p>
        </p:txBody>
      </p:sp>
      <p:sp>
        <p:nvSpPr>
          <p:cNvPr id="17" name="Text 14"/>
          <p:cNvSpPr/>
          <p:nvPr/>
        </p:nvSpPr>
        <p:spPr>
          <a:xfrm>
            <a:off x="7452360" y="2926080"/>
            <a:ext cx="4023360" cy="621792"/>
          </a:xfrm>
          <a:prstGeom prst="rect">
            <a:avLst/>
          </a:prstGeom>
          <a:noFill/>
          <a:ln/>
        </p:spPr>
        <p:txBody>
          <a:bodyPr wrap="square" lIns="0" tIns="0" rIns="0" bIns="0" rtlCol="0" anchor="ctr"/>
          <a:lstStyle/>
          <a:p>
            <a:pPr indent="0" marL="0">
              <a:lnSpc>
                <a:spcPts val="1250"/>
              </a:lnSpc>
              <a:buNone/>
            </a:pPr>
            <a:r>
              <a:rPr lang="en-US" sz="950" dirty="0">
                <a:solidFill>
                  <a:srgbClr val="4A5560"/>
                </a:solidFill>
                <a:latin typeface="Calibri" pitchFamily="34" charset="0"/>
                <a:ea typeface="Calibri" pitchFamily="34" charset="-122"/>
                <a:cs typeface="Calibri" pitchFamily="34" charset="-120"/>
              </a:rPr>
              <a:t>Two seeds, 0.0049 dB apart. Ten of our eleven interventions failed to clear it — including 9× more data and a 2.7× bigger model. Publishing them as nulls is why the two that did clear it are believable.</a:t>
            </a:r>
            <a:endParaRPr lang="en-US" sz="950" dirty="0"/>
          </a:p>
        </p:txBody>
      </p:sp>
      <p:sp>
        <p:nvSpPr>
          <p:cNvPr id="18" name="Shape 15"/>
          <p:cNvSpPr/>
          <p:nvPr/>
        </p:nvSpPr>
        <p:spPr>
          <a:xfrm>
            <a:off x="6720840" y="3712464"/>
            <a:ext cx="4892040" cy="1060704"/>
          </a:xfrm>
          <a:prstGeom prst="roundRect">
            <a:avLst>
              <a:gd name="adj" fmla="val 5172"/>
            </a:avLst>
          </a:prstGeom>
          <a:solidFill>
            <a:srgbClr val="ECEFF2"/>
          </a:solidFill>
          <a:ln w="12700">
            <a:solidFill>
              <a:srgbClr val="ECEFF2"/>
            </a:solidFill>
            <a:prstDash val="solid"/>
          </a:ln>
        </p:spPr>
      </p:sp>
      <p:sp>
        <p:nvSpPr>
          <p:cNvPr id="19" name="Shape 16"/>
          <p:cNvSpPr/>
          <p:nvPr/>
        </p:nvSpPr>
        <p:spPr>
          <a:xfrm>
            <a:off x="6949440" y="3858768"/>
            <a:ext cx="384048" cy="384048"/>
          </a:xfrm>
          <a:prstGeom prst="ellipse">
            <a:avLst/>
          </a:prstGeom>
          <a:solidFill>
            <a:srgbClr val="C2703B"/>
          </a:solidFill>
          <a:ln w="12700">
            <a:solidFill>
              <a:srgbClr val="C2703B"/>
            </a:solidFill>
            <a:prstDash val="solid"/>
          </a:ln>
        </p:spPr>
      </p:sp>
      <p:sp>
        <p:nvSpPr>
          <p:cNvPr id="20" name="Text 17"/>
          <p:cNvSpPr/>
          <p:nvPr/>
        </p:nvSpPr>
        <p:spPr>
          <a:xfrm>
            <a:off x="6949440" y="3858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7452360" y="3840480"/>
            <a:ext cx="4023360" cy="237744"/>
          </a:xfrm>
          <a:prstGeom prst="rect">
            <a:avLst/>
          </a:prstGeom>
          <a:noFill/>
          <a:ln/>
        </p:spPr>
        <p:txBody>
          <a:bodyPr wrap="square" lIns="0" tIns="0" rIns="0" bIns="0" rtlCol="0" anchor="ctr"/>
          <a:lstStyle/>
          <a:p>
            <a:pPr indent="0" marL="0">
              <a:buNone/>
            </a:pPr>
            <a:r>
              <a:rPr lang="en-US" sz="1200" b="1" dirty="0">
                <a:solidFill>
                  <a:srgbClr val="C2703B"/>
                </a:solidFill>
                <a:latin typeface="Calibri" pitchFamily="34" charset="0"/>
                <a:ea typeface="Calibri" pitchFamily="34" charset="-122"/>
                <a:cs typeface="Calibri" pitchFamily="34" charset="-120"/>
              </a:rPr>
              <a:t>A hallucination guard, not abstinence</a:t>
            </a:r>
            <a:endParaRPr lang="en-US" sz="1200" dirty="0"/>
          </a:p>
        </p:txBody>
      </p:sp>
      <p:sp>
        <p:nvSpPr>
          <p:cNvPr id="22" name="Text 19"/>
          <p:cNvSpPr/>
          <p:nvPr/>
        </p:nvSpPr>
        <p:spPr>
          <a:xfrm>
            <a:off x="7452360" y="4096512"/>
            <a:ext cx="4023360" cy="621792"/>
          </a:xfrm>
          <a:prstGeom prst="rect">
            <a:avLst/>
          </a:prstGeom>
          <a:noFill/>
          <a:ln/>
        </p:spPr>
        <p:txBody>
          <a:bodyPr wrap="square" lIns="0" tIns="0" rIns="0" bIns="0" rtlCol="0" anchor="ctr"/>
          <a:lstStyle/>
          <a:p>
            <a:pPr indent="0" marL="0">
              <a:lnSpc>
                <a:spcPts val="1250"/>
              </a:lnSpc>
              <a:buNone/>
            </a:pPr>
            <a:r>
              <a:rPr lang="en-US" sz="950" dirty="0">
                <a:solidFill>
                  <a:srgbClr val="4A5560"/>
                </a:solidFill>
                <a:latin typeface="Calibri" pitchFamily="34" charset="0"/>
                <a:ea typeface="Calibri" pitchFamily="34" charset="-122"/>
                <a:cs typeface="Calibri" pitchFamily="34" charset="-120"/>
              </a:rPr>
              <a:t>We measure energy above the input’s Nyquist — the band where content is necessarily invented. Ours 0.421 against bicubic’s 0.375, and zero of our 297 outputs cross ratio 1.0 against bicubic’s fourteen. That is what licenses a perceptual loss on inspection data.</a:t>
            </a:r>
            <a:endParaRPr lang="en-US" sz="950" dirty="0"/>
          </a:p>
        </p:txBody>
      </p:sp>
      <p:sp>
        <p:nvSpPr>
          <p:cNvPr id="23" name="Shape 20"/>
          <p:cNvSpPr/>
          <p:nvPr/>
        </p:nvSpPr>
        <p:spPr>
          <a:xfrm>
            <a:off x="6720840" y="4882896"/>
            <a:ext cx="4892040" cy="1060704"/>
          </a:xfrm>
          <a:prstGeom prst="roundRect">
            <a:avLst>
              <a:gd name="adj" fmla="val 5172"/>
            </a:avLst>
          </a:prstGeom>
          <a:solidFill>
            <a:srgbClr val="ECEFF2"/>
          </a:solidFill>
          <a:ln w="12700">
            <a:solidFill>
              <a:srgbClr val="ECEFF2"/>
            </a:solidFill>
            <a:prstDash val="solid"/>
          </a:ln>
        </p:spPr>
      </p:sp>
      <p:sp>
        <p:nvSpPr>
          <p:cNvPr id="24" name="Shape 21"/>
          <p:cNvSpPr/>
          <p:nvPr/>
        </p:nvSpPr>
        <p:spPr>
          <a:xfrm>
            <a:off x="6949440" y="5029200"/>
            <a:ext cx="384048" cy="384048"/>
          </a:xfrm>
          <a:prstGeom prst="ellipse">
            <a:avLst/>
          </a:prstGeom>
          <a:solidFill>
            <a:srgbClr val="C2703B"/>
          </a:solidFill>
          <a:ln w="12700">
            <a:solidFill>
              <a:srgbClr val="C2703B"/>
            </a:solidFill>
            <a:prstDash val="solid"/>
          </a:ln>
        </p:spPr>
      </p:sp>
      <p:sp>
        <p:nvSpPr>
          <p:cNvPr id="25" name="Text 22"/>
          <p:cNvSpPr/>
          <p:nvPr/>
        </p:nvSpPr>
        <p:spPr>
          <a:xfrm>
            <a:off x="6949440" y="50292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6" name="Text 23"/>
          <p:cNvSpPr/>
          <p:nvPr/>
        </p:nvSpPr>
        <p:spPr>
          <a:xfrm>
            <a:off x="7452360" y="5010912"/>
            <a:ext cx="4023360" cy="237744"/>
          </a:xfrm>
          <a:prstGeom prst="rect">
            <a:avLst/>
          </a:prstGeom>
          <a:noFill/>
          <a:ln/>
        </p:spPr>
        <p:txBody>
          <a:bodyPr wrap="square" lIns="0" tIns="0" rIns="0" bIns="0" rtlCol="0" anchor="ctr"/>
          <a:lstStyle/>
          <a:p>
            <a:pPr indent="0" marL="0">
              <a:buNone/>
            </a:pPr>
            <a:r>
              <a:rPr lang="en-US" sz="1200" b="1" dirty="0">
                <a:solidFill>
                  <a:srgbClr val="C2703B"/>
                </a:solidFill>
                <a:latin typeface="Calibri" pitchFamily="34" charset="0"/>
                <a:ea typeface="Calibri" pitchFamily="34" charset="-122"/>
                <a:cs typeface="Calibri" pitchFamily="34" charset="-120"/>
              </a:rPr>
              <a:t>We used the labels the source dataset already had</a:t>
            </a:r>
            <a:endParaRPr lang="en-US" sz="1200" dirty="0"/>
          </a:p>
        </p:txBody>
      </p:sp>
      <p:sp>
        <p:nvSpPr>
          <p:cNvPr id="27" name="Text 24"/>
          <p:cNvSpPr/>
          <p:nvPr/>
        </p:nvSpPr>
        <p:spPr>
          <a:xfrm>
            <a:off x="7452360" y="5266944"/>
            <a:ext cx="4023360" cy="621792"/>
          </a:xfrm>
          <a:prstGeom prst="rect">
            <a:avLst/>
          </a:prstGeom>
          <a:noFill/>
          <a:ln/>
        </p:spPr>
        <p:txBody>
          <a:bodyPr wrap="square" lIns="0" tIns="0" rIns="0" bIns="0" rtlCol="0" anchor="ctr"/>
          <a:lstStyle/>
          <a:p>
            <a:pPr indent="0" marL="0">
              <a:lnSpc>
                <a:spcPts val="1250"/>
              </a:lnSpc>
              <a:buNone/>
            </a:pPr>
            <a:r>
              <a:rPr lang="en-US" sz="950" dirty="0">
                <a:solidFill>
                  <a:srgbClr val="4A5560"/>
                </a:solidFill>
                <a:latin typeface="Calibri" pitchFamily="34" charset="0"/>
                <a:ea typeface="Calibri" pitchFamily="34" charset="-122"/>
                <a:cs typeface="Calibri" pitchFamily="34" charset="-120"/>
              </a:rPr>
              <a:t>We tried to recover KLA’s category boundaries from spectral content and failed — one number cannot separate ten morphologies. NFFA-EUROPE, the corpus KLA’s images come from, ships the labels. Ten named classes, all positive.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400" b="1" dirty="0">
                <a:solidFill>
                  <a:srgbClr val="23282E"/>
                </a:solidFill>
                <a:latin typeface="Cambria" pitchFamily="34" charset="0"/>
                <a:ea typeface="Cambria" pitchFamily="34" charset="-122"/>
                <a:cs typeface="Cambria" pitchFamily="34" charset="-120"/>
              </a:rPr>
              <a:t>Model Selection</a:t>
            </a:r>
            <a:endParaRPr lang="en-US" sz="3400" dirty="0"/>
          </a:p>
        </p:txBody>
      </p:sp>
      <p:sp>
        <p:nvSpPr>
          <p:cNvPr id="3" name="Text 1"/>
          <p:cNvSpPr/>
          <p:nvPr/>
        </p:nvSpPr>
        <p:spPr>
          <a:xfrm>
            <a:off x="548640" y="905256"/>
            <a:ext cx="11064240" cy="310896"/>
          </a:xfrm>
          <a:prstGeom prst="rect">
            <a:avLst/>
          </a:prstGeom>
          <a:noFill/>
          <a:ln/>
        </p:spPr>
        <p:txBody>
          <a:bodyPr wrap="square" lIns="0" tIns="0" rIns="0" bIns="0" rtlCol="0" anchor="ctr"/>
          <a:lstStyle/>
          <a:p>
            <a:pPr indent="0" marL="0">
              <a:buNone/>
            </a:pPr>
            <a:r>
              <a:rPr lang="en-US" sz="1300" i="1" dirty="0">
                <a:solidFill>
                  <a:srgbClr val="7C8895"/>
                </a:solidFill>
                <a:latin typeface="Calibri" pitchFamily="34" charset="0"/>
                <a:ea typeface="Calibri" pitchFamily="34" charset="-122"/>
                <a:cs typeface="Calibri" pitchFamily="34" charset="-120"/>
              </a:rPr>
              <a:t>Eleven 120-epoch checkpoints from the selection queue, plus the 100%-real baseline — one scoring pass, on the organisers’ own 297 images</a:t>
            </a:r>
            <a:endParaRPr lang="en-US" sz="1300" dirty="0"/>
          </a:p>
        </p:txBody>
      </p:sp>
      <p:pic>
        <p:nvPicPr>
          <p:cNvPr id="4" name="Image 0" descr="/home/claude/deck5/c_frontier.png">    </p:cNvPr>
          <p:cNvPicPr>
            <a:picLocks noChangeAspect="1"/>
          </p:cNvPicPr>
          <p:nvPr/>
        </p:nvPicPr>
        <p:blipFill>
          <a:blip r:embed="rId1"/>
          <a:stretch>
            <a:fillRect/>
          </a:stretch>
        </p:blipFill>
        <p:spPr>
          <a:xfrm>
            <a:off x="502920" y="1371600"/>
            <a:ext cx="5669280" cy="3255264"/>
          </a:xfrm>
          <a:prstGeom prst="rect">
            <a:avLst/>
          </a:prstGeom>
        </p:spPr>
      </p:pic>
      <p:sp>
        <p:nvSpPr>
          <p:cNvPr id="5" name="Text 2"/>
          <p:cNvSpPr/>
          <p:nvPr/>
        </p:nvSpPr>
        <p:spPr>
          <a:xfrm>
            <a:off x="502920" y="4663440"/>
            <a:ext cx="5669280" cy="274320"/>
          </a:xfrm>
          <a:prstGeom prst="rect">
            <a:avLst/>
          </a:prstGeom>
          <a:noFill/>
          <a:ln/>
        </p:spPr>
        <p:txBody>
          <a:bodyPr wrap="square" lIns="0" tIns="0" rIns="0" bIns="0" rtlCol="0" anchor="ctr"/>
          <a:lstStyle/>
          <a:p>
            <a:pPr indent="0" marL="0">
              <a:buNone/>
            </a:pPr>
            <a:r>
              <a:rPr lang="en-US" sz="950" i="1" dirty="0">
                <a:solidFill>
                  <a:srgbClr val="7C8895"/>
                </a:solidFill>
                <a:latin typeface="Calibri" pitchFamily="34" charset="0"/>
                <a:ea typeface="Calibri" pitchFamily="34" charset="-122"/>
                <a:cs typeface="Calibri" pitchFamily="34" charset="-120"/>
              </a:rPr>
              <a:t>Circled: the efficient frontier — nothing beats them on both axes. Bicubic 20.455 / 0.5099 / 0.4655, identical for all eleven.</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355080" y="1371600"/>
          <a:ext cx="5257800" cy="914400"/>
        </p:xfrm>
        <a:graphic>
          <a:graphicData uri="http://schemas.openxmlformats.org/drawingml/2006/table">
            <a:tbl>
              <a:tblPr/>
              <a:tblGrid>
                <a:gridCol w="2286000"/>
                <a:gridCol w="777240"/>
                <a:gridCol w="731520"/>
                <a:gridCol w="731520"/>
                <a:gridCol w="731520"/>
              </a:tblGrid>
              <a:tr h="22402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checkpoint</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PSNR</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SSIM</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LPIPS</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σ=0.45</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r>
              <a:tr h="224028">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r2-preal1   100% real pairs</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b="1" dirty="0">
                          <a:solidFill>
                            <a:srgbClr val="23282E"/>
                          </a:solidFill>
                          <a:latin typeface="Calibri" pitchFamily="34" charset="0"/>
                          <a:ea typeface="Calibri" pitchFamily="34" charset="-122"/>
                          <a:cs typeface="Calibri" pitchFamily="34" charset="-120"/>
                        </a:rPr>
                        <a:t>23.866</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b="1" dirty="0">
                          <a:solidFill>
                            <a:srgbClr val="23282E"/>
                          </a:solidFill>
                          <a:latin typeface="Calibri" pitchFamily="34" charset="0"/>
                          <a:ea typeface="Calibri" pitchFamily="34" charset="-122"/>
                          <a:cs typeface="Calibri" pitchFamily="34" charset="-120"/>
                        </a:rPr>
                        <a:t>0.632</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0.337</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b="1" dirty="0">
                          <a:solidFill>
                            <a:srgbClr val="C2703B"/>
                          </a:solidFill>
                          <a:latin typeface="Calibri" pitchFamily="34" charset="0"/>
                          <a:ea typeface="Calibri" pitchFamily="34" charset="-122"/>
                          <a:cs typeface="Calibri" pitchFamily="34" charset="-120"/>
                        </a:rPr>
                        <a:t>+1.88</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24028">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pr50-w50   wide, no LPIPS</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23.763</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0.619</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0.355</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+6.03</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24028">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pr30-w00   no wide family</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23.757</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0.613</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0.368</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b="1" dirty="0">
                          <a:solidFill>
                            <a:srgbClr val="C2703B"/>
                          </a:solidFill>
                          <a:latin typeface="Calibri" pitchFamily="34" charset="0"/>
                          <a:ea typeface="Calibri" pitchFamily="34" charset="-122"/>
                          <a:cs typeface="Calibri" pitchFamily="34" charset="-120"/>
                        </a:rPr>
                        <a:t>+2.36</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24028">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pr50-w00</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23.755</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0.620</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0.353</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24028">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pr30-w50</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23.743</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0.612</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0.368</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+6.08</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24028">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pr30-w100   all-wide</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23.740</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0.611</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0.375</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24028">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lp02</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23.685</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0.607</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0.220</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+6.00</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24028">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pr30-w50-hard   content-balanced</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23.639</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0.611</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0.340</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24028">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loss-ss30   SSIM 0.30</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23.634</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0.616</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0.369</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24028">
                <a:tc>
                  <a:txBody>
                    <a:bodyPr/>
                    <a:lstStyle/>
                    <a:p>
                      <a:pPr indent="0" marL="0">
                        <a:buNone/>
                      </a:pPr>
                      <a:r>
                        <a:rPr lang="en-US" sz="950" b="1" dirty="0">
                          <a:solidFill>
                            <a:srgbClr val="23282E"/>
                          </a:solidFill>
                          <a:latin typeface="Calibri" pitchFamily="34" charset="0"/>
                          <a:ea typeface="Calibri" pitchFamily="34" charset="-122"/>
                          <a:cs typeface="Calibri" pitchFamily="34" charset="-120"/>
                        </a:rPr>
                        <a:t>pr50-w50-lp05   ★ shipped</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b="1" dirty="0">
                          <a:solidFill>
                            <a:srgbClr val="23282E"/>
                          </a:solidFill>
                          <a:latin typeface="Calibri" pitchFamily="34" charset="0"/>
                          <a:ea typeface="Calibri" pitchFamily="34" charset="-122"/>
                          <a:cs typeface="Calibri" pitchFamily="34" charset="-120"/>
                        </a:rPr>
                        <a:t>23.632</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b="1" dirty="0">
                          <a:solidFill>
                            <a:srgbClr val="23282E"/>
                          </a:solidFill>
                          <a:latin typeface="Calibri" pitchFamily="34" charset="0"/>
                          <a:ea typeface="Calibri" pitchFamily="34" charset="-122"/>
                          <a:cs typeface="Calibri" pitchFamily="34" charset="-120"/>
                        </a:rPr>
                        <a:t>0.608</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b="1" dirty="0">
                          <a:solidFill>
                            <a:srgbClr val="23282E"/>
                          </a:solidFill>
                          <a:latin typeface="Calibri" pitchFamily="34" charset="0"/>
                          <a:ea typeface="Calibri" pitchFamily="34" charset="-122"/>
                          <a:cs typeface="Calibri" pitchFamily="34" charset="-120"/>
                        </a:rPr>
                        <a:t>0.193</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b="1" dirty="0">
                          <a:solidFill>
                            <a:srgbClr val="23282E"/>
                          </a:solidFill>
                          <a:latin typeface="Calibri" pitchFamily="34" charset="0"/>
                          <a:ea typeface="Calibri" pitchFamily="34" charset="-122"/>
                          <a:cs typeface="Calibri" pitchFamily="34" charset="-120"/>
                        </a:rPr>
                        <a:t>+5.91</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24028">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loss-lp05</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23.608</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0.604</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0.198</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+5.91</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24028">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loss-lp15</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23.479</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0.595</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b="1" dirty="0">
                          <a:solidFill>
                            <a:srgbClr val="23282E"/>
                          </a:solidFill>
                          <a:latin typeface="Calibri" pitchFamily="34" charset="0"/>
                          <a:ea typeface="Calibri" pitchFamily="34" charset="-122"/>
                          <a:cs typeface="Calibri" pitchFamily="34" charset="-120"/>
                        </a:rPr>
                        <a:t>0.187</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+5.76</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bl>
          </a:graphicData>
        </a:graphic>
      </p:graphicFrame>
      <p:sp>
        <p:nvSpPr>
          <p:cNvPr id="7" name="Shape 3"/>
          <p:cNvSpPr/>
          <p:nvPr/>
        </p:nvSpPr>
        <p:spPr>
          <a:xfrm>
            <a:off x="502920" y="4956048"/>
            <a:ext cx="5669280" cy="1097280"/>
          </a:xfrm>
          <a:prstGeom prst="roundRect">
            <a:avLst>
              <a:gd name="adj" fmla="val 5000"/>
            </a:avLst>
          </a:prstGeom>
          <a:solidFill>
            <a:srgbClr val="FBF2EC"/>
          </a:solidFill>
          <a:ln w="12700">
            <a:solidFill>
              <a:srgbClr val="FBF2EC"/>
            </a:solidFill>
            <a:prstDash val="solid"/>
          </a:ln>
        </p:spPr>
      </p:sp>
      <p:sp>
        <p:nvSpPr>
          <p:cNvPr id="8" name="Text 4"/>
          <p:cNvSpPr/>
          <p:nvPr/>
        </p:nvSpPr>
        <p:spPr>
          <a:xfrm>
            <a:off x="777240" y="5102352"/>
            <a:ext cx="5120640" cy="914400"/>
          </a:xfrm>
          <a:prstGeom prst="rect">
            <a:avLst/>
          </a:prstGeom>
          <a:noFill/>
          <a:ln/>
        </p:spPr>
        <p:txBody>
          <a:bodyPr wrap="square" lIns="0" tIns="0" rIns="0" bIns="0" rtlCol="0" anchor="ctr"/>
          <a:lstStyle/>
          <a:p>
            <a:pPr indent="0" marL="0">
              <a:lnSpc>
                <a:spcPts val="1300"/>
              </a:lnSpc>
              <a:buNone/>
            </a:pPr>
            <a:r>
              <a:rPr lang="en-US" sz="1000" b="1" dirty="0">
                <a:solidFill>
                  <a:srgbClr val="C2703B"/>
                </a:solidFill>
                <a:latin typeface="Calibri" pitchFamily="34" charset="0"/>
                <a:ea typeface="Calibri" pitchFamily="34" charset="-122"/>
                <a:cs typeface="Calibri" pitchFamily="34" charset="-120"/>
              </a:rPr>
              <a:t>We do not have the best PSNR, and that is the decision.</a:t>
            </a:r>
            <a:pPr indent="0" marL="0">
              <a:lnSpc>
                <a:spcPts val="1300"/>
              </a:lnSpc>
              <a:buNone/>
            </a:pPr>
            <a:r>
              <a:rPr lang="en-US" sz="1000" dirty="0">
                <a:solidFill>
                  <a:srgbClr val="4A5560"/>
                </a:solidFill>
                <a:latin typeface="Calibri" pitchFamily="34" charset="0"/>
                <a:ea typeface="Calibri" pitchFamily="34" charset="-122"/>
                <a:cs typeface="Calibri" pitchFamily="34" charset="-120"/>
              </a:rPr>
              <a:t>  We are ninth of eleven on it. Across the whole field the worst PSNR gain still keeps 91.4% of the best; the worst LPIPS reduction keeps only 32.5%. Ship perceptual and LPIPS turns out unscored → we lose 6.9% of achievable PSNR gain. Ship non-perceptual and it IS scored → we lose 52.7% of achievable LPIPS, plus 4.03 dB of noise headroom. A 7.6× asymmetry, so we insured against the large loss.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400" b="1" dirty="0">
                <a:solidFill>
                  <a:srgbClr val="23282E"/>
                </a:solidFill>
                <a:latin typeface="Cambria" pitchFamily="34" charset="0"/>
                <a:ea typeface="Cambria" pitchFamily="34" charset="-122"/>
                <a:cs typeface="Cambria" pitchFamily="34" charset="-120"/>
              </a:rPr>
              <a:t>Results</a:t>
            </a:r>
            <a:endParaRPr lang="en-US" sz="3400" dirty="0"/>
          </a:p>
        </p:txBody>
      </p:sp>
      <p:sp>
        <p:nvSpPr>
          <p:cNvPr id="3" name="Text 1"/>
          <p:cNvSpPr/>
          <p:nvPr/>
        </p:nvSpPr>
        <p:spPr>
          <a:xfrm>
            <a:off x="548640" y="905256"/>
            <a:ext cx="11064240" cy="310896"/>
          </a:xfrm>
          <a:prstGeom prst="rect">
            <a:avLst/>
          </a:prstGeom>
          <a:noFill/>
          <a:ln/>
        </p:spPr>
        <p:txBody>
          <a:bodyPr wrap="square" lIns="0" tIns="0" rIns="0" bIns="0" rtlCol="0" anchor="ctr"/>
          <a:lstStyle/>
          <a:p>
            <a:pPr indent="0" marL="0">
              <a:buNone/>
            </a:pPr>
            <a:r>
              <a:rPr lang="en-US" sz="1300" i="1" dirty="0">
                <a:solidFill>
                  <a:srgbClr val="7C8895"/>
                </a:solidFill>
                <a:latin typeface="Calibri" pitchFamily="34" charset="0"/>
                <a:ea typeface="Calibri" pitchFamily="34" charset="-122"/>
                <a:cs typeface="Calibri" pitchFamily="34" charset="-120"/>
              </a:rPr>
              <a:t>The organisers’ own 297-image test set — zero overlap with training, verified by SHA-1</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5806440" cy="914400"/>
        </p:xfrm>
        <a:graphic>
          <a:graphicData uri="http://schemas.openxmlformats.org/drawingml/2006/table">
            <a:tbl>
              <a:tblPr/>
              <a:tblGrid>
                <a:gridCol w="2743200"/>
                <a:gridCol w="1051560"/>
                <a:gridCol w="1005840"/>
                <a:gridCol w="100584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PSNR ↑</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SSIM ↑</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LPIPS ↓</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r>
              <a:tr h="310896">
                <a:tc>
                  <a:txBody>
                    <a:bodyPr/>
                    <a:lstStyle/>
                    <a:p>
                      <a:pPr indent="0" marL="0">
                        <a:buNone/>
                      </a:pPr>
                      <a:r>
                        <a:rPr lang="en-US" sz="1100" dirty="0">
                          <a:solidFill>
                            <a:srgbClr val="4A5560"/>
                          </a:solidFill>
                          <a:latin typeface="Calibri" pitchFamily="34" charset="0"/>
                          <a:ea typeface="Calibri" pitchFamily="34" charset="-122"/>
                          <a:cs typeface="Calibri" pitchFamily="34" charset="-120"/>
                        </a:rPr>
                        <a:t>Bicubic ×2  (no denoising)</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100" dirty="0">
                          <a:solidFill>
                            <a:srgbClr val="4A5560"/>
                          </a:solidFill>
                          <a:latin typeface="Calibri" pitchFamily="34" charset="0"/>
                          <a:ea typeface="Calibri" pitchFamily="34" charset="-122"/>
                          <a:cs typeface="Calibri" pitchFamily="34" charset="-120"/>
                        </a:rPr>
                        <a:t>20.455</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100" dirty="0">
                          <a:solidFill>
                            <a:srgbClr val="4A5560"/>
                          </a:solidFill>
                          <a:latin typeface="Calibri" pitchFamily="34" charset="0"/>
                          <a:ea typeface="Calibri" pitchFamily="34" charset="-122"/>
                          <a:cs typeface="Calibri" pitchFamily="34" charset="-120"/>
                        </a:rPr>
                        <a:t>0.5099</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100" dirty="0">
                          <a:solidFill>
                            <a:srgbClr val="4A5560"/>
                          </a:solidFill>
                          <a:latin typeface="Calibri" pitchFamily="34" charset="0"/>
                          <a:ea typeface="Calibri" pitchFamily="34" charset="-122"/>
                          <a:cs typeface="Calibri" pitchFamily="34" charset="-120"/>
                        </a:rPr>
                        <a:t>0.4655</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310896">
                <a:tc>
                  <a:txBody>
                    <a:bodyPr/>
                    <a:lstStyle/>
                    <a:p>
                      <a:pPr indent="0" marL="0">
                        <a:buNone/>
                      </a:pPr>
                      <a:r>
                        <a:rPr lang="en-US" sz="1100" b="1" dirty="0">
                          <a:solidFill>
                            <a:srgbClr val="23282E"/>
                          </a:solidFill>
                          <a:latin typeface="Calibri" pitchFamily="34" charset="0"/>
                          <a:ea typeface="Calibri" pitchFamily="34" charset="-122"/>
                          <a:cs typeface="Calibri" pitchFamily="34" charset="-120"/>
                        </a:rPr>
                        <a:t>Ours — 1.37 M params  ★ submitted</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100" b="1" dirty="0">
                          <a:solidFill>
                            <a:srgbClr val="23282E"/>
                          </a:solidFill>
                          <a:latin typeface="Calibri" pitchFamily="34" charset="0"/>
                          <a:ea typeface="Calibri" pitchFamily="34" charset="-122"/>
                          <a:cs typeface="Calibri" pitchFamily="34" charset="-120"/>
                        </a:rPr>
                        <a:t>23.632</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100" b="1" dirty="0">
                          <a:solidFill>
                            <a:srgbClr val="23282E"/>
                          </a:solidFill>
                          <a:latin typeface="Calibri" pitchFamily="34" charset="0"/>
                          <a:ea typeface="Calibri" pitchFamily="34" charset="-122"/>
                          <a:cs typeface="Calibri" pitchFamily="34" charset="-120"/>
                        </a:rPr>
                        <a:t>0.6079</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100" b="1" dirty="0">
                          <a:solidFill>
                            <a:srgbClr val="23282E"/>
                          </a:solidFill>
                          <a:latin typeface="Calibri" pitchFamily="34" charset="0"/>
                          <a:ea typeface="Calibri" pitchFamily="34" charset="-122"/>
                          <a:cs typeface="Calibri" pitchFamily="34" charset="-120"/>
                        </a:rPr>
                        <a:t>0.1929</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310896">
                <a:tc>
                  <a:txBody>
                    <a:bodyPr/>
                    <a:lstStyle/>
                    <a:p>
                      <a:pPr indent="0" marL="0">
                        <a:buNone/>
                      </a:pPr>
                      <a:r>
                        <a:rPr lang="en-US" sz="1100" b="1" dirty="0">
                          <a:solidFill>
                            <a:srgbClr val="23282E"/>
                          </a:solidFill>
                          <a:latin typeface="Calibri" pitchFamily="34" charset="0"/>
                          <a:ea typeface="Calibri" pitchFamily="34" charset="-122"/>
                          <a:cs typeface="Calibri" pitchFamily="34" charset="-120"/>
                        </a:rPr>
                        <a:t>gain</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100" b="1" dirty="0">
                          <a:solidFill>
                            <a:srgbClr val="23282E"/>
                          </a:solidFill>
                          <a:latin typeface="Calibri" pitchFamily="34" charset="0"/>
                          <a:ea typeface="Calibri" pitchFamily="34" charset="-122"/>
                          <a:cs typeface="Calibri" pitchFamily="34" charset="-120"/>
                        </a:rPr>
                        <a:t>+3.18 dB</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100" b="1" dirty="0">
                          <a:solidFill>
                            <a:srgbClr val="23282E"/>
                          </a:solidFill>
                          <a:latin typeface="Calibri" pitchFamily="34" charset="0"/>
                          <a:ea typeface="Calibri" pitchFamily="34" charset="-122"/>
                          <a:cs typeface="Calibri" pitchFamily="34" charset="-120"/>
                        </a:rPr>
                        <a:t>+0.098</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100" b="1" dirty="0">
                          <a:solidFill>
                            <a:srgbClr val="23282E"/>
                          </a:solidFill>
                          <a:latin typeface="Calibri" pitchFamily="34" charset="0"/>
                          <a:ea typeface="Calibri" pitchFamily="34" charset="-122"/>
                          <a:cs typeface="Calibri" pitchFamily="34" charset="-120"/>
                        </a:rPr>
                        <a:t>−59%</a:t>
                      </a:r>
                      <a:endParaRPr lang="en-US" sz="11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bl>
          </a:graphicData>
        </a:graphic>
      </p:graphicFrame>
      <p:sp>
        <p:nvSpPr>
          <p:cNvPr id="5" name="Text 2"/>
          <p:cNvSpPr/>
          <p:nvPr/>
        </p:nvSpPr>
        <p:spPr>
          <a:xfrm>
            <a:off x="502920" y="2651760"/>
            <a:ext cx="5806440" cy="384048"/>
          </a:xfrm>
          <a:prstGeom prst="rect">
            <a:avLst/>
          </a:prstGeom>
          <a:noFill/>
          <a:ln/>
        </p:spPr>
        <p:txBody>
          <a:bodyPr wrap="square" lIns="0" tIns="0" rIns="0" bIns="0" rtlCol="0" anchor="ctr"/>
          <a:lstStyle/>
          <a:p>
            <a:pPr indent="0" marL="0">
              <a:buNone/>
            </a:pPr>
            <a:r>
              <a:rPr lang="en-US" sz="2000" b="1" dirty="0">
                <a:solidFill>
                  <a:srgbClr val="C2703B"/>
                </a:solidFill>
                <a:latin typeface="Cambria" pitchFamily="34" charset="0"/>
                <a:ea typeface="Cambria" pitchFamily="34" charset="-122"/>
                <a:cs typeface="Cambria" pitchFamily="34" charset="-120"/>
              </a:rPr>
              <a:t>+3.18 dB over bicubic</a:t>
            </a:r>
            <a:endParaRPr lang="en-US" sz="2000" dirty="0"/>
          </a:p>
        </p:txBody>
      </p:sp>
      <p:sp>
        <p:nvSpPr>
          <p:cNvPr id="6" name="Shape 3"/>
          <p:cNvSpPr/>
          <p:nvPr/>
        </p:nvSpPr>
        <p:spPr>
          <a:xfrm>
            <a:off x="502920" y="3072384"/>
            <a:ext cx="5806440" cy="1847088"/>
          </a:xfrm>
          <a:prstGeom prst="roundRect">
            <a:avLst>
              <a:gd name="adj" fmla="val 2970"/>
            </a:avLst>
          </a:prstGeom>
          <a:solidFill>
            <a:srgbClr val="ECEFF2"/>
          </a:solidFill>
          <a:ln w="12700">
            <a:solidFill>
              <a:srgbClr val="ECEFF2"/>
            </a:solidFill>
            <a:prstDash val="solid"/>
          </a:ln>
        </p:spPr>
      </p:sp>
      <p:sp>
        <p:nvSpPr>
          <p:cNvPr id="7" name="Text 4"/>
          <p:cNvSpPr/>
          <p:nvPr/>
        </p:nvSpPr>
        <p:spPr>
          <a:xfrm>
            <a:off x="777240" y="3218688"/>
            <a:ext cx="5212080" cy="219456"/>
          </a:xfrm>
          <a:prstGeom prst="rect">
            <a:avLst/>
          </a:prstGeom>
          <a:noFill/>
          <a:ln/>
        </p:spPr>
        <p:txBody>
          <a:bodyPr wrap="square" lIns="0" tIns="0" rIns="0" bIns="0" rtlCol="0" anchor="ctr"/>
          <a:lstStyle/>
          <a:p>
            <a:pPr indent="0" marL="0">
              <a:buNone/>
            </a:pPr>
            <a:r>
              <a:rPr lang="en-US" sz="950" b="1" spc="120" kern="0" dirty="0">
                <a:solidFill>
                  <a:srgbClr val="C2703B"/>
                </a:solidFill>
                <a:latin typeface="Calibri" pitchFamily="34" charset="0"/>
                <a:ea typeface="Calibri" pitchFamily="34" charset="-122"/>
                <a:cs typeface="Calibri" pitchFamily="34" charset="-120"/>
              </a:rPr>
              <a:t>THE SAME MODEL, EVERYWHERE ELSE WE MEASURED IT</a:t>
            </a:r>
            <a:endParaRPr lang="en-US" sz="95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777240" y="3456432"/>
          <a:ext cx="5257800" cy="914400"/>
        </p:xfrm>
        <a:graphic>
          <a:graphicData uri="http://schemas.openxmlformats.org/drawingml/2006/table">
            <a:tbl>
              <a:tblPr/>
              <a:tblGrid>
                <a:gridCol w="1874520"/>
                <a:gridCol w="365760"/>
                <a:gridCol w="1371600"/>
                <a:gridCol w="822960"/>
                <a:gridCol w="822960"/>
              </a:tblGrid>
              <a:tr h="20574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test set</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distribution</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PSNR</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vs bicubic</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r>
              <a:tr h="205740">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organisers’ test set</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297</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in-distribution</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23.632</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+3.18</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05740">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our held-out split</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in-distribution</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23.104</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+2.88</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05740">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withheld content block</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478</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b="1" dirty="0">
                          <a:solidFill>
                            <a:srgbClr val="23282E"/>
                          </a:solidFill>
                          <a:latin typeface="Calibri" pitchFamily="34" charset="0"/>
                          <a:ea typeface="Calibri" pitchFamily="34" charset="-122"/>
                          <a:cs typeface="Calibri" pitchFamily="34" charset="-120"/>
                        </a:rPr>
                        <a:t>unseen morphology</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24.302</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b="1" dirty="0">
                          <a:solidFill>
                            <a:srgbClr val="23282E"/>
                          </a:solidFill>
                          <a:latin typeface="Calibri" pitchFamily="34" charset="0"/>
                          <a:ea typeface="Calibri" pitchFamily="34" charset="-122"/>
                          <a:cs typeface="Calibri" pitchFamily="34" charset="-120"/>
                        </a:rPr>
                        <a:t>+3.65</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05740">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ten NFFA morphologies</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240</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b="1" dirty="0">
                          <a:solidFill>
                            <a:srgbClr val="23282E"/>
                          </a:solidFill>
                          <a:latin typeface="Calibri" pitchFamily="34" charset="0"/>
                          <a:ea typeface="Calibri" pitchFamily="34" charset="-122"/>
                          <a:cs typeface="Calibri" pitchFamily="34" charset="-120"/>
                        </a:rPr>
                        <a:t>different corpus</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b="1" dirty="0">
                          <a:solidFill>
                            <a:srgbClr val="23282E"/>
                          </a:solidFill>
                          <a:latin typeface="Calibri" pitchFamily="34" charset="0"/>
                          <a:ea typeface="Calibri" pitchFamily="34" charset="-122"/>
                          <a:cs typeface="Calibri" pitchFamily="34" charset="-120"/>
                        </a:rPr>
                        <a:t>+4.01</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05740">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512×512</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778</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b="1" dirty="0">
                          <a:solidFill>
                            <a:srgbClr val="23282E"/>
                          </a:solidFill>
                          <a:latin typeface="Calibri" pitchFamily="34" charset="0"/>
                          <a:ea typeface="Calibri" pitchFamily="34" charset="-122"/>
                          <a:cs typeface="Calibri" pitchFamily="34" charset="-120"/>
                        </a:rPr>
                        <a:t>unseen scale</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25.392</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b="1" dirty="0">
                          <a:solidFill>
                            <a:srgbClr val="23282E"/>
                          </a:solidFill>
                          <a:latin typeface="Calibri" pitchFamily="34" charset="0"/>
                          <a:ea typeface="Calibri" pitchFamily="34" charset="-122"/>
                          <a:cs typeface="Calibri" pitchFamily="34" charset="-120"/>
                        </a:rPr>
                        <a:t>+4.52</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bl>
          </a:graphicData>
        </a:graphic>
      </p:graphicFrame>
      <p:sp>
        <p:nvSpPr>
          <p:cNvPr id="9" name="Shape 5"/>
          <p:cNvSpPr/>
          <p:nvPr/>
        </p:nvSpPr>
        <p:spPr>
          <a:xfrm>
            <a:off x="502920" y="5029200"/>
            <a:ext cx="5806440" cy="1024128"/>
          </a:xfrm>
          <a:prstGeom prst="roundRect">
            <a:avLst>
              <a:gd name="adj" fmla="val 5357"/>
            </a:avLst>
          </a:prstGeom>
          <a:solidFill>
            <a:srgbClr val="FBF2EC"/>
          </a:solidFill>
          <a:ln w="12700">
            <a:solidFill>
              <a:srgbClr val="FBF2EC"/>
            </a:solidFill>
            <a:prstDash val="solid"/>
          </a:ln>
        </p:spPr>
      </p:sp>
      <p:sp>
        <p:nvSpPr>
          <p:cNvPr id="10" name="Text 6"/>
          <p:cNvSpPr/>
          <p:nvPr/>
        </p:nvSpPr>
        <p:spPr>
          <a:xfrm>
            <a:off x="777240" y="5157216"/>
            <a:ext cx="5257800" cy="822960"/>
          </a:xfrm>
          <a:prstGeom prst="rect">
            <a:avLst/>
          </a:prstGeom>
          <a:noFill/>
          <a:ln/>
        </p:spPr>
        <p:txBody>
          <a:bodyPr wrap="square" lIns="0" tIns="0" rIns="0" bIns="0" rtlCol="0" anchor="ctr"/>
          <a:lstStyle/>
          <a:p>
            <a:pPr indent="0" marL="0">
              <a:lnSpc>
                <a:spcPts val="1300"/>
              </a:lnSpc>
              <a:buNone/>
            </a:pPr>
            <a:r>
              <a:rPr lang="en-US" sz="1000" b="1" dirty="0">
                <a:solidFill>
                  <a:srgbClr val="C2703B"/>
                </a:solidFill>
                <a:latin typeface="Calibri" pitchFamily="34" charset="0"/>
                <a:ea typeface="Calibri" pitchFamily="34" charset="-122"/>
                <a:cs typeface="Calibri" pitchFamily="34" charset="-120"/>
              </a:rPr>
              <a:t>The gain is largest where the model has seen least.</a:t>
            </a:r>
            <a:pPr indent="0" marL="0">
              <a:lnSpc>
                <a:spcPts val="1300"/>
              </a:lnSpc>
              <a:buNone/>
            </a:pPr>
            <a:r>
              <a:rPr lang="en-US" sz="1000" dirty="0">
                <a:solidFill>
                  <a:srgbClr val="4A5560"/>
                </a:solidFill>
                <a:latin typeface="Calibri" pitchFamily="34" charset="0"/>
                <a:ea typeface="Calibri" pitchFamily="34" charset="-122"/>
                <a:cs typeface="Calibri" pitchFamily="34" charset="-120"/>
              </a:rPr>
              <a:t>  All ten morphologies positive, mean +4.01 dB, worst +2.26 (Biological — soft organic structure has the least regular high-frequency content for a prior to exploit). The 3.01 dB spread across classes orders them exactly as the f90 analysis predicts.</a:t>
            </a:r>
            <a:endParaRPr lang="en-US" sz="1000" dirty="0"/>
          </a:p>
        </p:txBody>
      </p:sp>
      <p:pic>
        <p:nvPicPr>
          <p:cNvPr id="11" name="Image 0" descr="/home/claude/deck5/c_preview.png">    </p:cNvPr>
          <p:cNvPicPr>
            <a:picLocks noChangeAspect="1"/>
          </p:cNvPicPr>
          <p:nvPr/>
        </p:nvPicPr>
        <p:blipFill>
          <a:blip r:embed="rId1"/>
          <a:stretch>
            <a:fillRect/>
          </a:stretch>
        </p:blipFill>
        <p:spPr>
          <a:xfrm>
            <a:off x="6629400" y="1371600"/>
            <a:ext cx="4892040" cy="4773168"/>
          </a:xfrm>
          <a:prstGeom prst="rect">
            <a:avLst/>
          </a:prstGeom>
        </p:spPr>
      </p:pic>
      <p:sp>
        <p:nvSpPr>
          <p:cNvPr id="12" name="Text 7"/>
          <p:cNvSpPr/>
          <p:nvPr/>
        </p:nvSpPr>
        <p:spPr>
          <a:xfrm>
            <a:off x="6629400" y="6181344"/>
            <a:ext cx="4892040" cy="274320"/>
          </a:xfrm>
          <a:prstGeom prst="rect">
            <a:avLst/>
          </a:prstGeom>
          <a:noFill/>
          <a:ln/>
        </p:spPr>
        <p:txBody>
          <a:bodyPr wrap="square" lIns="0" tIns="0" rIns="0" bIns="0" rtlCol="0" anchor="ctr"/>
          <a:lstStyle/>
          <a:p>
            <a:pPr algn="ctr" indent="0" marL="0">
              <a:buNone/>
            </a:pPr>
            <a:r>
              <a:rPr lang="en-US" sz="1100" i="1" dirty="0">
                <a:solidFill>
                  <a:srgbClr val="7C8895"/>
                </a:solidFill>
                <a:latin typeface="Calibri" pitchFamily="34" charset="0"/>
                <a:ea typeface="Calibri" pitchFamily="34" charset="-122"/>
                <a:cs typeface="Calibri" pitchFamily="34" charset="-120"/>
              </a:rPr>
              <a:t>degraded input   →   restored   →   ground truth</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400" b="1" dirty="0">
                <a:solidFill>
                  <a:srgbClr val="23282E"/>
                </a:solidFill>
                <a:latin typeface="Cambria" pitchFamily="34" charset="0"/>
                <a:ea typeface="Cambria" pitchFamily="34" charset="-122"/>
                <a:cs typeface="Cambria" pitchFamily="34" charset="-120"/>
              </a:rPr>
              <a:t>Technology &amp; Feasibility</a:t>
            </a:r>
            <a:endParaRPr lang="en-US" sz="3400" dirty="0"/>
          </a:p>
        </p:txBody>
      </p:sp>
      <p:sp>
        <p:nvSpPr>
          <p:cNvPr id="3" name="Text 1"/>
          <p:cNvSpPr/>
          <p:nvPr/>
        </p:nvSpPr>
        <p:spPr>
          <a:xfrm>
            <a:off x="548640" y="905256"/>
            <a:ext cx="11064240" cy="310896"/>
          </a:xfrm>
          <a:prstGeom prst="rect">
            <a:avLst/>
          </a:prstGeom>
          <a:noFill/>
          <a:ln/>
        </p:spPr>
        <p:txBody>
          <a:bodyPr wrap="square" lIns="0" tIns="0" rIns="0" bIns="0" rtlCol="0" anchor="ctr"/>
          <a:lstStyle/>
          <a:p>
            <a:pPr indent="0" marL="0">
              <a:buNone/>
            </a:pPr>
            <a:r>
              <a:rPr lang="en-US" sz="1300" i="1" dirty="0">
                <a:solidFill>
                  <a:srgbClr val="7C8895"/>
                </a:solidFill>
                <a:latin typeface="Calibri" pitchFamily="34" charset="0"/>
                <a:ea typeface="Calibri" pitchFamily="34" charset="-122"/>
                <a:cs typeface="Calibri" pitchFamily="34" charset="-120"/>
              </a:rPr>
              <a:t>Everything below was measured, not estimated</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5943600" cy="914400"/>
        </p:xfrm>
        <a:graphic>
          <a:graphicData uri="http://schemas.openxmlformats.org/drawingml/2006/table">
            <a:tbl>
              <a:tblPr/>
              <a:tblGrid>
                <a:gridCol w="1554480"/>
                <a:gridCol w="2240280"/>
                <a:gridCol w="2148840"/>
              </a:tblGrid>
              <a:tr h="274320">
                <a:tc>
                  <a:txBody>
                    <a:bodyPr/>
                    <a:lstStyle/>
                    <a:p>
                      <a:pPr indent="0" marL="0">
                        <a:buNone/>
                      </a:pP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we used</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measured</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r>
              <a:tr h="274320">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Framework</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PyTorch 2.13 + CUDA 12.6</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torch + numpy only at inference</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74320">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Training hardware</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RTX 4050 Laptop, 6 GB</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4.3 h  ·  peak VRAM 0.95 GB</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74320">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Selection queue</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RTX 4090 pod</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11 configs × 120 ep, 28 min each</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74320">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Inference</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297 images in 5.92 s</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19.9 ms/image incl. startup</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74320">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1,368,705 params · 5.5 MB</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no BatchNorm, no GAN</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bl>
          </a:graphicData>
        </a:graphic>
      </p:graphicFrame>
      <p:sp>
        <p:nvSpPr>
          <p:cNvPr id="5" name="Shape 2"/>
          <p:cNvSpPr/>
          <p:nvPr/>
        </p:nvSpPr>
        <p:spPr>
          <a:xfrm>
            <a:off x="502920" y="3182112"/>
            <a:ext cx="5943600" cy="1481328"/>
          </a:xfrm>
          <a:prstGeom prst="roundRect">
            <a:avLst>
              <a:gd name="adj" fmla="val 3704"/>
            </a:avLst>
          </a:prstGeom>
          <a:solidFill>
            <a:srgbClr val="ECEFF2"/>
          </a:solidFill>
          <a:ln w="12700">
            <a:solidFill>
              <a:srgbClr val="ECEFF2"/>
            </a:solidFill>
            <a:prstDash val="solid"/>
          </a:ln>
        </p:spPr>
      </p:sp>
      <p:sp>
        <p:nvSpPr>
          <p:cNvPr id="6" name="Text 3"/>
          <p:cNvSpPr/>
          <p:nvPr/>
        </p:nvSpPr>
        <p:spPr>
          <a:xfrm>
            <a:off x="777240" y="3346704"/>
            <a:ext cx="5394960" cy="219456"/>
          </a:xfrm>
          <a:prstGeom prst="rect">
            <a:avLst/>
          </a:prstGeom>
          <a:noFill/>
          <a:ln/>
        </p:spPr>
        <p:txBody>
          <a:bodyPr wrap="square" lIns="0" tIns="0" rIns="0" bIns="0" rtlCol="0" anchor="ctr"/>
          <a:lstStyle/>
          <a:p>
            <a:pPr indent="0" marL="0">
              <a:buNone/>
            </a:pPr>
            <a:r>
              <a:rPr lang="en-US" sz="950" b="1" spc="120" kern="0" dirty="0">
                <a:solidFill>
                  <a:srgbClr val="C2703B"/>
                </a:solidFill>
                <a:latin typeface="Calibri" pitchFamily="34" charset="0"/>
                <a:ea typeface="Calibri" pitchFamily="34" charset="-122"/>
                <a:cs typeface="Calibri" pitchFamily="34" charset="-120"/>
              </a:rPr>
              <a:t>WHERE THE WALL-CLOCK ACTUALLY GOES</a:t>
            </a:r>
            <a:endParaRPr lang="en-US" sz="950" dirty="0"/>
          </a:p>
        </p:txBody>
      </p:sp>
      <p:sp>
        <p:nvSpPr>
          <p:cNvPr id="7" name="Text 4"/>
          <p:cNvSpPr/>
          <p:nvPr/>
        </p:nvSpPr>
        <p:spPr>
          <a:xfrm>
            <a:off x="777240" y="3675888"/>
            <a:ext cx="5394960" cy="914400"/>
          </a:xfrm>
          <a:prstGeom prst="rect">
            <a:avLst/>
          </a:prstGeom>
          <a:noFill/>
          <a:ln/>
        </p:spPr>
        <p:txBody>
          <a:bodyPr wrap="square" lIns="0" tIns="0" rIns="0" bIns="0" rtlCol="0" anchor="ctr"/>
          <a:lstStyle/>
          <a:p>
            <a:pPr indent="0" marL="0">
              <a:lnSpc>
                <a:spcPts val="1400"/>
              </a:lnSpc>
              <a:buNone/>
            </a:pPr>
            <a:r>
              <a:rPr lang="en-US" sz="1000" dirty="0">
                <a:solidFill>
                  <a:srgbClr val="23282E"/>
                </a:solidFill>
                <a:latin typeface="Consolas" pitchFamily="34" charset="0"/>
                <a:ea typeface="Consolas" pitchFamily="34" charset="-122"/>
                <a:cs typeface="Consolas" pitchFamily="34" charset="-120"/>
              </a:rPr>
              <a:t>import torch  1.62 s  35%      CUDA init  1.67 s  37%      compute + I/O  1.17 s  26%</a:t>
            </a:r>
            <a:endParaRPr lang="en-US" sz="1050" dirty="0"/>
          </a:p>
          <a:p>
            <a:pPr indent="0" marL="0">
              <a:lnSpc>
                <a:spcPts val="1400"/>
              </a:lnSpc>
              <a:buNone/>
            </a:pPr>
            <a:r>
              <a:rPr lang="en-US" sz="1050" b="1" dirty="0">
                <a:solidFill>
                  <a:srgbClr val="23282E"/>
                </a:solidFill>
                <a:latin typeface="Calibri" pitchFamily="34" charset="0"/>
                <a:ea typeface="Calibri" pitchFamily="34" charset="-122"/>
                <a:cs typeface="Calibri" pitchFamily="34" charset="-120"/>
              </a:rPr>
              <a:t>~72% is fixed process startup, not the network.</a:t>
            </a:r>
            <a:pPr indent="0" marL="0">
              <a:lnSpc>
                <a:spcPts val="1400"/>
              </a:lnSpc>
              <a:buNone/>
            </a:pPr>
            <a:r>
              <a:rPr lang="en-US" sz="1050" dirty="0">
                <a:solidFill>
                  <a:srgbClr val="4A5560"/>
                </a:solidFill>
                <a:latin typeface="Calibri" pitchFamily="34" charset="0"/>
                <a:ea typeface="Calibri" pitchFamily="34" charset="-122"/>
                <a:cs typeface="Calibri" pitchFamily="34" charset="-120"/>
              </a:rPr>
              <a:t>  Shrinking the model attacks at most the last quarter of the budget, and startup amortises over test-set size. run.py already overlaps what it can: CUDA init on a background thread, threaded reads, memory-mapped weights, a writer pool.</a:t>
            </a:r>
            <a:endParaRPr lang="en-US" sz="1050" dirty="0"/>
          </a:p>
        </p:txBody>
      </p:sp>
      <p:sp>
        <p:nvSpPr>
          <p:cNvPr id="8" name="Shape 5"/>
          <p:cNvSpPr/>
          <p:nvPr/>
        </p:nvSpPr>
        <p:spPr>
          <a:xfrm>
            <a:off x="502920" y="4800600"/>
            <a:ext cx="5943600" cy="1252728"/>
          </a:xfrm>
          <a:prstGeom prst="roundRect">
            <a:avLst>
              <a:gd name="adj" fmla="val 4380"/>
            </a:avLst>
          </a:prstGeom>
          <a:solidFill>
            <a:srgbClr val="FBF2EC"/>
          </a:solidFill>
          <a:ln w="12700">
            <a:solidFill>
              <a:srgbClr val="FBF2EC"/>
            </a:solidFill>
            <a:prstDash val="solid"/>
          </a:ln>
        </p:spPr>
      </p:sp>
      <p:sp>
        <p:nvSpPr>
          <p:cNvPr id="9" name="Text 6"/>
          <p:cNvSpPr/>
          <p:nvPr/>
        </p:nvSpPr>
        <p:spPr>
          <a:xfrm>
            <a:off x="777240" y="4965192"/>
            <a:ext cx="5394960" cy="1005840"/>
          </a:xfrm>
          <a:prstGeom prst="rect">
            <a:avLst/>
          </a:prstGeom>
          <a:noFill/>
          <a:ln/>
        </p:spPr>
        <p:txBody>
          <a:bodyPr wrap="square" lIns="0" tIns="0" rIns="0" bIns="0" rtlCol="0" anchor="ctr"/>
          <a:lstStyle/>
          <a:p>
            <a:pPr indent="0" marL="0">
              <a:lnSpc>
                <a:spcPts val="1400"/>
              </a:lnSpc>
              <a:buNone/>
            </a:pPr>
            <a:r>
              <a:rPr lang="en-US" sz="1050" b="1" dirty="0">
                <a:solidFill>
                  <a:srgbClr val="C2703B"/>
                </a:solidFill>
                <a:latin typeface="Calibri" pitchFamily="34" charset="0"/>
                <a:ea typeface="Calibri" pitchFamily="34" charset="-122"/>
                <a:cs typeface="Calibri" pitchFamily="34" charset="-120"/>
              </a:rPr>
              <a:t>Three optimisations written, benchmarked and rejected.</a:t>
            </a:r>
            <a:pPr indent="0" marL="0">
              <a:lnSpc>
                <a:spcPts val="1400"/>
              </a:lnSpc>
              <a:buNone/>
            </a:pPr>
            <a:r>
              <a:rPr lang="en-US" sz="1050" dirty="0">
                <a:solidFill>
                  <a:srgbClr val="4A5560"/>
                </a:solidFill>
                <a:latin typeface="Calibri" pitchFamily="34" charset="0"/>
                <a:ea typeface="Calibri" pitchFamily="34" charset="-122"/>
                <a:cs typeface="Calibri" pitchFamily="34" charset="-120"/>
              </a:rPr>
              <a:t>  8× TTA (+0.018 dB for 7.1× the time) · pinned buffers + CUDA streams (+0.04 s on a 1.94 s spread) · a channels_last layout fix (−0.06 s on a 0.73 s spread). All three bit-identical in output. ONNX was rejected without benchmarking: it adds a dependency the submission forbids, to save 1–2 s of startup.</a:t>
            </a:r>
            <a:endParaRPr lang="en-US" sz="1050" dirty="0"/>
          </a:p>
        </p:txBody>
      </p:sp>
      <p:sp>
        <p:nvSpPr>
          <p:cNvPr id="10" name="Text 7"/>
          <p:cNvSpPr/>
          <p:nvPr/>
        </p:nvSpPr>
        <p:spPr>
          <a:xfrm>
            <a:off x="6675120" y="1371600"/>
            <a:ext cx="4937760" cy="219456"/>
          </a:xfrm>
          <a:prstGeom prst="rect">
            <a:avLst/>
          </a:prstGeom>
          <a:noFill/>
          <a:ln/>
        </p:spPr>
        <p:txBody>
          <a:bodyPr wrap="square" lIns="0" tIns="0" rIns="0" bIns="0" rtlCol="0" anchor="ctr"/>
          <a:lstStyle/>
          <a:p>
            <a:pPr indent="0" marL="0">
              <a:buNone/>
            </a:pPr>
            <a:r>
              <a:rPr lang="en-US" sz="950" b="1" spc="120" kern="0" dirty="0">
                <a:solidFill>
                  <a:srgbClr val="C2703B"/>
                </a:solidFill>
                <a:latin typeface="Calibri" pitchFamily="34" charset="0"/>
                <a:ea typeface="Calibri" pitchFamily="34" charset="-122"/>
                <a:cs typeface="Calibri" pitchFamily="34" charset="-120"/>
              </a:rPr>
              <a:t>ELEVEN INTERVENTIONS, MEASURED AGAINST A 0.005 dB FLOOR</a:t>
            </a:r>
            <a:endParaRPr lang="en-US" sz="95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675120" y="1673352"/>
          <a:ext cx="4937760" cy="914400"/>
        </p:xfrm>
        <a:graphic>
          <a:graphicData uri="http://schemas.openxmlformats.org/drawingml/2006/table">
            <a:tbl>
              <a:tblPr/>
              <a:tblGrid>
                <a:gridCol w="2377440"/>
                <a:gridCol w="1463040"/>
                <a:gridCol w="1097280"/>
              </a:tblGrid>
              <a:tr h="22402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change tested</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effect on PSNR</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verdict</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r>
              <a:tr h="224028">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random seed alone</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0.0049 dB</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i="1" dirty="0">
                          <a:solidFill>
                            <a:srgbClr val="7C8895"/>
                          </a:solidFill>
                          <a:latin typeface="Calibri" pitchFamily="34" charset="0"/>
                          <a:ea typeface="Calibri" pitchFamily="34" charset="-122"/>
                          <a:cs typeface="Calibri" pitchFamily="34" charset="-120"/>
                        </a:rPr>
                        <a:t>the floor itself</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24028">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1.8× receptive field, params matched</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+0.0077 dB</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null</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24028">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degradation recalibration alone</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−0.0162 dB</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null</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24028">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content-balanced sampling (p ∝ f90)</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−0.0903 dB</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null</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24028">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8× test-time augmentation</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+0.0181 dB, 7.1× slower</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rejected</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24028">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pinned buffers + CUDA streams</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+0.04 s / 1.94 s spread</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rejected</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24028">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channels_last layout fix</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−0.06 s / 0.73 s spread</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rejected</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24028">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4× parameters (343 k → 1.37 M)</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+0.108 dB</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real</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24028">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rebuilt vs Round-1 generator</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+0.0836 dB</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real</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24028">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real pairs vs synthetic, in-distribution</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+0.0494 dB</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dirty="0">
                          <a:solidFill>
                            <a:srgbClr val="4A5560"/>
                          </a:solidFill>
                          <a:latin typeface="Calibri" pitchFamily="34" charset="0"/>
                          <a:ea typeface="Calibri" pitchFamily="34" charset="-122"/>
                          <a:cs typeface="Calibri" pitchFamily="34" charset="-120"/>
                        </a:rPr>
                        <a:t>real</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24028">
                <a:tc>
                  <a:txBody>
                    <a:bodyPr/>
                    <a:lstStyle/>
                    <a:p>
                      <a:pPr indent="0" marL="0">
                        <a:buNone/>
                      </a:pPr>
                      <a:r>
                        <a:rPr lang="en-US" sz="950" b="1" dirty="0">
                          <a:solidFill>
                            <a:srgbClr val="23282E"/>
                          </a:solidFill>
                          <a:latin typeface="Calibri" pitchFamily="34" charset="0"/>
                          <a:ea typeface="Calibri" pitchFamily="34" charset="-122"/>
                          <a:cs typeface="Calibri" pitchFamily="34" charset="-120"/>
                        </a:rPr>
                        <a:t>wide degradation family, at σ = 0.45</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b="1" dirty="0">
                          <a:solidFill>
                            <a:srgbClr val="23282E"/>
                          </a:solidFill>
                          <a:latin typeface="Calibri" pitchFamily="34" charset="0"/>
                          <a:ea typeface="Calibri" pitchFamily="34" charset="-122"/>
                          <a:cs typeface="Calibri" pitchFamily="34" charset="-120"/>
                        </a:rPr>
                        <a:t>+3.72 dB</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950" b="1" dirty="0">
                          <a:solidFill>
                            <a:srgbClr val="C2703B"/>
                          </a:solidFill>
                          <a:latin typeface="Calibri" pitchFamily="34" charset="0"/>
                          <a:ea typeface="Calibri" pitchFamily="34" charset="-122"/>
                          <a:cs typeface="Calibri" pitchFamily="34" charset="-120"/>
                        </a:rPr>
                        <a:t>decided it</a:t>
                      </a:r>
                      <a:endParaRPr lang="en-US" sz="9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bl>
          </a:graphicData>
        </a:graphic>
      </p:graphicFrame>
      <p:sp>
        <p:nvSpPr>
          <p:cNvPr id="12" name="Text 8"/>
          <p:cNvSpPr/>
          <p:nvPr/>
        </p:nvSpPr>
        <p:spPr>
          <a:xfrm>
            <a:off x="6675120" y="4553712"/>
            <a:ext cx="4937760" cy="274320"/>
          </a:xfrm>
          <a:prstGeom prst="rect">
            <a:avLst/>
          </a:prstGeom>
          <a:noFill/>
          <a:ln/>
        </p:spPr>
        <p:txBody>
          <a:bodyPr wrap="square" lIns="0" tIns="0" rIns="0" bIns="0" rtlCol="0" anchor="ctr"/>
          <a:lstStyle/>
          <a:p>
            <a:pPr indent="0" marL="0">
              <a:buNone/>
            </a:pPr>
            <a:r>
              <a:rPr lang="en-US" sz="950" i="1" dirty="0">
                <a:solidFill>
                  <a:srgbClr val="7C8895"/>
                </a:solidFill>
                <a:latin typeface="Calibri" pitchFamily="34" charset="0"/>
                <a:ea typeface="Calibri" pitchFamily="34" charset="-122"/>
                <a:cs typeface="Calibri" pitchFamily="34" charset="-120"/>
              </a:rPr>
              <a:t>Matched final-5 windows, or one scoring pass over identical inputs. docs/ENGINEERING_LOG.md §10.</a:t>
            </a:r>
            <a:endParaRPr lang="en-US" sz="950" dirty="0"/>
          </a:p>
        </p:txBody>
      </p:sp>
      <p:sp>
        <p:nvSpPr>
          <p:cNvPr id="13" name="Shape 9"/>
          <p:cNvSpPr/>
          <p:nvPr/>
        </p:nvSpPr>
        <p:spPr>
          <a:xfrm>
            <a:off x="6675120" y="4864608"/>
            <a:ext cx="4937760" cy="566928"/>
          </a:xfrm>
          <a:prstGeom prst="roundRect">
            <a:avLst>
              <a:gd name="adj" fmla="val 9677"/>
            </a:avLst>
          </a:prstGeom>
          <a:solidFill>
            <a:srgbClr val="ECEFF2"/>
          </a:solidFill>
          <a:ln w="12700">
            <a:solidFill>
              <a:srgbClr val="ECEFF2"/>
            </a:solidFill>
            <a:prstDash val="solid"/>
          </a:ln>
        </p:spPr>
      </p:sp>
      <p:sp>
        <p:nvSpPr>
          <p:cNvPr id="14" name="Text 10"/>
          <p:cNvSpPr/>
          <p:nvPr/>
        </p:nvSpPr>
        <p:spPr>
          <a:xfrm>
            <a:off x="6949440" y="4974336"/>
            <a:ext cx="4389120" cy="365760"/>
          </a:xfrm>
          <a:prstGeom prst="rect">
            <a:avLst/>
          </a:prstGeom>
          <a:noFill/>
          <a:ln/>
        </p:spPr>
        <p:txBody>
          <a:bodyPr wrap="square" lIns="0" tIns="0" rIns="0" bIns="0" rtlCol="0" anchor="ctr"/>
          <a:lstStyle/>
          <a:p>
            <a:pPr indent="0" marL="0">
              <a:lnSpc>
                <a:spcPts val="1300"/>
              </a:lnSpc>
              <a:buNone/>
            </a:pPr>
            <a:r>
              <a:rPr lang="en-US" sz="1000" b="1" dirty="0">
                <a:solidFill>
                  <a:srgbClr val="23282E"/>
                </a:solidFill>
                <a:latin typeface="Calibri" pitchFamily="34" charset="0"/>
                <a:ea typeface="Calibri" pitchFamily="34" charset="-122"/>
                <a:cs typeface="Calibri" pitchFamily="34" charset="-120"/>
              </a:rPr>
              <a:t>Capacity: 78.4× of parameters buys 0.291 dB.</a:t>
            </a:r>
            <a:pPr indent="0" marL="0">
              <a:lnSpc>
                <a:spcPts val="1300"/>
              </a:lnSpc>
              <a:buNone/>
            </a:pPr>
            <a:r>
              <a:rPr lang="en-US" sz="1000" dirty="0">
                <a:solidFill>
                  <a:srgbClr val="4A5560"/>
                </a:solidFill>
                <a:latin typeface="Calibri" pitchFamily="34" charset="0"/>
                <a:ea typeface="Calibri" pitchFamily="34" charset="-122"/>
                <a:cs typeface="Calibri" pitchFamily="34" charset="-120"/>
              </a:rPr>
              <a:t>  Next slide.</a:t>
            </a:r>
            <a:endParaRPr lang="en-US" sz="1000" dirty="0"/>
          </a:p>
        </p:txBody>
      </p:sp>
      <p:sp>
        <p:nvSpPr>
          <p:cNvPr id="15" name="Shape 11"/>
          <p:cNvSpPr/>
          <p:nvPr/>
        </p:nvSpPr>
        <p:spPr>
          <a:xfrm>
            <a:off x="6675120" y="5541264"/>
            <a:ext cx="4937760" cy="512064"/>
          </a:xfrm>
          <a:prstGeom prst="roundRect">
            <a:avLst>
              <a:gd name="adj" fmla="val 10714"/>
            </a:avLst>
          </a:prstGeom>
          <a:solidFill>
            <a:srgbClr val="ECEFF2"/>
          </a:solidFill>
          <a:ln w="12700">
            <a:solidFill>
              <a:srgbClr val="ECEFF2"/>
            </a:solidFill>
            <a:prstDash val="solid"/>
          </a:ln>
        </p:spPr>
      </p:sp>
      <p:sp>
        <p:nvSpPr>
          <p:cNvPr id="16" name="Text 12"/>
          <p:cNvSpPr/>
          <p:nvPr/>
        </p:nvSpPr>
        <p:spPr>
          <a:xfrm>
            <a:off x="6949440" y="5632704"/>
            <a:ext cx="4389120" cy="384048"/>
          </a:xfrm>
          <a:prstGeom prst="rect">
            <a:avLst/>
          </a:prstGeom>
          <a:noFill/>
          <a:ln/>
        </p:spPr>
        <p:txBody>
          <a:bodyPr wrap="square" lIns="0" tIns="0" rIns="0" bIns="0" rtlCol="0" anchor="ctr"/>
          <a:lstStyle/>
          <a:p>
            <a:pPr indent="0" marL="0">
              <a:lnSpc>
                <a:spcPts val="1150"/>
              </a:lnSpc>
              <a:buNone/>
            </a:pPr>
            <a:r>
              <a:rPr lang="en-US" sz="900" b="1" dirty="0">
                <a:solidFill>
                  <a:srgbClr val="23282E"/>
                </a:solidFill>
                <a:latin typeface="Calibri" pitchFamily="34" charset="0"/>
                <a:ea typeface="Calibri" pitchFamily="34" charset="-122"/>
                <a:cs typeface="Calibri" pitchFamily="34" charset="-120"/>
              </a:rPr>
              <a:t>Reproducible across machines.</a:t>
            </a:r>
            <a:pPr indent="0" marL="0">
              <a:lnSpc>
                <a:spcPts val="1150"/>
              </a:lnSpc>
              <a:buNone/>
            </a:pPr>
            <a:r>
              <a:rPr lang="en-US" sz="900" dirty="0">
                <a:solidFill>
                  <a:srgbClr val="4A5560"/>
                </a:solidFill>
                <a:latin typeface="Calibri" pitchFamily="34" charset="0"/>
                <a:ea typeface="Calibri" pitchFamily="34" charset="-122"/>
                <a:cs typeface="Calibri" pitchFamily="34" charset="-120"/>
              </a:rPr>
              <a:t>  The shipped weights score 23.632 / 0.60791 / 0.19288 on the 4090 and 23.632 / 0.60791 / 0.19288 on the 4050 — identical to five decimals. That is what makes a queue split across two machines valid.</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400" b="1" dirty="0">
                <a:solidFill>
                  <a:srgbClr val="23282E"/>
                </a:solidFill>
                <a:latin typeface="Cambria" pitchFamily="34" charset="0"/>
                <a:ea typeface="Cambria" pitchFamily="34" charset="-122"/>
                <a:cs typeface="Cambria" pitchFamily="34" charset="-120"/>
              </a:rPr>
              <a:t>How Big Should the Model Be?</a:t>
            </a:r>
            <a:endParaRPr lang="en-US" sz="3400" dirty="0"/>
          </a:p>
        </p:txBody>
      </p:sp>
      <p:sp>
        <p:nvSpPr>
          <p:cNvPr id="3" name="Text 1"/>
          <p:cNvSpPr/>
          <p:nvPr/>
        </p:nvSpPr>
        <p:spPr>
          <a:xfrm>
            <a:off x="548640" y="905256"/>
            <a:ext cx="11064240" cy="310896"/>
          </a:xfrm>
          <a:prstGeom prst="rect">
            <a:avLst/>
          </a:prstGeom>
          <a:noFill/>
          <a:ln/>
        </p:spPr>
        <p:txBody>
          <a:bodyPr wrap="square" lIns="0" tIns="0" rIns="0" bIns="0" rtlCol="0" anchor="ctr"/>
          <a:lstStyle/>
          <a:p>
            <a:pPr indent="0" marL="0">
              <a:buNone/>
            </a:pPr>
            <a:r>
              <a:rPr lang="en-US" sz="1300" i="1" dirty="0">
                <a:solidFill>
                  <a:srgbClr val="7C8895"/>
                </a:solidFill>
                <a:latin typeface="Calibri" pitchFamily="34" charset="0"/>
                <a:ea typeface="Calibri" pitchFamily="34" charset="-122"/>
                <a:cs typeface="Calibri" pitchFamily="34" charset="-120"/>
              </a:rPr>
              <a:t>We trained seven sizes across a 78.4× span rather than picking one and defending it</a:t>
            </a:r>
            <a:endParaRPr lang="en-US" sz="1300" dirty="0"/>
          </a:p>
        </p:txBody>
      </p:sp>
      <p:pic>
        <p:nvPicPr>
          <p:cNvPr id="4" name="Image 0" descr="/home/claude/deck5/c_capacity.png">    </p:cNvPr>
          <p:cNvPicPr>
            <a:picLocks noChangeAspect="1"/>
          </p:cNvPicPr>
          <p:nvPr/>
        </p:nvPicPr>
        <p:blipFill>
          <a:blip r:embed="rId1"/>
          <a:stretch>
            <a:fillRect/>
          </a:stretch>
        </p:blipFill>
        <p:spPr>
          <a:xfrm>
            <a:off x="502920" y="1371600"/>
            <a:ext cx="5760720" cy="2761488"/>
          </a:xfrm>
          <a:prstGeom prst="rect">
            <a:avLst/>
          </a:prstGeom>
        </p:spPr>
      </p:pic>
      <p:sp>
        <p:nvSpPr>
          <p:cNvPr id="5" name="Shape 2"/>
          <p:cNvSpPr/>
          <p:nvPr/>
        </p:nvSpPr>
        <p:spPr>
          <a:xfrm>
            <a:off x="502920" y="4261104"/>
            <a:ext cx="5760720" cy="1792224"/>
          </a:xfrm>
          <a:prstGeom prst="roundRect">
            <a:avLst>
              <a:gd name="adj" fmla="val 3061"/>
            </a:avLst>
          </a:prstGeom>
          <a:solidFill>
            <a:srgbClr val="FBF2EC"/>
          </a:solidFill>
          <a:ln w="12700">
            <a:solidFill>
              <a:srgbClr val="FBF2EC"/>
            </a:solidFill>
            <a:prstDash val="solid"/>
          </a:ln>
        </p:spPr>
      </p:sp>
      <p:sp>
        <p:nvSpPr>
          <p:cNvPr id="6" name="Text 3"/>
          <p:cNvSpPr/>
          <p:nvPr/>
        </p:nvSpPr>
        <p:spPr>
          <a:xfrm>
            <a:off x="777240" y="4443984"/>
            <a:ext cx="5212080" cy="1463040"/>
          </a:xfrm>
          <a:prstGeom prst="rect">
            <a:avLst/>
          </a:prstGeom>
          <a:noFill/>
          <a:ln/>
        </p:spPr>
        <p:txBody>
          <a:bodyPr wrap="square" lIns="0" tIns="0" rIns="0" bIns="0" rtlCol="0" anchor="ctr"/>
          <a:lstStyle/>
          <a:p>
            <a:pPr indent="0" marL="0">
              <a:lnSpc>
                <a:spcPts val="1500"/>
              </a:lnSpc>
              <a:buNone/>
            </a:pPr>
            <a:r>
              <a:rPr lang="en-US" sz="1100" b="1" dirty="0">
                <a:solidFill>
                  <a:srgbClr val="C2703B"/>
                </a:solidFill>
                <a:latin typeface="Calibri" pitchFamily="34" charset="0"/>
                <a:ea typeface="Calibri" pitchFamily="34" charset="-122"/>
                <a:cs typeface="Calibri" pitchFamily="34" charset="-120"/>
              </a:rPr>
              <a:t>0.045 dB per doubling. R² = 0.992. No knee anywhere.</a:t>
            </a:r>
            <a:pPr indent="0" marL="0">
              <a:lnSpc>
                <a:spcPts val="1500"/>
              </a:lnSpc>
              <a:buNone/>
            </a:pPr>
            <a:r>
              <a:rPr lang="en-US" sz="1100" dirty="0">
                <a:solidFill>
                  <a:srgbClr val="4A5560"/>
                </a:solidFill>
                <a:latin typeface="Calibri" pitchFamily="34" charset="0"/>
                <a:ea typeface="Calibri" pitchFamily="34" charset="-122"/>
                <a:cs typeface="Calibri" pitchFamily="34" charset="-120"/>
              </a:rPr>
              <a:t>  A model starved of capacity climbs steeply and then flattens — the curve has a knee, and the knee tells you where “big enough” is. This one is a straight line to three decimal places across 78.4×, which is the diagnostic that </a:t>
            </a:r>
            <a:pPr indent="0" marL="0">
              <a:lnSpc>
                <a:spcPts val="1500"/>
              </a:lnSpc>
              <a:buNone/>
            </a:pPr>
            <a:r>
              <a:rPr lang="en-US" sz="1100" b="1" dirty="0">
                <a:solidFill>
                  <a:srgbClr val="23282E"/>
                </a:solidFill>
                <a:latin typeface="Calibri" pitchFamily="34" charset="0"/>
                <a:ea typeface="Calibri" pitchFamily="34" charset="-122"/>
                <a:cs typeface="Calibri" pitchFamily="34" charset="-120"/>
              </a:rPr>
              <a:t>we are not capacity-limited at all</a:t>
            </a:r>
            <a:pPr indent="0" marL="0">
              <a:lnSpc>
                <a:spcPts val="1500"/>
              </a:lnSpc>
              <a:buNone/>
            </a:pPr>
            <a:r>
              <a:rPr lang="en-US" sz="1100" dirty="0">
                <a:solidFill>
                  <a:srgbClr val="4A5560"/>
                </a:solidFill>
                <a:latin typeface="Calibri" pitchFamily="34" charset="0"/>
                <a:ea typeface="Calibri" pitchFamily="34" charset="-122"/>
                <a:cs typeface="Calibri" pitchFamily="34" charset="-120"/>
              </a:rPr>
              <a:t>. The bottleneck is information the 2×2 average destroyed, and no number of parameters recovers destroyed information.</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92240" y="1371600"/>
          <a:ext cx="5120640" cy="914400"/>
        </p:xfrm>
        <a:graphic>
          <a:graphicData uri="http://schemas.openxmlformats.org/drawingml/2006/table">
            <a:tbl>
              <a:tblPr/>
              <a:tblGrid>
                <a:gridCol w="2103120"/>
                <a:gridCol w="1188720"/>
                <a:gridCol w="914400"/>
                <a:gridCol w="914400"/>
              </a:tblGrid>
              <a:tr h="2697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config</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parameters</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PSNR</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ms / image</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r>
              <a:tr h="269748">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ch12 nb4</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17,449</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22.7959</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0.53</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69748">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ch16 nb4</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30,753</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22.8300</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0.49</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69748">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ch16 nb8</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49,313</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22.8738</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0.73</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69748">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ch24 nb8</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110,257</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22.9056</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1.27</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69748">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ch32 nb8</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195,393</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22.9410</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1.67</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69748">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ch32 nb16</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343,361</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22.9790</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dirty="0">
                          <a:solidFill>
                            <a:srgbClr val="4A5560"/>
                          </a:solidFill>
                          <a:latin typeface="Calibri" pitchFamily="34" charset="0"/>
                          <a:ea typeface="Calibri" pitchFamily="34" charset="-122"/>
                          <a:cs typeface="Calibri" pitchFamily="34" charset="-120"/>
                        </a:rPr>
                        <a:t>2.85</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69748">
                <a:tc>
                  <a:txBody>
                    <a:bodyPr/>
                    <a:lstStyle/>
                    <a:p>
                      <a:pPr indent="0" marL="0">
                        <a:buNone/>
                      </a:pPr>
                      <a:r>
                        <a:rPr lang="en-US" sz="1050" b="1" dirty="0">
                          <a:solidFill>
                            <a:srgbClr val="23282E"/>
                          </a:solidFill>
                          <a:latin typeface="Calibri" pitchFamily="34" charset="0"/>
                          <a:ea typeface="Calibri" pitchFamily="34" charset="-122"/>
                          <a:cs typeface="Calibri" pitchFamily="34" charset="-120"/>
                        </a:rPr>
                        <a:t>ch64 nb16   ★ shipped</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b="1" dirty="0">
                          <a:solidFill>
                            <a:srgbClr val="23282E"/>
                          </a:solidFill>
                          <a:latin typeface="Calibri" pitchFamily="34" charset="0"/>
                          <a:ea typeface="Calibri" pitchFamily="34" charset="-122"/>
                          <a:cs typeface="Calibri" pitchFamily="34" charset="-120"/>
                        </a:rPr>
                        <a:t>1,368,705</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b="1" dirty="0">
                          <a:solidFill>
                            <a:srgbClr val="23282E"/>
                          </a:solidFill>
                          <a:latin typeface="Calibri" pitchFamily="34" charset="0"/>
                          <a:ea typeface="Calibri" pitchFamily="34" charset="-122"/>
                          <a:cs typeface="Calibri" pitchFamily="34" charset="-120"/>
                        </a:rPr>
                        <a:t>23.0865</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50" b="1" dirty="0">
                          <a:solidFill>
                            <a:srgbClr val="23282E"/>
                          </a:solidFill>
                          <a:latin typeface="Calibri" pitchFamily="34" charset="0"/>
                          <a:ea typeface="Calibri" pitchFamily="34" charset="-122"/>
                          <a:cs typeface="Calibri" pitchFamily="34" charset="-120"/>
                        </a:rPr>
                        <a:t>6.50</a:t>
                      </a:r>
                      <a:endParaRPr lang="en-US" sz="105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bl>
          </a:graphicData>
        </a:graphic>
      </p:graphicFrame>
      <p:sp>
        <p:nvSpPr>
          <p:cNvPr id="8" name="Text 4"/>
          <p:cNvSpPr/>
          <p:nvPr/>
        </p:nvSpPr>
        <p:spPr>
          <a:xfrm>
            <a:off x="6492240" y="3584448"/>
            <a:ext cx="5120640" cy="274320"/>
          </a:xfrm>
          <a:prstGeom prst="rect">
            <a:avLst/>
          </a:prstGeom>
          <a:noFill/>
          <a:ln/>
        </p:spPr>
        <p:txBody>
          <a:bodyPr wrap="square" lIns="0" tIns="0" rIns="0" bIns="0" rtlCol="0" anchor="ctr"/>
          <a:lstStyle/>
          <a:p>
            <a:pPr indent="0" marL="0">
              <a:buNone/>
            </a:pPr>
            <a:r>
              <a:rPr lang="en-US" sz="950" i="1" dirty="0">
                <a:solidFill>
                  <a:srgbClr val="7C8895"/>
                </a:solidFill>
                <a:latin typeface="Calibri" pitchFamily="34" charset="0"/>
                <a:ea typeface="Calibri" pitchFamily="34" charset="-122"/>
                <a:cs typeface="Calibri" pitchFamily="34" charset="-120"/>
              </a:rPr>
              <a:t>40 epochs each, identical split, latency measured not estimated. docs/capacity_sweep.csv</a:t>
            </a:r>
            <a:endParaRPr lang="en-US" sz="950" dirty="0"/>
          </a:p>
        </p:txBody>
      </p:sp>
      <p:sp>
        <p:nvSpPr>
          <p:cNvPr id="9" name="Shape 5"/>
          <p:cNvSpPr/>
          <p:nvPr/>
        </p:nvSpPr>
        <p:spPr>
          <a:xfrm>
            <a:off x="6492240" y="3913632"/>
            <a:ext cx="5120640" cy="2139696"/>
          </a:xfrm>
          <a:prstGeom prst="roundRect">
            <a:avLst>
              <a:gd name="adj" fmla="val 2564"/>
            </a:avLst>
          </a:prstGeom>
          <a:solidFill>
            <a:srgbClr val="ECEFF2"/>
          </a:solidFill>
          <a:ln w="12700">
            <a:solidFill>
              <a:srgbClr val="ECEFF2"/>
            </a:solidFill>
            <a:prstDash val="solid"/>
          </a:ln>
        </p:spPr>
      </p:sp>
      <p:sp>
        <p:nvSpPr>
          <p:cNvPr id="10" name="Text 6"/>
          <p:cNvSpPr/>
          <p:nvPr/>
        </p:nvSpPr>
        <p:spPr>
          <a:xfrm>
            <a:off x="6766560" y="4096512"/>
            <a:ext cx="4572000" cy="219456"/>
          </a:xfrm>
          <a:prstGeom prst="rect">
            <a:avLst/>
          </a:prstGeom>
          <a:noFill/>
          <a:ln/>
        </p:spPr>
        <p:txBody>
          <a:bodyPr wrap="square" lIns="0" tIns="0" rIns="0" bIns="0" rtlCol="0" anchor="ctr"/>
          <a:lstStyle/>
          <a:p>
            <a:pPr indent="0" marL="0">
              <a:buNone/>
            </a:pPr>
            <a:r>
              <a:rPr lang="en-US" sz="950" b="1" spc="120" kern="0" dirty="0">
                <a:solidFill>
                  <a:srgbClr val="C2703B"/>
                </a:solidFill>
                <a:latin typeface="Calibri" pitchFamily="34" charset="0"/>
                <a:ea typeface="Calibri" pitchFamily="34" charset="-122"/>
                <a:cs typeface="Calibri" pitchFamily="34" charset="-120"/>
              </a:rPr>
              <a:t>THREE THINGS THIS SETTLES</a:t>
            </a:r>
            <a:endParaRPr lang="en-US" sz="950" dirty="0"/>
          </a:p>
        </p:txBody>
      </p:sp>
      <p:sp>
        <p:nvSpPr>
          <p:cNvPr id="11" name="Text 7"/>
          <p:cNvSpPr/>
          <p:nvPr/>
        </p:nvSpPr>
        <p:spPr>
          <a:xfrm>
            <a:off x="6766560" y="4425696"/>
            <a:ext cx="4572000" cy="1554480"/>
          </a:xfrm>
          <a:prstGeom prst="rect">
            <a:avLst/>
          </a:prstGeom>
          <a:noFill/>
          <a:ln/>
        </p:spPr>
        <p:txBody>
          <a:bodyPr wrap="square" lIns="0" tIns="0" rIns="0" bIns="0" rtlCol="0" anchor="ctr"/>
          <a:lstStyle/>
          <a:p>
            <a:pPr indent="0" marL="0">
              <a:lnSpc>
                <a:spcPts val="1350"/>
              </a:lnSpc>
              <a:buNone/>
            </a:pPr>
            <a:r>
              <a:rPr lang="en-US" sz="1000" b="1" dirty="0">
                <a:solidFill>
                  <a:srgbClr val="23282E"/>
                </a:solidFill>
                <a:latin typeface="Calibri" pitchFamily="34" charset="0"/>
                <a:ea typeface="Calibri" pitchFamily="34" charset="-122"/>
                <a:cs typeface="Calibri" pitchFamily="34" charset="-120"/>
              </a:rPr>
              <a:t>1  “Make it bigger” is closed.</a:t>
            </a:r>
            <a:pPr indent="0" marL="0">
              <a:lnSpc>
                <a:spcPts val="1350"/>
              </a:lnSpc>
              <a:buNone/>
            </a:pPr>
            <a:r>
              <a:rPr lang="en-US" sz="1000" dirty="0">
                <a:solidFill>
                  <a:srgbClr val="4A5560"/>
                </a:solidFill>
                <a:latin typeface="Calibri" pitchFamily="34" charset="0"/>
                <a:ea typeface="Calibri" pitchFamily="34" charset="-122"/>
                <a:cs typeface="Calibri" pitchFamily="34" charset="-120"/>
              </a:rPr>
              <a:t> 78.4× of parameters buys 0.291 dB total. Separately, 2.7× parameters bought +0.026 dB — inside the noise floor. This curve says why.</a:t>
            </a:r>
            <a:endParaRPr lang="en-US" sz="1000" dirty="0"/>
          </a:p>
          <a:p>
            <a:pPr indent="0" marL="0">
              <a:lnSpc>
                <a:spcPts val="1350"/>
              </a:lnSpc>
              <a:buNone/>
            </a:pPr>
            <a:r>
              <a:rPr lang="en-US" sz="1000" b="1" dirty="0">
                <a:solidFill>
                  <a:srgbClr val="23282E"/>
                </a:solidFill>
                <a:latin typeface="Calibri" pitchFamily="34" charset="0"/>
                <a:ea typeface="Calibri" pitchFamily="34" charset="-122"/>
                <a:cs typeface="Calibri" pitchFamily="34" charset="-120"/>
              </a:rPr>
              <a:t>2  1.37 M is a decision, not a default.</a:t>
            </a:r>
            <a:pPr indent="0" marL="0">
              <a:lnSpc>
                <a:spcPts val="1350"/>
              </a:lnSpc>
              <a:buNone/>
            </a:pPr>
            <a:r>
              <a:rPr lang="en-US" sz="1000" dirty="0">
                <a:solidFill>
                  <a:srgbClr val="4A5560"/>
                </a:solidFill>
                <a:latin typeface="Calibri" pitchFamily="34" charset="0"/>
                <a:ea typeface="Calibri" pitchFamily="34" charset="-122"/>
                <a:cs typeface="Calibri" pitchFamily="34" charset="-120"/>
              </a:rPr>
              <a:t> A 49 k model gives up 0.21 dB, is 28× smaller and 9× faster. If deployment ever demands it, that is the trade — and we know its price.</a:t>
            </a:r>
            <a:endParaRPr lang="en-US" sz="1000" dirty="0"/>
          </a:p>
          <a:p>
            <a:pPr indent="0" marL="0">
              <a:lnSpc>
                <a:spcPts val="1350"/>
              </a:lnSpc>
              <a:buNone/>
            </a:pPr>
            <a:r>
              <a:rPr lang="en-US" sz="1000" b="1" dirty="0">
                <a:solidFill>
                  <a:srgbClr val="23282E"/>
                </a:solidFill>
                <a:latin typeface="Calibri" pitchFamily="34" charset="0"/>
                <a:ea typeface="Calibri" pitchFamily="34" charset="-122"/>
                <a:cs typeface="Calibri" pitchFamily="34" charset="-120"/>
              </a:rPr>
              <a:t>3  Parameter count stops predicting latency below ~30 k.</a:t>
            </a:r>
            <a:pPr indent="0" marL="0">
              <a:lnSpc>
                <a:spcPts val="1350"/>
              </a:lnSpc>
              <a:buNone/>
            </a:pPr>
            <a:r>
              <a:rPr lang="en-US" sz="1000" dirty="0">
                <a:solidFill>
                  <a:srgbClr val="4A5560"/>
                </a:solidFill>
                <a:latin typeface="Calibri" pitchFamily="34" charset="0"/>
                <a:ea typeface="Calibri" pitchFamily="34" charset="-122"/>
                <a:cs typeface="Calibri" pitchFamily="34" charset="-120"/>
              </a:rPr>
              <a:t> ch16 nb4 is FASTER than ch12 nb4 despite 1.8× the parameters, because kernel-launch overhead dominates there.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400" b="1" dirty="0">
                <a:solidFill>
                  <a:srgbClr val="23282E"/>
                </a:solidFill>
                <a:latin typeface="Cambria" pitchFamily="34" charset="0"/>
                <a:ea typeface="Cambria" pitchFamily="34" charset="-122"/>
                <a:cs typeface="Cambria" pitchFamily="34" charset="-120"/>
              </a:rPr>
              <a:t>Repository &amp; Submission</a:t>
            </a:r>
            <a:endParaRPr lang="en-US" sz="3400" dirty="0"/>
          </a:p>
        </p:txBody>
      </p:sp>
      <p:sp>
        <p:nvSpPr>
          <p:cNvPr id="3" name="Text 1"/>
          <p:cNvSpPr/>
          <p:nvPr/>
        </p:nvSpPr>
        <p:spPr>
          <a:xfrm>
            <a:off x="548640" y="905256"/>
            <a:ext cx="11064240" cy="310896"/>
          </a:xfrm>
          <a:prstGeom prst="rect">
            <a:avLst/>
          </a:prstGeom>
          <a:noFill/>
          <a:ln/>
        </p:spPr>
        <p:txBody>
          <a:bodyPr wrap="square" lIns="0" tIns="0" rIns="0" bIns="0" rtlCol="0" anchor="ctr"/>
          <a:lstStyle/>
          <a:p>
            <a:pPr indent="0" marL="0">
              <a:buNone/>
            </a:pPr>
            <a:r>
              <a:rPr lang="en-US" sz="1300" i="1" dirty="0">
                <a:solidFill>
                  <a:srgbClr val="7C8895"/>
                </a:solidFill>
                <a:latin typeface="Calibri" pitchFamily="34" charset="0"/>
                <a:ea typeface="Calibri" pitchFamily="34" charset="-122"/>
                <a:cs typeface="Calibri" pitchFamily="34" charset="-120"/>
              </a:rPr>
              <a:t>Four required components, each verified by running it</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6766560" cy="914400"/>
        </p:xfrm>
        <a:graphic>
          <a:graphicData uri="http://schemas.openxmlformats.org/drawingml/2006/table">
            <a:tbl>
              <a:tblPr/>
              <a:tblGrid>
                <a:gridCol w="320040"/>
                <a:gridCol w="1783080"/>
                <a:gridCol w="1965960"/>
                <a:gridCol w="2697480"/>
              </a:tblGrid>
              <a:tr h="28803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component</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file</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verified by</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23282E"/>
                    </a:solidFill>
                  </a:tcPr>
                </a:tc>
              </a:tr>
              <a:tr h="288036">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Evaluation script</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run.py</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runs from a bare four-item directory</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88036">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Training script</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train_submitted.py</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reproduces the shipped config, no flags</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88036">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Denoised test outputs</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outputs/  (297 .npy)</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dtype, range and shape on every file</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288036">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Environment spec</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requirements.txt</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complete pip freeze, versions pinned</a:t>
                      </a:r>
                      <a:endParaRPr lang="en-US" sz="1000" dirty="0">
                        <a:latin typeface="Calibri" charset="0"/>
                        <a:ea typeface="Calibri" charset="0"/>
                        <a:cs typeface="Calibri" charset="0"/>
                      </a:endParaRPr>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bl>
          </a:graphicData>
        </a:graphic>
      </p:graphicFrame>
      <p:sp>
        <p:nvSpPr>
          <p:cNvPr id="5" name="Text 2"/>
          <p:cNvSpPr/>
          <p:nvPr/>
        </p:nvSpPr>
        <p:spPr>
          <a:xfrm>
            <a:off x="502920" y="3127248"/>
            <a:ext cx="6766560" cy="274320"/>
          </a:xfrm>
          <a:prstGeom prst="rect">
            <a:avLst/>
          </a:prstGeom>
          <a:noFill/>
          <a:ln/>
        </p:spPr>
        <p:txBody>
          <a:bodyPr wrap="square" lIns="0" tIns="0" rIns="0" bIns="0" rtlCol="0" anchor="ctr"/>
          <a:lstStyle/>
          <a:p>
            <a:pPr indent="0" marL="0">
              <a:buNone/>
            </a:pPr>
            <a:r>
              <a:rPr lang="en-US" sz="950" i="1" dirty="0">
                <a:solidFill>
                  <a:srgbClr val="7C8895"/>
                </a:solidFill>
                <a:latin typeface="Calibri" pitchFamily="34" charset="0"/>
                <a:ea typeface="Calibri" pitchFamily="34" charset="-122"/>
                <a:cs typeface="Calibri" pitchFamily="34" charset="-120"/>
              </a:rPr>
              <a:t>tools/package_check.py runs all of it and printed PASS with max |clean − repo| = 0.000e+00 — bit-identical.</a:t>
            </a:r>
            <a:endParaRPr lang="en-US" sz="950" dirty="0"/>
          </a:p>
        </p:txBody>
      </p:sp>
      <p:sp>
        <p:nvSpPr>
          <p:cNvPr id="6" name="Shape 3"/>
          <p:cNvSpPr/>
          <p:nvPr/>
        </p:nvSpPr>
        <p:spPr>
          <a:xfrm>
            <a:off x="502920" y="3419856"/>
            <a:ext cx="6766560" cy="1463040"/>
          </a:xfrm>
          <a:prstGeom prst="roundRect">
            <a:avLst>
              <a:gd name="adj" fmla="val 3750"/>
            </a:avLst>
          </a:prstGeom>
          <a:solidFill>
            <a:srgbClr val="ECEFF2"/>
          </a:solidFill>
          <a:ln w="12700">
            <a:solidFill>
              <a:srgbClr val="ECEFF2"/>
            </a:solidFill>
            <a:prstDash val="solid"/>
          </a:ln>
        </p:spPr>
      </p:sp>
      <p:sp>
        <p:nvSpPr>
          <p:cNvPr id="7" name="Text 4"/>
          <p:cNvSpPr/>
          <p:nvPr/>
        </p:nvSpPr>
        <p:spPr>
          <a:xfrm>
            <a:off x="777240" y="3584448"/>
            <a:ext cx="6217920" cy="219456"/>
          </a:xfrm>
          <a:prstGeom prst="rect">
            <a:avLst/>
          </a:prstGeom>
          <a:noFill/>
          <a:ln/>
        </p:spPr>
        <p:txBody>
          <a:bodyPr wrap="square" lIns="0" tIns="0" rIns="0" bIns="0" rtlCol="0" anchor="ctr"/>
          <a:lstStyle/>
          <a:p>
            <a:pPr indent="0" marL="0">
              <a:buNone/>
            </a:pPr>
            <a:r>
              <a:rPr lang="en-US" sz="950" b="1" spc="120" kern="0" dirty="0">
                <a:solidFill>
                  <a:srgbClr val="C2703B"/>
                </a:solidFill>
                <a:latin typeface="Calibri" pitchFamily="34" charset="0"/>
                <a:ea typeface="Calibri" pitchFamily="34" charset="-122"/>
                <a:cs typeface="Calibri" pitchFamily="34" charset="-120"/>
              </a:rPr>
              <a:t>THE OUTPUT CONTRACT</a:t>
            </a:r>
            <a:endParaRPr lang="en-US" sz="950" dirty="0"/>
          </a:p>
        </p:txBody>
      </p:sp>
      <p:sp>
        <p:nvSpPr>
          <p:cNvPr id="8" name="Text 5"/>
          <p:cNvSpPr/>
          <p:nvPr/>
        </p:nvSpPr>
        <p:spPr>
          <a:xfrm>
            <a:off x="777240" y="3895344"/>
            <a:ext cx="6217920" cy="914400"/>
          </a:xfrm>
          <a:prstGeom prst="rect">
            <a:avLst/>
          </a:prstGeom>
          <a:noFill/>
          <a:ln/>
        </p:spPr>
        <p:txBody>
          <a:bodyPr wrap="square" lIns="0" tIns="0" rIns="0" bIns="0" rtlCol="0" anchor="ctr"/>
          <a:lstStyle/>
          <a:p>
            <a:pPr indent="0" marL="0">
              <a:lnSpc>
                <a:spcPts val="1300"/>
              </a:lnSpc>
              <a:buNone/>
            </a:pPr>
            <a:r>
              <a:rPr lang="en-US" sz="1000" dirty="0">
                <a:solidFill>
                  <a:srgbClr val="4A5560"/>
                </a:solidFill>
                <a:latin typeface="Calibri" pitchFamily="34" charset="0"/>
                <a:ea typeface="Calibri" pitchFamily="34" charset="-122"/>
                <a:cs typeface="Calibri" pitchFamily="34" charset="-120"/>
              </a:rPr>
              <a:t>Input .npy (H,W) or (H,W,1) float32, values may fall outside [0,1]. Output .npy float32 (2H,2W), same filename, guaranteed finite and clamped to [0,1]. Weights resolve relative to run.py so it works from any working directory. Nothing hardcodes a resolution — 128→256 and 256→512 both work, and mixed sizes in one directory are grouped and batched correctly. If the input path is a dataset folder rather than an images folder, run.py finds the degraded inputs one level down and says so, instead of exiting with nothing.</a:t>
            </a:r>
            <a:endParaRPr lang="en-US" sz="1000" dirty="0"/>
          </a:p>
        </p:txBody>
      </p:sp>
      <p:sp>
        <p:nvSpPr>
          <p:cNvPr id="9" name="Shape 6"/>
          <p:cNvSpPr/>
          <p:nvPr/>
        </p:nvSpPr>
        <p:spPr>
          <a:xfrm>
            <a:off x="502920" y="4992624"/>
            <a:ext cx="6766560" cy="1060704"/>
          </a:xfrm>
          <a:prstGeom prst="roundRect">
            <a:avLst>
              <a:gd name="adj" fmla="val 5172"/>
            </a:avLst>
          </a:prstGeom>
          <a:solidFill>
            <a:srgbClr val="FBF2EC"/>
          </a:solidFill>
          <a:ln w="12700">
            <a:solidFill>
              <a:srgbClr val="FBF2EC"/>
            </a:solidFill>
            <a:prstDash val="solid"/>
          </a:ln>
        </p:spPr>
      </p:sp>
      <p:sp>
        <p:nvSpPr>
          <p:cNvPr id="10" name="Text 7"/>
          <p:cNvSpPr/>
          <p:nvPr/>
        </p:nvSpPr>
        <p:spPr>
          <a:xfrm>
            <a:off x="777240" y="5138928"/>
            <a:ext cx="6217920" cy="219456"/>
          </a:xfrm>
          <a:prstGeom prst="rect">
            <a:avLst/>
          </a:prstGeom>
          <a:noFill/>
          <a:ln/>
        </p:spPr>
        <p:txBody>
          <a:bodyPr wrap="square" lIns="0" tIns="0" rIns="0" bIns="0" rtlCol="0" anchor="ctr"/>
          <a:lstStyle/>
          <a:p>
            <a:pPr indent="0" marL="0">
              <a:buNone/>
            </a:pPr>
            <a:r>
              <a:rPr lang="en-US" sz="950" b="1" spc="120" kern="0" dirty="0">
                <a:solidFill>
                  <a:srgbClr val="C2703B"/>
                </a:solidFill>
                <a:latin typeface="Calibri" pitchFamily="34" charset="0"/>
                <a:ea typeface="Calibri" pitchFamily="34" charset="-122"/>
                <a:cs typeface="Calibri" pitchFamily="34" charset="-120"/>
              </a:rPr>
              <a:t>WHAT THE REPOSITORY CARRIES BEYOND THE FOUR FILES</a:t>
            </a:r>
            <a:endParaRPr lang="en-US" sz="950" dirty="0"/>
          </a:p>
        </p:txBody>
      </p:sp>
      <p:sp>
        <p:nvSpPr>
          <p:cNvPr id="11" name="Text 8"/>
          <p:cNvSpPr/>
          <p:nvPr/>
        </p:nvSpPr>
        <p:spPr>
          <a:xfrm>
            <a:off x="777240" y="5394960"/>
            <a:ext cx="6217920" cy="621792"/>
          </a:xfrm>
          <a:prstGeom prst="rect">
            <a:avLst/>
          </a:prstGeom>
          <a:noFill/>
          <a:ln/>
        </p:spPr>
        <p:txBody>
          <a:bodyPr wrap="square" lIns="0" tIns="0" rIns="0" bIns="0" rtlCol="0" anchor="ctr"/>
          <a:lstStyle/>
          <a:p>
            <a:pPr indent="0" marL="0">
              <a:lnSpc>
                <a:spcPts val="1250"/>
              </a:lnSpc>
              <a:buNone/>
            </a:pPr>
            <a:r>
              <a:rPr lang="en-US" sz="950" dirty="0">
                <a:solidFill>
                  <a:srgbClr val="4A5560"/>
                </a:solidFill>
                <a:latin typeface="Calibri" pitchFamily="34" charset="0"/>
                <a:ea typeface="Calibri" pitchFamily="34" charset="-122"/>
                <a:cs typeface="Calibri" pitchFamily="34" charset="-120"/>
              </a:rPr>
              <a:t>docs/ENGINEERING_LOG.md — every experiment including the failures, and eight claims we published and had to withdraw  ·  docs/queue/ — all eleven models scored on both test sets, raw CSVs  ·  docs/tool_output/ — the analysis tools’ own output  ·  docs/superseded/ — two result files scored against a different test set, kept with a note on why they must not be quoted  ·  run2.py, run3.py — optimisations that measured null, kept as evidence</a:t>
            </a:r>
            <a:endParaRPr lang="en-US" sz="950" dirty="0"/>
          </a:p>
        </p:txBody>
      </p:sp>
      <p:sp>
        <p:nvSpPr>
          <p:cNvPr id="12" name="Shape 9"/>
          <p:cNvSpPr/>
          <p:nvPr/>
        </p:nvSpPr>
        <p:spPr>
          <a:xfrm>
            <a:off x="7543800" y="1371600"/>
            <a:ext cx="4069080" cy="4681728"/>
          </a:xfrm>
          <a:prstGeom prst="roundRect">
            <a:avLst>
              <a:gd name="adj" fmla="val 1348"/>
            </a:avLst>
          </a:prstGeom>
          <a:solidFill>
            <a:srgbClr val="ECEFF2"/>
          </a:solidFill>
          <a:ln w="12700">
            <a:solidFill>
              <a:srgbClr val="ECEFF2"/>
            </a:solidFill>
            <a:prstDash val="solid"/>
          </a:ln>
        </p:spPr>
      </p:sp>
      <p:sp>
        <p:nvSpPr>
          <p:cNvPr id="13" name="Text 10"/>
          <p:cNvSpPr/>
          <p:nvPr/>
        </p:nvSpPr>
        <p:spPr>
          <a:xfrm>
            <a:off x="7818120" y="1572768"/>
            <a:ext cx="3566160" cy="219456"/>
          </a:xfrm>
          <a:prstGeom prst="rect">
            <a:avLst/>
          </a:prstGeom>
          <a:noFill/>
          <a:ln/>
        </p:spPr>
        <p:txBody>
          <a:bodyPr wrap="square" lIns="0" tIns="0" rIns="0" bIns="0" rtlCol="0" anchor="ctr"/>
          <a:lstStyle/>
          <a:p>
            <a:pPr indent="0" marL="0">
              <a:buNone/>
            </a:pPr>
            <a:r>
              <a:rPr lang="en-US" sz="950" b="1" spc="120" kern="0" dirty="0">
                <a:solidFill>
                  <a:srgbClr val="C2703B"/>
                </a:solidFill>
                <a:latin typeface="Calibri" pitchFamily="34" charset="0"/>
                <a:ea typeface="Calibri" pitchFamily="34" charset="-122"/>
                <a:cs typeface="Calibri" pitchFamily="34" charset="-120"/>
              </a:rPr>
              <a:t>HOW TO RUN IT</a:t>
            </a:r>
            <a:endParaRPr lang="en-US" sz="950" dirty="0"/>
          </a:p>
        </p:txBody>
      </p:sp>
      <p:sp>
        <p:nvSpPr>
          <p:cNvPr id="14" name="Shape 11"/>
          <p:cNvSpPr/>
          <p:nvPr/>
        </p:nvSpPr>
        <p:spPr>
          <a:xfrm>
            <a:off x="7818120" y="1874520"/>
            <a:ext cx="3566160" cy="822960"/>
          </a:xfrm>
          <a:prstGeom prst="roundRect">
            <a:avLst>
              <a:gd name="adj" fmla="val 5556"/>
            </a:avLst>
          </a:prstGeom>
          <a:solidFill>
            <a:srgbClr val="23282E"/>
          </a:solidFill>
          <a:ln w="12700">
            <a:solidFill>
              <a:srgbClr val="23282E"/>
            </a:solidFill>
            <a:prstDash val="solid"/>
          </a:ln>
        </p:spPr>
      </p:sp>
      <p:sp>
        <p:nvSpPr>
          <p:cNvPr id="15" name="Text 12"/>
          <p:cNvSpPr/>
          <p:nvPr/>
        </p:nvSpPr>
        <p:spPr>
          <a:xfrm>
            <a:off x="7955280" y="2011680"/>
            <a:ext cx="3383280" cy="566928"/>
          </a:xfrm>
          <a:prstGeom prst="rect">
            <a:avLst/>
          </a:prstGeom>
          <a:noFill/>
          <a:ln/>
        </p:spPr>
        <p:txBody>
          <a:bodyPr wrap="square" lIns="0" tIns="0" rIns="0" bIns="0" rtlCol="0" anchor="ctr"/>
          <a:lstStyle/>
          <a:p>
            <a:pPr indent="0" marL="0">
              <a:lnSpc>
                <a:spcPts val="1600"/>
              </a:lnSpc>
              <a:buNone/>
            </a:pPr>
            <a:r>
              <a:rPr lang="en-US" sz="1050" dirty="0">
                <a:solidFill>
                  <a:srgbClr val="FFFFFF"/>
                </a:solidFill>
                <a:latin typeface="Consolas" pitchFamily="34" charset="0"/>
                <a:ea typeface="Consolas" pitchFamily="34" charset="-122"/>
                <a:cs typeface="Consolas" pitchFamily="34" charset="-120"/>
              </a:rPr>
              <a:t>pip install -r requirements.txt</a:t>
            </a:r>
            <a:endParaRPr lang="en-US" sz="1050" dirty="0"/>
          </a:p>
          <a:p>
            <a:pPr indent="0" marL="0">
              <a:lnSpc>
                <a:spcPts val="1600"/>
              </a:lnSpc>
              <a:buNone/>
            </a:pPr>
            <a:r>
              <a:rPr lang="en-US" sz="1050" dirty="0">
                <a:solidFill>
                  <a:srgbClr val="FFFFFF"/>
                </a:solidFill>
                <a:latin typeface="Consolas" pitchFamily="34" charset="0"/>
                <a:ea typeface="Consolas" pitchFamily="34" charset="-122"/>
                <a:cs typeface="Consolas" pitchFamily="34" charset="-120"/>
              </a:rPr>
              <a:t>python run.py &lt;in-dir&gt; &lt;out-dir&gt;</a:t>
            </a:r>
            <a:endParaRPr lang="en-US" sz="1050" dirty="0"/>
          </a:p>
        </p:txBody>
      </p:sp>
      <p:sp>
        <p:nvSpPr>
          <p:cNvPr id="16" name="Text 13"/>
          <p:cNvSpPr/>
          <p:nvPr/>
        </p:nvSpPr>
        <p:spPr>
          <a:xfrm>
            <a:off x="7818120" y="2834640"/>
            <a:ext cx="3566160" cy="3108960"/>
          </a:xfrm>
          <a:prstGeom prst="rect">
            <a:avLst/>
          </a:prstGeom>
          <a:noFill/>
          <a:ln/>
        </p:spPr>
        <p:txBody>
          <a:bodyPr wrap="square" lIns="0" tIns="0" rIns="0" bIns="0" rtlCol="0" anchor="ctr"/>
          <a:lstStyle/>
          <a:p>
            <a:pPr indent="0" marL="0">
              <a:lnSpc>
                <a:spcPts val="1400"/>
              </a:lnSpc>
              <a:buNone/>
            </a:pPr>
            <a:r>
              <a:rPr lang="en-US" sz="1050" b="1" dirty="0">
                <a:solidFill>
                  <a:srgbClr val="23282E"/>
                </a:solidFill>
                <a:latin typeface="Calibri" pitchFamily="34" charset="0"/>
                <a:ea typeface="Calibri" pitchFamily="34" charset="-122"/>
                <a:cs typeface="Calibri" pitchFamily="34" charset="-120"/>
              </a:rPr>
              <a:t>GitHub  (public)</a:t>
            </a:r>
            <a:endParaRPr lang="en-US" sz="1050" dirty="0"/>
          </a:p>
          <a:p>
            <a:pPr indent="0" marL="0">
              <a:lnSpc>
                <a:spcPts val="1400"/>
              </a:lnSpc>
              <a:buNone/>
            </a:pPr>
            <a:r>
              <a:rPr lang="en-US" sz="1000" dirty="0">
                <a:solidFill>
                  <a:srgbClr val="C2703B"/>
                </a:solidFill>
                <a:latin typeface="Consolas" pitchFamily="34" charset="0"/>
                <a:ea typeface="Consolas" pitchFamily="34" charset="-122"/>
                <a:cs typeface="Consolas" pitchFamily="34" charset="-120"/>
              </a:rPr>
              <a:t>github.com/abishek1123/forgex</a:t>
            </a:r>
            <a:endParaRPr lang="en-US" sz="1050" dirty="0"/>
          </a:p>
          <a:p>
            <a:pPr indent="0" marL="0">
              <a:lnSpc>
                <a:spcPts val="1400"/>
              </a:lnSpc>
              <a:buNone/>
            </a:pPr>
            <a:r>
              <a:rPr lang="en-US" sz="1050" dirty="0">
                <a:solidFill>
                  <a:srgbClr val="000000"/>
                </a:solidFill>
                <a:latin typeface="Calibri" pitchFamily="34" charset="0"/>
                <a:ea typeface="Calibri" pitchFamily="34" charset="-122"/>
                <a:cs typeface="Calibri" pitchFamily="34" charset="-120"/>
              </a:rPr>
              <a:t> </a:t>
            </a:r>
            <a:endParaRPr lang="en-US" sz="1050" dirty="0"/>
          </a:p>
          <a:p>
            <a:pPr indent="0" marL="0">
              <a:lnSpc>
                <a:spcPts val="1400"/>
              </a:lnSpc>
              <a:buNone/>
            </a:pPr>
            <a:r>
              <a:rPr lang="en-US" sz="1050" b="1" dirty="0">
                <a:solidFill>
                  <a:srgbClr val="23282E"/>
                </a:solidFill>
                <a:latin typeface="Calibri" pitchFamily="34" charset="0"/>
                <a:ea typeface="Calibri" pitchFamily="34" charset="-122"/>
                <a:cs typeface="Calibri" pitchFamily="34" charset="-120"/>
              </a:rPr>
              <a:t>Repository contains</a:t>
            </a:r>
            <a:endParaRPr lang="en-US" sz="1050" dirty="0"/>
          </a:p>
          <a:p>
            <a:pPr indent="0" marL="0">
              <a:lnSpc>
                <a:spcPts val="1400"/>
              </a:lnSpc>
              <a:buNone/>
            </a:pPr>
            <a:r>
              <a:rPr lang="en-US" sz="1050" dirty="0">
                <a:solidFill>
                  <a:srgbClr val="4A5560"/>
                </a:solidFill>
                <a:latin typeface="Calibri" pitchFamily="34" charset="0"/>
                <a:ea typeface="Calibri" pitchFamily="34" charset="-122"/>
                <a:cs typeface="Calibri" pitchFamily="34" charset="-120"/>
              </a:rPr>
              <a:t>run.py, train_submitted.py, models/model.pt, outputs/ (297 restored test images + a before/after preview), requirements.txt, the full source, and docs/ — the complete experimental record including every result we withdrew.</a:t>
            </a:r>
            <a:endParaRPr lang="en-US" sz="1050" dirty="0"/>
          </a:p>
          <a:p>
            <a:pPr indent="0" marL="0">
              <a:lnSpc>
                <a:spcPts val="1400"/>
              </a:lnSpc>
              <a:buNone/>
            </a:pPr>
            <a:r>
              <a:rPr lang="en-US" sz="1050" dirty="0">
                <a:solidFill>
                  <a:srgbClr val="000000"/>
                </a:solidFill>
                <a:latin typeface="Calibri" pitchFamily="34" charset="0"/>
                <a:ea typeface="Calibri" pitchFamily="34" charset="-122"/>
                <a:cs typeface="Calibri" pitchFamily="34" charset="-120"/>
              </a:rPr>
              <a:t> </a:t>
            </a:r>
            <a:endParaRPr lang="en-US" sz="1050" dirty="0"/>
          </a:p>
          <a:p>
            <a:pPr indent="0" marL="0">
              <a:lnSpc>
                <a:spcPts val="1400"/>
              </a:lnSpc>
              <a:buNone/>
            </a:pPr>
            <a:r>
              <a:rPr lang="en-US" sz="1050" b="1" dirty="0">
                <a:solidFill>
                  <a:srgbClr val="23282E"/>
                </a:solidFill>
                <a:latin typeface="Calibri" pitchFamily="34" charset="0"/>
                <a:ea typeface="Calibri" pitchFamily="34" charset="-122"/>
                <a:cs typeface="Calibri" pitchFamily="34" charset="-120"/>
              </a:rPr>
              <a:t>Round-1 archive</a:t>
            </a:r>
            <a:endParaRPr lang="en-US" sz="1050" dirty="0"/>
          </a:p>
          <a:p>
            <a:pPr indent="0" marL="0">
              <a:lnSpc>
                <a:spcPts val="1400"/>
              </a:lnSpc>
              <a:buNone/>
            </a:pPr>
            <a:r>
              <a:rPr lang="en-US" sz="1050" dirty="0">
                <a:solidFill>
                  <a:srgbClr val="4A5560"/>
                </a:solidFill>
                <a:latin typeface="Calibri" pitchFamily="34" charset="0"/>
                <a:ea typeface="Calibri" pitchFamily="34" charset="-122"/>
                <a:cs typeface="Calibri" pitchFamily="34" charset="-120"/>
              </a:rPr>
              <a:t>Full commit history from Round 1 is preserved in the same repository.</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400" b="1" dirty="0">
                <a:solidFill>
                  <a:srgbClr val="23282E"/>
                </a:solidFill>
                <a:latin typeface="Cambria" pitchFamily="34" charset="0"/>
                <a:ea typeface="Cambria" pitchFamily="34" charset="-122"/>
                <a:cs typeface="Cambria" pitchFamily="34" charset="-120"/>
              </a:rPr>
              <a:t>References</a:t>
            </a:r>
            <a:endParaRPr lang="en-US" sz="3400" dirty="0"/>
          </a:p>
        </p:txBody>
      </p:sp>
      <p:sp>
        <p:nvSpPr>
          <p:cNvPr id="3" name="Shape 1"/>
          <p:cNvSpPr/>
          <p:nvPr/>
        </p:nvSpPr>
        <p:spPr>
          <a:xfrm>
            <a:off x="548640" y="1325880"/>
            <a:ext cx="384048" cy="384048"/>
          </a:xfrm>
          <a:prstGeom prst="ellipse">
            <a:avLst/>
          </a:prstGeom>
          <a:solidFill>
            <a:srgbClr val="C2703B"/>
          </a:solidFill>
          <a:ln w="12700">
            <a:solidFill>
              <a:srgbClr val="C2703B"/>
            </a:solidFill>
            <a:prstDash val="solid"/>
          </a:ln>
        </p:spPr>
      </p:sp>
      <p:sp>
        <p:nvSpPr>
          <p:cNvPr id="4" name="Text 2"/>
          <p:cNvSpPr/>
          <p:nvPr/>
        </p:nvSpPr>
        <p:spPr>
          <a:xfrm>
            <a:off x="548640" y="13258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p:nvPr/>
        </p:nvSpPr>
        <p:spPr>
          <a:xfrm>
            <a:off x="1097280" y="1307592"/>
            <a:ext cx="8138160" cy="457200"/>
          </a:xfrm>
          <a:prstGeom prst="rect">
            <a:avLst/>
          </a:prstGeom>
          <a:noFill/>
          <a:ln/>
        </p:spPr>
        <p:txBody>
          <a:bodyPr wrap="square" lIns="0" tIns="0" rIns="0" bIns="0" rtlCol="0" anchor="ctr"/>
          <a:lstStyle/>
          <a:p>
            <a:pPr indent="0" marL="0">
              <a:lnSpc>
                <a:spcPts val="1400"/>
              </a:lnSpc>
              <a:buNone/>
            </a:pPr>
            <a:r>
              <a:rPr lang="en-US" sz="1100" dirty="0">
                <a:solidFill>
                  <a:srgbClr val="4A5560"/>
                </a:solidFill>
                <a:latin typeface="Calibri" pitchFamily="34" charset="0"/>
                <a:ea typeface="Calibri" pitchFamily="34" charset="-122"/>
                <a:cs typeface="Calibri" pitchFamily="34" charset="-120"/>
              </a:rPr>
              <a:t>B. Lim, S. Son, H. Kim, S. Nah, K. M. Lee. “Enhanced Deep Residual Networks for Single Image Super-Resolution.” CVPRW 2017.</a:t>
            </a:r>
            <a:endParaRPr lang="en-US" sz="1100" dirty="0"/>
          </a:p>
        </p:txBody>
      </p:sp>
      <p:sp>
        <p:nvSpPr>
          <p:cNvPr id="6" name="Text 4"/>
          <p:cNvSpPr/>
          <p:nvPr/>
        </p:nvSpPr>
        <p:spPr>
          <a:xfrm>
            <a:off x="9372600" y="1380744"/>
            <a:ext cx="2240280" cy="274320"/>
          </a:xfrm>
          <a:prstGeom prst="rect">
            <a:avLst/>
          </a:prstGeom>
          <a:noFill/>
          <a:ln/>
        </p:spPr>
        <p:txBody>
          <a:bodyPr wrap="square" lIns="0" tIns="0" rIns="0" bIns="0" rtlCol="0" anchor="ctr"/>
          <a:lstStyle/>
          <a:p>
            <a:pPr indent="0" marL="0">
              <a:buNone/>
            </a:pPr>
            <a:r>
              <a:rPr lang="en-US" sz="950" i="1" dirty="0">
                <a:solidFill>
                  <a:srgbClr val="C2703B"/>
                </a:solidFill>
                <a:latin typeface="Calibri" pitchFamily="34" charset="0"/>
                <a:ea typeface="Calibri" pitchFamily="34" charset="-122"/>
                <a:cs typeface="Calibri" pitchFamily="34" charset="-120"/>
              </a:rPr>
              <a:t>residual SR backbone, no BatchNorm</a:t>
            </a:r>
            <a:endParaRPr lang="en-US" sz="950" dirty="0"/>
          </a:p>
        </p:txBody>
      </p:sp>
      <p:sp>
        <p:nvSpPr>
          <p:cNvPr id="7" name="Shape 5"/>
          <p:cNvSpPr/>
          <p:nvPr/>
        </p:nvSpPr>
        <p:spPr>
          <a:xfrm>
            <a:off x="548640" y="1929384"/>
            <a:ext cx="384048" cy="384048"/>
          </a:xfrm>
          <a:prstGeom prst="ellipse">
            <a:avLst/>
          </a:prstGeom>
          <a:solidFill>
            <a:srgbClr val="C2703B"/>
          </a:solidFill>
          <a:ln w="12700">
            <a:solidFill>
              <a:srgbClr val="C2703B"/>
            </a:solidFill>
            <a:prstDash val="solid"/>
          </a:ln>
        </p:spPr>
      </p:sp>
      <p:sp>
        <p:nvSpPr>
          <p:cNvPr id="8" name="Text 6"/>
          <p:cNvSpPr/>
          <p:nvPr/>
        </p:nvSpPr>
        <p:spPr>
          <a:xfrm>
            <a:off x="548640" y="192938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1097280" y="1911096"/>
            <a:ext cx="8138160" cy="457200"/>
          </a:xfrm>
          <a:prstGeom prst="rect">
            <a:avLst/>
          </a:prstGeom>
          <a:noFill/>
          <a:ln/>
        </p:spPr>
        <p:txBody>
          <a:bodyPr wrap="square" lIns="0" tIns="0" rIns="0" bIns="0" rtlCol="0" anchor="ctr"/>
          <a:lstStyle/>
          <a:p>
            <a:pPr indent="0" marL="0">
              <a:lnSpc>
                <a:spcPts val="1400"/>
              </a:lnSpc>
              <a:buNone/>
            </a:pPr>
            <a:r>
              <a:rPr lang="en-US" sz="1100" dirty="0">
                <a:solidFill>
                  <a:srgbClr val="4A5560"/>
                </a:solidFill>
                <a:latin typeface="Calibri" pitchFamily="34" charset="0"/>
                <a:ea typeface="Calibri" pitchFamily="34" charset="-122"/>
                <a:cs typeface="Calibri" pitchFamily="34" charset="-120"/>
              </a:rPr>
              <a:t>W. Shi et al. “Real-Time Single Image and Video Super-Resolution Using an Efficient Sub-Pixel Convolutional Neural Network.” CVPR 2016.</a:t>
            </a:r>
            <a:endParaRPr lang="en-US" sz="1100" dirty="0"/>
          </a:p>
        </p:txBody>
      </p:sp>
      <p:sp>
        <p:nvSpPr>
          <p:cNvPr id="10" name="Text 8"/>
          <p:cNvSpPr/>
          <p:nvPr/>
        </p:nvSpPr>
        <p:spPr>
          <a:xfrm>
            <a:off x="9372600" y="1984248"/>
            <a:ext cx="2240280" cy="274320"/>
          </a:xfrm>
          <a:prstGeom prst="rect">
            <a:avLst/>
          </a:prstGeom>
          <a:noFill/>
          <a:ln/>
        </p:spPr>
        <p:txBody>
          <a:bodyPr wrap="square" lIns="0" tIns="0" rIns="0" bIns="0" rtlCol="0" anchor="ctr"/>
          <a:lstStyle/>
          <a:p>
            <a:pPr indent="0" marL="0">
              <a:buNone/>
            </a:pPr>
            <a:r>
              <a:rPr lang="en-US" sz="950" i="1" dirty="0">
                <a:solidFill>
                  <a:srgbClr val="C2703B"/>
                </a:solidFill>
                <a:latin typeface="Calibri" pitchFamily="34" charset="0"/>
                <a:ea typeface="Calibri" pitchFamily="34" charset="-122"/>
                <a:cs typeface="Calibri" pitchFamily="34" charset="-120"/>
              </a:rPr>
              <a:t>PixelShuffle upsampling</a:t>
            </a:r>
            <a:endParaRPr lang="en-US" sz="950" dirty="0"/>
          </a:p>
        </p:txBody>
      </p:sp>
      <p:sp>
        <p:nvSpPr>
          <p:cNvPr id="11" name="Shape 9"/>
          <p:cNvSpPr/>
          <p:nvPr/>
        </p:nvSpPr>
        <p:spPr>
          <a:xfrm>
            <a:off x="548640" y="2532888"/>
            <a:ext cx="384048" cy="384048"/>
          </a:xfrm>
          <a:prstGeom prst="ellipse">
            <a:avLst/>
          </a:prstGeom>
          <a:solidFill>
            <a:srgbClr val="C2703B"/>
          </a:solidFill>
          <a:ln w="12700">
            <a:solidFill>
              <a:srgbClr val="C2703B"/>
            </a:solidFill>
            <a:prstDash val="solid"/>
          </a:ln>
        </p:spPr>
      </p:sp>
      <p:sp>
        <p:nvSpPr>
          <p:cNvPr id="12" name="Text 10"/>
          <p:cNvSpPr/>
          <p:nvPr/>
        </p:nvSpPr>
        <p:spPr>
          <a:xfrm>
            <a:off x="548640" y="25328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3" name="Text 11"/>
          <p:cNvSpPr/>
          <p:nvPr/>
        </p:nvSpPr>
        <p:spPr>
          <a:xfrm>
            <a:off x="1097280" y="2514600"/>
            <a:ext cx="8138160" cy="457200"/>
          </a:xfrm>
          <a:prstGeom prst="rect">
            <a:avLst/>
          </a:prstGeom>
          <a:noFill/>
          <a:ln/>
        </p:spPr>
        <p:txBody>
          <a:bodyPr wrap="square" lIns="0" tIns="0" rIns="0" bIns="0" rtlCol="0" anchor="ctr"/>
          <a:lstStyle/>
          <a:p>
            <a:pPr indent="0" marL="0">
              <a:lnSpc>
                <a:spcPts val="1400"/>
              </a:lnSpc>
              <a:buNone/>
            </a:pPr>
            <a:r>
              <a:rPr lang="en-US" sz="1100" dirty="0">
                <a:solidFill>
                  <a:srgbClr val="4A5560"/>
                </a:solidFill>
                <a:latin typeface="Calibri" pitchFamily="34" charset="0"/>
                <a:ea typeface="Calibri" pitchFamily="34" charset="-122"/>
                <a:cs typeface="Calibri" pitchFamily="34" charset="-120"/>
              </a:rPr>
              <a:t>W.-S. Lai, J.-B. Huang, N. Ahuja, M.-H. Yang. “Deep Laplacian Pyramid Networks for Fast and Accurate Super-Resolution.” CVPR 2017.</a:t>
            </a:r>
            <a:endParaRPr lang="en-US" sz="1100" dirty="0"/>
          </a:p>
        </p:txBody>
      </p:sp>
      <p:sp>
        <p:nvSpPr>
          <p:cNvPr id="14" name="Text 12"/>
          <p:cNvSpPr/>
          <p:nvPr/>
        </p:nvSpPr>
        <p:spPr>
          <a:xfrm>
            <a:off x="9372600" y="2587752"/>
            <a:ext cx="2240280" cy="274320"/>
          </a:xfrm>
          <a:prstGeom prst="rect">
            <a:avLst/>
          </a:prstGeom>
          <a:noFill/>
          <a:ln/>
        </p:spPr>
        <p:txBody>
          <a:bodyPr wrap="square" lIns="0" tIns="0" rIns="0" bIns="0" rtlCol="0" anchor="ctr"/>
          <a:lstStyle/>
          <a:p>
            <a:pPr indent="0" marL="0">
              <a:buNone/>
            </a:pPr>
            <a:r>
              <a:rPr lang="en-US" sz="950" i="1" dirty="0">
                <a:solidFill>
                  <a:srgbClr val="C2703B"/>
                </a:solidFill>
                <a:latin typeface="Calibri" pitchFamily="34" charset="0"/>
                <a:ea typeface="Calibri" pitchFamily="34" charset="-122"/>
                <a:cs typeface="Calibri" pitchFamily="34" charset="-120"/>
              </a:rPr>
              <a:t>Charbonnier loss</a:t>
            </a:r>
            <a:endParaRPr lang="en-US" sz="950" dirty="0"/>
          </a:p>
        </p:txBody>
      </p:sp>
      <p:sp>
        <p:nvSpPr>
          <p:cNvPr id="15" name="Shape 13"/>
          <p:cNvSpPr/>
          <p:nvPr/>
        </p:nvSpPr>
        <p:spPr>
          <a:xfrm>
            <a:off x="548640" y="3136392"/>
            <a:ext cx="384048" cy="384048"/>
          </a:xfrm>
          <a:prstGeom prst="ellipse">
            <a:avLst/>
          </a:prstGeom>
          <a:solidFill>
            <a:srgbClr val="C2703B"/>
          </a:solidFill>
          <a:ln w="12700">
            <a:solidFill>
              <a:srgbClr val="C2703B"/>
            </a:solidFill>
            <a:prstDash val="solid"/>
          </a:ln>
        </p:spPr>
      </p:sp>
      <p:sp>
        <p:nvSpPr>
          <p:cNvPr id="16" name="Text 14"/>
          <p:cNvSpPr/>
          <p:nvPr/>
        </p:nvSpPr>
        <p:spPr>
          <a:xfrm>
            <a:off x="548640" y="31363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097280" y="3118104"/>
            <a:ext cx="8138160" cy="457200"/>
          </a:xfrm>
          <a:prstGeom prst="rect">
            <a:avLst/>
          </a:prstGeom>
          <a:noFill/>
          <a:ln/>
        </p:spPr>
        <p:txBody>
          <a:bodyPr wrap="square" lIns="0" tIns="0" rIns="0" bIns="0" rtlCol="0" anchor="ctr"/>
          <a:lstStyle/>
          <a:p>
            <a:pPr indent="0" marL="0">
              <a:lnSpc>
                <a:spcPts val="1400"/>
              </a:lnSpc>
              <a:buNone/>
            </a:pPr>
            <a:r>
              <a:rPr lang="en-US" sz="1100" dirty="0">
                <a:solidFill>
                  <a:srgbClr val="4A5560"/>
                </a:solidFill>
                <a:latin typeface="Calibri" pitchFamily="34" charset="0"/>
                <a:ea typeface="Calibri" pitchFamily="34" charset="-122"/>
                <a:cs typeface="Calibri" pitchFamily="34" charset="-120"/>
              </a:rPr>
              <a:t>H. Zhao, O. Gallo, I. Frosio, J. Kautz. “Loss Functions for Image Restoration with Neural Networks.” IEEE Trans. Computational Imaging, 2017.</a:t>
            </a:r>
            <a:endParaRPr lang="en-US" sz="1100" dirty="0"/>
          </a:p>
        </p:txBody>
      </p:sp>
      <p:sp>
        <p:nvSpPr>
          <p:cNvPr id="18" name="Text 16"/>
          <p:cNvSpPr/>
          <p:nvPr/>
        </p:nvSpPr>
        <p:spPr>
          <a:xfrm>
            <a:off x="9372600" y="3191256"/>
            <a:ext cx="2240280" cy="274320"/>
          </a:xfrm>
          <a:prstGeom prst="rect">
            <a:avLst/>
          </a:prstGeom>
          <a:noFill/>
          <a:ln/>
        </p:spPr>
        <p:txBody>
          <a:bodyPr wrap="square" lIns="0" tIns="0" rIns="0" bIns="0" rtlCol="0" anchor="ctr"/>
          <a:lstStyle/>
          <a:p>
            <a:pPr indent="0" marL="0">
              <a:buNone/>
            </a:pPr>
            <a:r>
              <a:rPr lang="en-US" sz="950" i="1" dirty="0">
                <a:solidFill>
                  <a:srgbClr val="C2703B"/>
                </a:solidFill>
                <a:latin typeface="Calibri" pitchFamily="34" charset="0"/>
                <a:ea typeface="Calibri" pitchFamily="34" charset="-122"/>
                <a:cs typeface="Calibri" pitchFamily="34" charset="-120"/>
              </a:rPr>
              <a:t>L1 + MS-SSIM loss design</a:t>
            </a:r>
            <a:endParaRPr lang="en-US" sz="950" dirty="0"/>
          </a:p>
        </p:txBody>
      </p:sp>
      <p:sp>
        <p:nvSpPr>
          <p:cNvPr id="19" name="Shape 17"/>
          <p:cNvSpPr/>
          <p:nvPr/>
        </p:nvSpPr>
        <p:spPr>
          <a:xfrm>
            <a:off x="548640" y="3739896"/>
            <a:ext cx="384048" cy="384048"/>
          </a:xfrm>
          <a:prstGeom prst="ellipse">
            <a:avLst/>
          </a:prstGeom>
          <a:solidFill>
            <a:srgbClr val="C2703B"/>
          </a:solidFill>
          <a:ln w="12700">
            <a:solidFill>
              <a:srgbClr val="C2703B"/>
            </a:solidFill>
            <a:prstDash val="solid"/>
          </a:ln>
        </p:spPr>
      </p:sp>
      <p:sp>
        <p:nvSpPr>
          <p:cNvPr id="20" name="Text 18"/>
          <p:cNvSpPr/>
          <p:nvPr/>
        </p:nvSpPr>
        <p:spPr>
          <a:xfrm>
            <a:off x="548640" y="373989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1" name="Text 19"/>
          <p:cNvSpPr/>
          <p:nvPr/>
        </p:nvSpPr>
        <p:spPr>
          <a:xfrm>
            <a:off x="1097280" y="3721608"/>
            <a:ext cx="8138160" cy="457200"/>
          </a:xfrm>
          <a:prstGeom prst="rect">
            <a:avLst/>
          </a:prstGeom>
          <a:noFill/>
          <a:ln/>
        </p:spPr>
        <p:txBody>
          <a:bodyPr wrap="square" lIns="0" tIns="0" rIns="0" bIns="0" rtlCol="0" anchor="ctr"/>
          <a:lstStyle/>
          <a:p>
            <a:pPr indent="0" marL="0">
              <a:lnSpc>
                <a:spcPts val="1400"/>
              </a:lnSpc>
              <a:buNone/>
            </a:pPr>
            <a:r>
              <a:rPr lang="en-US" sz="1100" dirty="0">
                <a:solidFill>
                  <a:srgbClr val="4A5560"/>
                </a:solidFill>
                <a:latin typeface="Calibri" pitchFamily="34" charset="0"/>
                <a:ea typeface="Calibri" pitchFamily="34" charset="-122"/>
                <a:cs typeface="Calibri" pitchFamily="34" charset="-120"/>
              </a:rPr>
              <a:t>R. Zhang, P. Isola, A. A. Efros, E. Shechtman, O. Wang. “The Unreasonable Effectiveness of Deep Features as a Perceptual Metric.” CVPR 2018.</a:t>
            </a:r>
            <a:endParaRPr lang="en-US" sz="1100" dirty="0"/>
          </a:p>
        </p:txBody>
      </p:sp>
      <p:sp>
        <p:nvSpPr>
          <p:cNvPr id="22" name="Text 20"/>
          <p:cNvSpPr/>
          <p:nvPr/>
        </p:nvSpPr>
        <p:spPr>
          <a:xfrm>
            <a:off x="9372600" y="3794760"/>
            <a:ext cx="2240280" cy="274320"/>
          </a:xfrm>
          <a:prstGeom prst="rect">
            <a:avLst/>
          </a:prstGeom>
          <a:noFill/>
          <a:ln/>
        </p:spPr>
        <p:txBody>
          <a:bodyPr wrap="square" lIns="0" tIns="0" rIns="0" bIns="0" rtlCol="0" anchor="ctr"/>
          <a:lstStyle/>
          <a:p>
            <a:pPr indent="0" marL="0">
              <a:buNone/>
            </a:pPr>
            <a:r>
              <a:rPr lang="en-US" sz="950" i="1" dirty="0">
                <a:solidFill>
                  <a:srgbClr val="C2703B"/>
                </a:solidFill>
                <a:latin typeface="Calibri" pitchFamily="34" charset="0"/>
                <a:ea typeface="Calibri" pitchFamily="34" charset="-122"/>
                <a:cs typeface="Calibri" pitchFamily="34" charset="-120"/>
              </a:rPr>
              <a:t>LPIPS</a:t>
            </a:r>
            <a:endParaRPr lang="en-US" sz="950" dirty="0"/>
          </a:p>
        </p:txBody>
      </p:sp>
      <p:sp>
        <p:nvSpPr>
          <p:cNvPr id="23" name="Shape 21"/>
          <p:cNvSpPr/>
          <p:nvPr/>
        </p:nvSpPr>
        <p:spPr>
          <a:xfrm>
            <a:off x="548640" y="4343400"/>
            <a:ext cx="384048" cy="384048"/>
          </a:xfrm>
          <a:prstGeom prst="ellipse">
            <a:avLst/>
          </a:prstGeom>
          <a:solidFill>
            <a:srgbClr val="C2703B"/>
          </a:solidFill>
          <a:ln w="12700">
            <a:solidFill>
              <a:srgbClr val="C2703B"/>
            </a:solidFill>
            <a:prstDash val="solid"/>
          </a:ln>
        </p:spPr>
      </p:sp>
      <p:sp>
        <p:nvSpPr>
          <p:cNvPr id="24" name="Text 22"/>
          <p:cNvSpPr/>
          <p:nvPr/>
        </p:nvSpPr>
        <p:spPr>
          <a:xfrm>
            <a:off x="548640" y="43434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5" name="Text 23"/>
          <p:cNvSpPr/>
          <p:nvPr/>
        </p:nvSpPr>
        <p:spPr>
          <a:xfrm>
            <a:off x="1097280" y="4325112"/>
            <a:ext cx="8138160" cy="457200"/>
          </a:xfrm>
          <a:prstGeom prst="rect">
            <a:avLst/>
          </a:prstGeom>
          <a:noFill/>
          <a:ln/>
        </p:spPr>
        <p:txBody>
          <a:bodyPr wrap="square" lIns="0" tIns="0" rIns="0" bIns="0" rtlCol="0" anchor="ctr"/>
          <a:lstStyle/>
          <a:p>
            <a:pPr indent="0" marL="0">
              <a:lnSpc>
                <a:spcPts val="1400"/>
              </a:lnSpc>
              <a:buNone/>
            </a:pPr>
            <a:r>
              <a:rPr lang="en-US" sz="1100" dirty="0">
                <a:solidFill>
                  <a:srgbClr val="4A5560"/>
                </a:solidFill>
                <a:latin typeface="Calibri" pitchFamily="34" charset="0"/>
                <a:ea typeface="Calibri" pitchFamily="34" charset="-122"/>
                <a:cs typeface="Calibri" pitchFamily="34" charset="-120"/>
              </a:rPr>
              <a:t>F. J. Anscombe. “The Transformation of Poisson, Binomial and Negative-Binomial Data.” Biometrika, 1948.</a:t>
            </a:r>
            <a:endParaRPr lang="en-US" sz="1100" dirty="0"/>
          </a:p>
        </p:txBody>
      </p:sp>
      <p:sp>
        <p:nvSpPr>
          <p:cNvPr id="26" name="Text 24"/>
          <p:cNvSpPr/>
          <p:nvPr/>
        </p:nvSpPr>
        <p:spPr>
          <a:xfrm>
            <a:off x="9372600" y="4398264"/>
            <a:ext cx="2240280" cy="274320"/>
          </a:xfrm>
          <a:prstGeom prst="rect">
            <a:avLst/>
          </a:prstGeom>
          <a:noFill/>
          <a:ln/>
        </p:spPr>
        <p:txBody>
          <a:bodyPr wrap="square" lIns="0" tIns="0" rIns="0" bIns="0" rtlCol="0" anchor="ctr"/>
          <a:lstStyle/>
          <a:p>
            <a:pPr indent="0" marL="0">
              <a:buNone/>
            </a:pPr>
            <a:r>
              <a:rPr lang="en-US" sz="950" i="1" dirty="0">
                <a:solidFill>
                  <a:srgbClr val="C2703B"/>
                </a:solidFill>
                <a:latin typeface="Calibri" pitchFamily="34" charset="0"/>
                <a:ea typeface="Calibri" pitchFamily="34" charset="-122"/>
                <a:cs typeface="Calibri" pitchFamily="34" charset="-120"/>
              </a:rPr>
              <a:t>variance stabilisation</a:t>
            </a:r>
            <a:endParaRPr lang="en-US" sz="950" dirty="0"/>
          </a:p>
        </p:txBody>
      </p:sp>
      <p:sp>
        <p:nvSpPr>
          <p:cNvPr id="27" name="Shape 25"/>
          <p:cNvSpPr/>
          <p:nvPr/>
        </p:nvSpPr>
        <p:spPr>
          <a:xfrm>
            <a:off x="548640" y="4946904"/>
            <a:ext cx="384048" cy="384048"/>
          </a:xfrm>
          <a:prstGeom prst="ellipse">
            <a:avLst/>
          </a:prstGeom>
          <a:solidFill>
            <a:srgbClr val="C2703B"/>
          </a:solidFill>
          <a:ln w="12700">
            <a:solidFill>
              <a:srgbClr val="C2703B"/>
            </a:solidFill>
            <a:prstDash val="solid"/>
          </a:ln>
        </p:spPr>
      </p:sp>
      <p:sp>
        <p:nvSpPr>
          <p:cNvPr id="28" name="Text 26"/>
          <p:cNvSpPr/>
          <p:nvPr/>
        </p:nvSpPr>
        <p:spPr>
          <a:xfrm>
            <a:off x="548640" y="494690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9" name="Text 27"/>
          <p:cNvSpPr/>
          <p:nvPr/>
        </p:nvSpPr>
        <p:spPr>
          <a:xfrm>
            <a:off x="1097280" y="4928616"/>
            <a:ext cx="8138160" cy="457200"/>
          </a:xfrm>
          <a:prstGeom prst="rect">
            <a:avLst/>
          </a:prstGeom>
          <a:noFill/>
          <a:ln/>
        </p:spPr>
        <p:txBody>
          <a:bodyPr wrap="square" lIns="0" tIns="0" rIns="0" bIns="0" rtlCol="0" anchor="ctr"/>
          <a:lstStyle/>
          <a:p>
            <a:pPr indent="0" marL="0">
              <a:lnSpc>
                <a:spcPts val="1400"/>
              </a:lnSpc>
              <a:buNone/>
            </a:pPr>
            <a:r>
              <a:rPr lang="en-US" sz="1100" dirty="0">
                <a:solidFill>
                  <a:srgbClr val="4A5560"/>
                </a:solidFill>
                <a:latin typeface="Calibri" pitchFamily="34" charset="0"/>
                <a:ea typeface="Calibri" pitchFamily="34" charset="-122"/>
                <a:cs typeface="Calibri" pitchFamily="34" charset="-120"/>
              </a:rPr>
              <a:t>G. Schwarz. “Estimating the Dimension of a Model.” Annals of Statistics, 1978.</a:t>
            </a:r>
            <a:endParaRPr lang="en-US" sz="1100" dirty="0"/>
          </a:p>
        </p:txBody>
      </p:sp>
      <p:sp>
        <p:nvSpPr>
          <p:cNvPr id="30" name="Text 28"/>
          <p:cNvSpPr/>
          <p:nvPr/>
        </p:nvSpPr>
        <p:spPr>
          <a:xfrm>
            <a:off x="9372600" y="5001768"/>
            <a:ext cx="2240280" cy="274320"/>
          </a:xfrm>
          <a:prstGeom prst="rect">
            <a:avLst/>
          </a:prstGeom>
          <a:noFill/>
          <a:ln/>
        </p:spPr>
        <p:txBody>
          <a:bodyPr wrap="square" lIns="0" tIns="0" rIns="0" bIns="0" rtlCol="0" anchor="ctr"/>
          <a:lstStyle/>
          <a:p>
            <a:pPr indent="0" marL="0">
              <a:buNone/>
            </a:pPr>
            <a:r>
              <a:rPr lang="en-US" sz="950" i="1" dirty="0">
                <a:solidFill>
                  <a:srgbClr val="C2703B"/>
                </a:solidFill>
                <a:latin typeface="Calibri" pitchFamily="34" charset="0"/>
                <a:ea typeface="Calibri" pitchFamily="34" charset="-122"/>
                <a:cs typeface="Calibri" pitchFamily="34" charset="-120"/>
              </a:rPr>
              <a:t>BIC — used to settle the noise model</a:t>
            </a:r>
            <a:endParaRPr lang="en-US" sz="950" dirty="0"/>
          </a:p>
        </p:txBody>
      </p:sp>
      <p:sp>
        <p:nvSpPr>
          <p:cNvPr id="31" name="Shape 29"/>
          <p:cNvSpPr/>
          <p:nvPr/>
        </p:nvSpPr>
        <p:spPr>
          <a:xfrm>
            <a:off x="548640" y="5550408"/>
            <a:ext cx="384048" cy="384048"/>
          </a:xfrm>
          <a:prstGeom prst="ellipse">
            <a:avLst/>
          </a:prstGeom>
          <a:solidFill>
            <a:srgbClr val="C2703B"/>
          </a:solidFill>
          <a:ln w="12700">
            <a:solidFill>
              <a:srgbClr val="C2703B"/>
            </a:solidFill>
            <a:prstDash val="solid"/>
          </a:ln>
        </p:spPr>
      </p:sp>
      <p:sp>
        <p:nvSpPr>
          <p:cNvPr id="32" name="Text 30"/>
          <p:cNvSpPr/>
          <p:nvPr/>
        </p:nvSpPr>
        <p:spPr>
          <a:xfrm>
            <a:off x="548640" y="55504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33" name="Text 31"/>
          <p:cNvSpPr/>
          <p:nvPr/>
        </p:nvSpPr>
        <p:spPr>
          <a:xfrm>
            <a:off x="1097280" y="5532120"/>
            <a:ext cx="8138160" cy="457200"/>
          </a:xfrm>
          <a:prstGeom prst="rect">
            <a:avLst/>
          </a:prstGeom>
          <a:noFill/>
          <a:ln/>
        </p:spPr>
        <p:txBody>
          <a:bodyPr wrap="square" lIns="0" tIns="0" rIns="0" bIns="0" rtlCol="0" anchor="ctr"/>
          <a:lstStyle/>
          <a:p>
            <a:pPr indent="0" marL="0">
              <a:lnSpc>
                <a:spcPts val="1400"/>
              </a:lnSpc>
              <a:buNone/>
            </a:pPr>
            <a:r>
              <a:rPr lang="en-US" sz="1100" dirty="0">
                <a:solidFill>
                  <a:srgbClr val="4A5560"/>
                </a:solidFill>
                <a:latin typeface="Calibri" pitchFamily="34" charset="0"/>
                <a:ea typeface="Calibri" pitchFamily="34" charset="-122"/>
                <a:cs typeface="Calibri" pitchFamily="34" charset="-120"/>
              </a:rPr>
              <a:t>R. Aversa, M. H. Modarres, S. Cozzini, R. Ciancio, A. Chiusole. “The First Annotated Set of Scanning Electron Microscopy Images for Nanoscience.” Scientific Data 5, 180172, 2018.</a:t>
            </a:r>
            <a:endParaRPr lang="en-US" sz="1100" dirty="0"/>
          </a:p>
        </p:txBody>
      </p:sp>
      <p:sp>
        <p:nvSpPr>
          <p:cNvPr id="34" name="Text 32"/>
          <p:cNvSpPr/>
          <p:nvPr/>
        </p:nvSpPr>
        <p:spPr>
          <a:xfrm>
            <a:off x="9372600" y="5605272"/>
            <a:ext cx="2240280" cy="274320"/>
          </a:xfrm>
          <a:prstGeom prst="rect">
            <a:avLst/>
          </a:prstGeom>
          <a:noFill/>
          <a:ln/>
        </p:spPr>
        <p:txBody>
          <a:bodyPr wrap="square" lIns="0" tIns="0" rIns="0" bIns="0" rtlCol="0" anchor="ctr"/>
          <a:lstStyle/>
          <a:p>
            <a:pPr indent="0" marL="0">
              <a:buNone/>
            </a:pPr>
            <a:r>
              <a:rPr lang="en-US" sz="950" i="1" dirty="0">
                <a:solidFill>
                  <a:srgbClr val="C2703B"/>
                </a:solidFill>
                <a:latin typeface="Calibri" pitchFamily="34" charset="0"/>
                <a:ea typeface="Calibri" pitchFamily="34" charset="-122"/>
                <a:cs typeface="Calibri" pitchFamily="34" charset="-120"/>
              </a:rPr>
              <a:t>NFFA-EUROPE — source corpus and morphology labels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Team ForgeX — KLA PS01</dc:creator>
  <cp:lastModifiedBy>Team ForgeX — KLA PS01</cp:lastModifiedBy>
  <cp:revision>1</cp:revision>
  <dcterms:created xsi:type="dcterms:W3CDTF">2026-09-03T12:21:20Z</dcterms:created>
  <dcterms:modified xsi:type="dcterms:W3CDTF">2026-09-03T12:21:20Z</dcterms:modified>
</cp:coreProperties>
</file>